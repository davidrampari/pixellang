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92690c8-63e0-d8f8-dc75-037e943bdc22}">
          <p14:sldIdLst>
            <p14:sldId id="256"/>
          </p14:sldIdLst>
        </p14:section>
        <p14:section name="Problemática y motivación" id="{ea7ddb2b-4baa-5625-6953-dc4812db4153}">
          <p14:sldIdLst>
            <p14:sldId id="257"/>
            <p14:sldId id="258"/>
            <p14:sldId id="259"/>
          </p14:sldIdLst>
        </p14:section>
        <p14:section name="Objetivos" id="{28c09e08-3376-4cfd-f584-35982f900579}">
          <p14:sldIdLst>
            <p14:sldId id="260"/>
          </p14:sldIdLst>
        </p14:section>
        <p14:section name="Construcciones del lenguaje" id="{9a2a2e1b-8e64-9f7e-c388-261dabd1bad7}">
          <p14:sldIdLst>
            <p14:sldId id="261"/>
            <p14:sldId id="262"/>
          </p14:sldIdLst>
        </p14:section>
        <p14:section name="Analizador léxico" id="{54b87acd-d21c-aaf0-9311-c101847723e8}">
          <p14:sldIdLst>
            <p14:sldId id="263"/>
          </p14:sldIdLst>
        </p14:section>
        <p14:section name="Analizador sintáctico" id="{3aeb1bdb-81f3-325e-b3de-8b138ceebfd2}">
          <p14:sldIdLst>
            <p14:sldId id="264"/>
            <p14:sldId id="265"/>
          </p14:sldIdLst>
        </p14:section>
        <p14:section name="Analizador semántico" id="{b9d38caa-cdef-1068-4978-17e22f668ad8}">
          <p14:sldIdLst>
            <p14:sldId id="266"/>
            <p14:sldId id="267"/>
          </p14:sldIdLst>
        </p14:section>
        <p14:section name="Repositorio y pruebas" id="{b4e0f673-8011-c2e1-54ee-89eb8ddc695e}">
          <p14:sldIdLst>
            <p14:sldId id="268"/>
          </p14:sldIdLst>
        </p14:section>
        <p14:section name="Cierre" id="{be854c9e-7bc7-7554-23d5-7d45f3ef2c87}">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30 s)
Buenos días, profesor y compañeros. Somos Diego, David, Antony y Mateo, y les presentamos PixelLang, el lenguaje que diseñamos para el trabajo parcial.
PixelLang sirve para describir cómo se comporta un personaje de un videojuego 2D: en qué estados puede estar y qué lo hace pasar de uno a otro. Yo empiezo con la problemática; luego David presenta los objetivos y las construcciones del lenguaje, Antony el análisis léxico y el sintáctico, y Mateo el análisis semántico y la demostración.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55 s)
En un juego 2D, el comportamiento de un personaje se describe con una máquina de estados finitos: el personaje está en reposo, saltando, atacando o aturdido, y cambia de estado cuando ocurre un evento, como pulsar un botón o recibir un golpe. Así lo explica Nystrom en Game Programming Patterns.
El problema es que esa máquina casi nunca se escribe como tal. En el código queda como lo que ven a la izquierda: condicionales que revisan banderas. Nada impide que atacando y aturdido queden activas a la vez, y para saber qué estados existen hay que leer todo el bucle.
En los editores visuales, como el de Unity, los estados sí se dibujan como nodos, pero las condiciones de cada transición quedan en paneles separados.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2</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55 s)
Lo más importante es que nada revisa la máquina antes de jugar. Estos son tres errores típicos. Un estado al que nunca se llega, porque ninguna transición apunta a él. Una transición hacia un estado que se borró o se renombró. Y un estado del que el personaje no puede salir. Como nada los revisa, se descubren jugando.
Harel, que propuso los statecharts, ya advertía que los diagramas de estados planos se vuelven difíciles de mantener cuando crecen. Y encontrar estos errores toma tiempo: según Politowski y su equipo, las pruebas de videojuegos dependen casi solo de partidas manuales, y Murphy-Hill encontró que los equipos evitan automatizarlas porque quedan obsoletas cada vez que cambia el diseño.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3</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Diego (aprox. 1 min 15 s)
Buscamos un lenguaje pensado para este caso y no lo encontramos. SCXML, que es una recomendación del W3C, y XState describen máquinas de estados de propósito general: el primero es un formato XML para intérpretes y el segundo, una librería para aplicaciones web.
Por eso proponemos PixelLang, un lenguaje de dominio específico. Como explican Mernik y sus coautores, un lenguaje así permite analizar y verificar los programas en los términos del propio dominio.
Y aquí entra la teoría del curso: cada personaje de PixelLang es un autómata finito A = {Q, Σ, δ, q0, F}. Los estados que declara forman Q, sus eventos son el alfabeto Σ, cada línea "cuando" define una parte de la función de transición δ, el estado inicial es q0 y los estados finales forman F. Entonces el compilador puede comprobar, antes de ejecutar nada, que ese autómata esté bien formado.
David les cuenta nuestros objetivos.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4</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50 s)
Gracias, Diego. Nuestro objetivo general es desarrollar un compilador para PixelLang que verifique, al compilar, que la máquina de estados de cada personaje esté bien formada, y que la traduzca a código ejecutable.
Para lograrlo nos planteamos cuatro objetivos, uno por etapa del compilador: definir el léxico e implementar el analizador léxico con expresiones regulares en ANTLR4; diseñar una gramática libre de contexto por construcción, validarla con derivaciones más a la izquierda e implementar el parser; construir la tabla de símbolos y el analizador semántico que detecta los errores del autómata; y generar código con LLVM. Los tres primeros son los de este trabajo; la generación de código corresponde al hito 3.</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5</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1 min)
Veamos cómo se escribe un programa. PixelLang tiene siete construcciones, y de cada una les mostramos un ejemplo.
La primera es el programa con la declaración de personaje. Un programa declara uno o más personajes y, al final, cero o más simulaciones. Este es el personaje más simple que tenemos, una puerta: un evento, ser_abierta; un estado inicial, Cerrada, y un estado final, Abierta. La última línea es una simulación: le da a la puerta una secuencia de eventos.
Dentro de cada personaje van, en este orden, los atributos, los eventos y los estados. Un atributo tiene nombre, tipo y valor inicial: vida es un entero que empieza en 100. Y la declaración de eventos lista los eventos del personaje, que forman su alfabeto.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6</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David (aprox. 55 s)
Un estado puede llevar el modificador inicial o final, acciones al entrar y sus transiciones. Aquí, al entrar a Saltando, el personaje sube 2.5, y sale de ese estado al aterrizar o al recibir un golpe.
Una transición indica el evento que la dispara, una guarda opcional con si y el estado destino: si al terminar el aturdimiento la vida llegó a cero, el personaje pasa a Derrotado.
Las acciones son asignaciones y selecciones con si y un sino opcional. Y las expresiones combinan operadores lógicos, relacionales y aritméticos.
Cada construcción tiene cinco ejemplos, 35 en total; están en el Apéndice A del informe y el parser los acepta todos. Antony les explica cómo se reconocen.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7</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1 min 5 s)
Gracias, David. La primera etapa es el analizador léxico, que implementamos con expresiones regulares en ANTLR4. PixelLang tiene 43 tokens: diez palabras reservadas, cinco para los tipos y los valores lógicos, quince operadores, siete signos de puntuación, y los números enteros, los reales y los identificadores. Los comentarios y los espacios se reconocen, pero se descartan.
En el informe el léxico está en la forma token: lista de lexemas; aquí ven un extracto y, abajo, dos líneas de entrada con sus tokens. El comentario no produce ninguno.
Los conflictos se resuelven con dos criterios. A igual longitud gana la regla que aparece primero; por eso las palabras reservadas van antes que ID, y "si" es la palabra reservada SI. Y siempre gana el lexema más largo: "siguiente" es un identificador y "&lt;=" es un solo token.</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8</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1 min 10 s)
Para el análisis sintáctico escribimos siete gramáticas libres de contexto, una por construcción, con la notación de clase: los no terminales en cursiva, los terminales en negrita, las alternativas separadas con una barra y ε para la cadena vacía. Los terminales id, num y dec representan los tokens ID, NUM_ENTERO y NUM_REAL.
A la izquierda está la de transiciones: cuando, el evento, una guarda opcional, la flecha, el destino y el punto y coma; la guarda es si seguido de una expresión, o la cadena vacía. Debajo está la de eventos, que muestra cómo escribimos las listas: con recursión por la izquierda.
A la derecha está la de expresiones. Sigue el esquema de expr, term y factor que vimos en clase, con un no terminal por nivel de precedencia, desde el o lógico hasta el factor. Así cada expresión tiene un solo árbol y la gramática no es ambigua.</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9</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Antony (aprox. 55 s)
Para validar cada gramática derivamos por la izquierda cuatro de sus ejemplos, 28 derivaciones en total, que están en el Apéndice B. Esta es la del ejemplo 5.2, la transición que lleva al personaje a Derrotado.
Empezamos en transicion y aplicamos su única producción. El no terminal más a la izquierda pasa a ser guarda y, como hay condición, usamos guarda → si expr. Queda expr, que es de la gramática de expresiones; como su subderivación está en esa gramática, aquí la resumimos en un paso con ⇒*, que se lee "deriva en cero o más pasos". Y llegamos a la cadena de tokens del ejemplo.
Le paso la palabra a Mateo.</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10</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55 s)
Gracias, Antony. Que un programa sea sintácticamente correcto no garantiza que su autómata tenga sentido; de eso se encarga el analizador semántico. Recorre el árbol sintáctico y construye una tabla de símbolos por personaje.
Tomemos este programa. Su tabla guarda el atributo vida con su tipo, los tres eventos y los dos estados declarados, Reposo, que es el inicial, y Saltando. Fíjense que la tabla nos da las partes del autómata: los eventos son Σ, los estados son Q y el inicial es q0; como no hay estados finales, F es vacío.
Con esa tabla el analizador revisa cada transición. Este programa pasa el análisis léxico y el sintáctico, pero tiene dos errores.</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11</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50 s)
Son los dos errores que describimos en el informe, y los dos salen de la definición de autómata.
E01: en la línea 10, Saltando va hacia Volando, que no está en la tabla. La función de transición solo puede llevar a estados de Q.
E03: en Reposo hay dos transiciones con saltar y ninguna tiene guarda, así que la segunda nunca se toma. Para cada estado y evento, δ tiene un único destino.
El compilador indica el código del error, la línea y el motivo. Además de estos dos, verifica otros ocho, como los estados inalcanzables o los eventos no declarados; están descritos en el Apéndice C.</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12</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55 s)
Todo está en el repositorio de GitHub. La gramática combinada, PixelLang.g4, contiene el léxico y la sintaxis, y a partir de ella ANTLR4 genera el lexer y el parser. El driver, main.py, ejecuta las etapas en orden: con --tokens muestra los tokens y con --arbol, el árbol sintáctico.
Probamos cada analizador con entradas válidas e inválidas. Para el léxico, una entrada válida y cinco con caracteres o lexemas que no pertenecen al lenguaje. Para el sintáctico, los 35 ejemplos, que se aceptan, y seis programas con errores, que se rechazan. Y para el semántico, un programa por cada error. Están en el Apéndice D. El avance lo organizamos en GitHub, con un hito por entrega e issues por tarea.</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13</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10 s)
Estas son las referencias que usamos, en formato APA 7. Son las mismas del informe.</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14</a:t>
            </a:fld>
            <a:endParaRPr lang="es-PE"/>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dirty="0"/>
              <a:t>Mateo (aprox. 10 s, más el video)
Para terminar, les mostramos el compilador funcionando.
[Reproducir el video. Al terminar: "Eso es PixelLang. Muchas gracias, quedamos atentos a sus preguntas."]
Para insertar el video: Insertar &gt; Vídeo &gt; Este dispositivo, y ajustarlo al recuadro.
Recorrido sugerido para el video (5 minutos como máximo):
1. Abrir ejemplos/caballero.pxl en Visual Studio Code.
2. Generar el parser con Ctrl+Shift+B.
3. Ejecutar main.py con --tokens y mostrar los tokens de las primeras líneas.
4. Ejecutar con --arbol y mostrar una parte del árbol.
5. Cambiar una transición para que vaya a Volando y mostrar el error E01.
6. Ejecutar pruebas/correr_pruebas.py.</a:t>
            </a:r>
            <a:endParaRPr lang="es-PE" dirty="0"/>
          </a:p>
        </p:txBody>
      </p:sp>
      <p:sp>
        <p:nvSpPr>
          <p:cNvPr id="4" name="Slide Number Placeholder 3"/>
          <p:cNvSpPr>
            <a:spLocks noGrp="1"/>
          </p:cNvSpPr>
          <p:nvPr>
            <p:ph type="sldNum" sz="quarter" idx="10"/>
          </p:nvPr>
        </p:nvSpPr>
        <p:spPr/>
        <p:txBody>
          <a:bodyPr/>
          <a:lstStyle/>
          <a:p>
            <a:fld id="{F7021451-1387-4CA6-816F-3879F97B5CBC}" type="slidenum">
              <a:rPr lang="es-PE"/>
              <a:t>15</a:t>
            </a:fld>
            <a:endParaRPr lang="es-PE"/>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48640" y="397764"/>
            <a:ext cx="118872" cy="118872"/>
          </a:xfrm>
          <a:prstGeom prst="rect">
            <a:avLst/>
          </a:prstGeom>
          <a:solidFill>
            <a:schemeClr val="accent1"/>
          </a:solidFill>
          <a:ln/>
        </p:spPr>
      </p:sp>
      <p:sp>
        <p:nvSpPr>
          <p:cNvPr id="3" name="Shape 1"/>
          <p:cNvSpPr/>
          <p:nvPr/>
        </p:nvSpPr>
        <p:spPr>
          <a:xfrm>
            <a:off x="713232" y="397764"/>
            <a:ext cx="118872" cy="118872"/>
          </a:xfrm>
          <a:prstGeom prst="rect">
            <a:avLst/>
          </a:prstGeom>
          <a:solidFill>
            <a:schemeClr val="accent1"/>
          </a:solidFill>
          <a:ln/>
        </p:spPr>
      </p:sp>
      <p:sp>
        <p:nvSpPr>
          <p:cNvPr id="4" name="Shape 2"/>
          <p:cNvSpPr/>
          <p:nvPr/>
        </p:nvSpPr>
        <p:spPr>
          <a:xfrm>
            <a:off x="877824" y="397764"/>
            <a:ext cx="118872" cy="118872"/>
          </a:xfrm>
          <a:prstGeom prst="rect">
            <a:avLst/>
          </a:prstGeom>
          <a:solidFill>
            <a:schemeClr val="accent6"/>
          </a:solidFill>
          <a:ln/>
        </p:spPr>
      </p:sp>
      <p:sp>
        <p:nvSpPr>
          <p:cNvPr id="5" name="Text 3"/>
          <p:cNvSpPr/>
          <p:nvPr/>
        </p:nvSpPr>
        <p:spPr>
          <a:xfrm>
            <a:off x="548640" y="6382512"/>
            <a:ext cx="7315200" cy="274320"/>
          </a:xfrm>
          <a:prstGeom prst="rect">
            <a:avLst/>
          </a:prstGeom>
          <a:noFill/>
          <a:ln/>
        </p:spPr>
        <p:txBody>
          <a:bodyPr wrap="square" lIns="0" tIns="0" rIns="0" bIns="0" rtlCol="0" anchor="ctr"/>
          <a:lstStyle/>
          <a:p>
            <a:pPr indent="0" marL="0">
              <a:buNone/>
            </a:pPr>
            <a:r>
              <a:rPr lang="es-PE" sz="1000" dirty="0">
                <a:solidFill>
                  <a:schemeClr val="accent5"/>
                </a:solidFill>
              </a:rPr>
              <a:t>PixelLang  |  Teoría de Compiladores  |  Trabajo Parcial</a:t>
            </a:r>
            <a:endParaRPr lang="es-PE" sz="1000" dirty="0"/>
          </a:p>
        </p:txBody>
      </p:sp>
      <p:sp>
        <p:nvSpPr>
          <p:cNvPr id="6" name="Text 4"/>
          <p:cNvSpPr/>
          <p:nvPr>
            <p:ph idx="104" type="body" hasCustomPrompt="1"/>
          </p:nvPr>
        </p:nvSpPr>
        <p:spPr>
          <a:xfrm>
            <a:off x="1097280" y="292608"/>
            <a:ext cx="8229600" cy="329184"/>
          </a:xfrm>
          <a:prstGeom prst="rect">
            <a:avLst/>
          </a:prstGeom>
          <a:noFill/>
          <a:ln/>
        </p:spPr>
        <p:txBody>
          <a:bodyPr wrap="square" rtlCol="0"/>
          <a:lstStyle>
            <a:lvl1pPr indent="0" marL="0">
              <a:buNone/>
              <a:defRPr lang="es-PE" sz="1300" b="1" dirty="0">
                <a:solidFill>
                  <a:schemeClr val="accent1"/>
                </a:solidFill>
              </a:defRPr>
            </a:lvl1pPr>
          </a:lstStyle>
          <a:p>
            <a:pPr indent="0" marL="0">
              <a:buNone/>
            </a:pPr>
            <a:endParaRPr lang="es-PE" sz="1300" dirty="0"/>
          </a:p>
        </p:txBody>
      </p:sp>
      <p:sp>
        <p:nvSpPr>
          <p:cNvPr id="7" name="Text 4"/>
          <p:cNvSpPr/>
          <p:nvPr>
            <p:ph idx="105" type="title" hasCustomPrompt="1"/>
          </p:nvPr>
        </p:nvSpPr>
        <p:spPr>
          <a:xfrm>
            <a:off x="548640" y="658368"/>
            <a:ext cx="11091672" cy="685800"/>
          </a:xfrm>
          <a:prstGeom prst="rect">
            <a:avLst/>
          </a:prstGeom>
          <a:noFill/>
          <a:ln/>
        </p:spPr>
        <p:txBody>
          <a:bodyPr wrap="square" rtlCol="0"/>
          <a:lstStyle>
            <a:lvl1pPr algn="l" indent="0" marL="0">
              <a:buNone/>
              <a:defRPr lang="es-PE" sz="2800" b="1" dirty="0">
                <a:solidFill>
                  <a:schemeClr val="tx1"/>
                </a:solidFill>
              </a:defRPr>
            </a:lvl1pPr>
          </a:lstStyle>
          <a:p>
            <a:pPr algn="l" indent="0" marL="0">
              <a:buNone/>
            </a:pPr>
            <a:endParaRPr lang="es-PE" sz="2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1002</a:t>
            </a:fld>
            <a:endParaRPr lang="es-P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005840"/>
          </a:xfrm>
          <a:prstGeom prst="rect">
            <a:avLst/>
          </a:prstGeom>
          <a:noFill/>
          <a:ln/>
        </p:spPr>
        <p:txBody>
          <a:bodyPr wrap="square" rtlCol="0"/>
          <a:lstStyle>
            <a:lvl1pPr algn="l" indent="0" marL="0">
              <a:buNone/>
              <a:defRPr lang="es-PE" sz="6000" b="1" dirty="0">
                <a:solidFill>
                  <a:schemeClr val="bg1"/>
                </a:solidFill>
              </a:defRPr>
            </a:lvl1pPr>
          </a:lstStyle>
          <a:p>
            <a:pPr algn="l" indent="0" marL="0">
              <a:buNone/>
            </a:pPr>
            <a:endParaRPr lang="es-PE" sz="6000" dirty="0"/>
          </a:p>
        </p:txBody>
      </p:sp>
      <p:sp>
        <p:nvSpPr>
          <p:cNvPr id="3" name="Text 0"/>
          <p:cNvSpPr/>
          <p:nvPr>
            <p:ph idx="101" type="body" hasCustomPrompt="1"/>
          </p:nvPr>
        </p:nvSpPr>
        <p:spPr>
          <a:xfrm>
            <a:off x="731520" y="3063240"/>
            <a:ext cx="6766560" cy="868680"/>
          </a:xfrm>
          <a:prstGeom prst="rect">
            <a:avLst/>
          </a:prstGeom>
          <a:noFill/>
          <a:ln/>
        </p:spPr>
        <p:txBody>
          <a:bodyPr wrap="square" rtlCol="0"/>
          <a:lstStyle>
            <a:lvl1pPr indent="0" marL="0">
              <a:buNone/>
              <a:defRPr lang="es-PE" sz="2000" dirty="0">
                <a:solidFill>
                  <a:schemeClr val="accent6"/>
                </a:solidFill>
              </a:defRPr>
            </a:lvl1pPr>
          </a:lstStyle>
          <a:p>
            <a:pPr indent="0" marL="0">
              <a:buNone/>
            </a:pPr>
            <a:endParaRPr lang="es-PE"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IDEO">
    <p:bg>
      <p:bgPr>
        <a:solidFill>
          <a:schemeClr val="tx1"/>
        </a:solidFill>
      </p:bgPr>
    </p:bg>
    <p:spTree>
      <p:nvGrpSpPr>
        <p:cNvPr id="1" name=""/>
        <p:cNvGrpSpPr/>
        <p:nvPr/>
      </p:nvGrpSpPr>
      <p:grpSpPr>
        <a:xfrm>
          <a:off x="0" y="0"/>
          <a:ext cx="0" cy="0"/>
          <a:chOff x="0" y="0"/>
          <a:chExt cx="0" cy="0"/>
        </a:xfrm>
      </p:grpSpPr>
      <p:sp>
        <p:nvSpPr>
          <p:cNvPr id="2" name="Shape 0"/>
          <p:cNvSpPr/>
          <p:nvPr/>
        </p:nvSpPr>
        <p:spPr>
          <a:xfrm>
            <a:off x="548640" y="397764"/>
            <a:ext cx="118872" cy="118872"/>
          </a:xfrm>
          <a:prstGeom prst="rect">
            <a:avLst/>
          </a:prstGeom>
          <a:solidFill>
            <a:schemeClr val="accent1"/>
          </a:solidFill>
          <a:ln/>
        </p:spPr>
      </p:sp>
      <p:sp>
        <p:nvSpPr>
          <p:cNvPr id="3" name="Shape 1"/>
          <p:cNvSpPr/>
          <p:nvPr/>
        </p:nvSpPr>
        <p:spPr>
          <a:xfrm>
            <a:off x="713232" y="397764"/>
            <a:ext cx="118872" cy="118872"/>
          </a:xfrm>
          <a:prstGeom prst="rect">
            <a:avLst/>
          </a:prstGeom>
          <a:solidFill>
            <a:schemeClr val="accent1"/>
          </a:solidFill>
          <a:ln/>
        </p:spPr>
      </p:sp>
      <p:sp>
        <p:nvSpPr>
          <p:cNvPr id="4" name="Shape 2"/>
          <p:cNvSpPr/>
          <p:nvPr/>
        </p:nvSpPr>
        <p:spPr>
          <a:xfrm>
            <a:off x="877824" y="397764"/>
            <a:ext cx="118872" cy="118872"/>
          </a:xfrm>
          <a:prstGeom prst="rect">
            <a:avLst/>
          </a:prstGeom>
          <a:solidFill>
            <a:schemeClr val="accent6"/>
          </a:solidFill>
          <a:ln/>
        </p:spPr>
      </p:sp>
      <p:sp>
        <p:nvSpPr>
          <p:cNvPr id="5" name="Text 3"/>
          <p:cNvSpPr/>
          <p:nvPr>
            <p:ph idx="103" type="body" hasCustomPrompt="1"/>
          </p:nvPr>
        </p:nvSpPr>
        <p:spPr>
          <a:xfrm>
            <a:off x="1097280" y="292608"/>
            <a:ext cx="8229600" cy="329184"/>
          </a:xfrm>
          <a:prstGeom prst="rect">
            <a:avLst/>
          </a:prstGeom>
          <a:noFill/>
          <a:ln/>
        </p:spPr>
        <p:txBody>
          <a:bodyPr wrap="square" rtlCol="0"/>
          <a:lstStyle>
            <a:lvl1pPr indent="0" marL="0">
              <a:buNone/>
              <a:defRPr lang="es-PE" sz="1300" b="1" dirty="0">
                <a:solidFill>
                  <a:schemeClr val="accent4"/>
                </a:solidFill>
              </a:defRPr>
            </a:lvl1pPr>
          </a:lstStyle>
          <a:p>
            <a:pPr indent="0" marL="0">
              <a:buNone/>
            </a:pPr>
            <a:endParaRPr lang="es-PE" sz="1300" dirty="0"/>
          </a:p>
        </p:txBody>
      </p:sp>
      <p:sp>
        <p:nvSpPr>
          <p:cNvPr id="6" name="Text 3"/>
          <p:cNvSpPr/>
          <p:nvPr>
            <p:ph idx="104" type="title" hasCustomPrompt="1"/>
          </p:nvPr>
        </p:nvSpPr>
        <p:spPr>
          <a:xfrm>
            <a:off x="548640" y="658368"/>
            <a:ext cx="11091672" cy="685800"/>
          </a:xfrm>
          <a:prstGeom prst="rect">
            <a:avLst/>
          </a:prstGeom>
          <a:noFill/>
          <a:ln/>
        </p:spPr>
        <p:txBody>
          <a:bodyPr wrap="square" rtlCol="0"/>
          <a:lstStyle>
            <a:lvl1pPr algn="l" indent="0" marL="0">
              <a:buNone/>
              <a:defRPr lang="es-PE" sz="2800" b="1" dirty="0">
                <a:solidFill>
                  <a:schemeClr val="bg1"/>
                </a:solidFill>
              </a:defRPr>
            </a:lvl1pPr>
          </a:lstStyle>
          <a:p>
            <a:pPr algn="l" indent="0" marL="0">
              <a:buNone/>
            </a:pPr>
            <a:endParaRPr lang="es-PE" sz="2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1004</a:t>
            </a:fld>
            <a:endParaRPr lang="es-P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DavidRamPari/pixellang" TargetMode="Externa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74520"/>
            <a:ext cx="6949440" cy="1005840"/>
          </a:xfrm>
          <a:prstGeom prst="rect">
            <a:avLst/>
          </a:prstGeom>
          <a:noFill/>
          <a:ln/>
        </p:spPr>
        <p:txBody>
          <a:bodyPr wrap="square" lIns="0" tIns="0" rIns="0" bIns="0" rtlCol="0" anchor="t"/>
          <a:lstStyle/>
          <a:p>
            <a:pPr algn="l" indent="0" marL="0">
              <a:buNone/>
            </a:pPr>
            <a:r>
              <a:rPr lang="es-PE" sz="6000" b="1" dirty="0">
                <a:solidFill>
                  <a:schemeClr val="bg1"/>
                </a:solidFill>
              </a:rPr>
              <a:t>PixelLang</a:t>
            </a:r>
            <a:endParaRPr lang="es-PE" sz="6000" dirty="0"/>
          </a:p>
        </p:txBody>
      </p:sp>
      <p:sp>
        <p:nvSpPr>
          <p:cNvPr id="3" name="Text 0"/>
          <p:cNvSpPr/>
          <p:nvPr>
            <p:ph idx="101" type="body" hasCustomPrompt="1"/>
          </p:nvPr>
        </p:nvSpPr>
        <p:spPr>
          <a:xfrm>
            <a:off x="731520" y="3063240"/>
            <a:ext cx="6766560" cy="868680"/>
          </a:xfrm>
          <a:prstGeom prst="rect">
            <a:avLst/>
          </a:prstGeom>
          <a:noFill/>
          <a:ln/>
        </p:spPr>
        <p:txBody>
          <a:bodyPr wrap="square" lIns="0" tIns="0" rIns="0" bIns="0" rtlCol="0" anchor="t"/>
          <a:lstStyle/>
          <a:p>
            <a:pPr indent="0" marL="0">
              <a:buNone/>
            </a:pPr>
            <a:r>
              <a:rPr lang="es-PE" sz="2000" dirty="0">
                <a:solidFill>
                  <a:schemeClr val="accent6"/>
                </a:solidFill>
              </a:rPr>
              <a:t>Un lenguaje para describir la máquina de estados de los personajes de un videojuego 2D</a:t>
            </a:r>
            <a:endParaRPr lang="es-PE" sz="2000" dirty="0"/>
          </a:p>
        </p:txBody>
      </p:sp>
      <p:pic>
        <p:nvPicPr>
          <p:cNvPr id="4" name="Logo UPC" descr="logo_upc_transparente.png">    </p:cNvPr>
          <p:cNvPicPr>
            <a:picLocks noChangeAspect="1"/>
          </p:cNvPicPr>
          <p:nvPr/>
        </p:nvPicPr>
        <p:blipFill>
          <a:blip r:embed="rId1"/>
          <a:stretch>
            <a:fillRect/>
          </a:stretch>
        </p:blipFill>
        <p:spPr>
          <a:xfrm>
            <a:off x="731520" y="548640"/>
            <a:ext cx="566928" cy="566928"/>
          </a:xfrm>
          <a:prstGeom prst="rect">
            <a:avLst/>
          </a:prstGeom>
        </p:spPr>
      </p:pic>
      <p:sp>
        <p:nvSpPr>
          <p:cNvPr id="5" name="Text 2"/>
          <p:cNvSpPr txBox="1"/>
          <p:nvPr/>
        </p:nvSpPr>
        <p:spPr>
          <a:xfrm>
            <a:off x="1463040" y="548640"/>
            <a:ext cx="5486400" cy="566928"/>
          </a:xfrm>
          <a:prstGeom prst="rect">
            <a:avLst/>
          </a:prstGeom>
          <a:noFill/>
          <a:ln/>
        </p:spPr>
        <p:txBody>
          <a:bodyPr wrap="square" lIns="0" tIns="0" rIns="0" bIns="0" rtlCol="0" anchor="ctr"/>
          <a:lstStyle/>
          <a:p>
            <a:pPr indent="0" marL="0">
              <a:buNone/>
            </a:pPr>
            <a:r>
              <a:rPr lang="es-PE" sz="1400" dirty="0">
                <a:solidFill>
                  <a:schemeClr val="accent6"/>
                </a:solidFill>
              </a:rPr>
              <a:t>Universidad Peruana de Ciencias Aplicadas</a:t>
            </a:r>
            <a:endParaRPr lang="es-PE" sz="1400" dirty="0"/>
          </a:p>
        </p:txBody>
      </p:sp>
      <p:sp>
        <p:nvSpPr>
          <p:cNvPr id="6" name="Barra de vida"/>
          <p:cNvSpPr/>
          <p:nvPr/>
        </p:nvSpPr>
        <p:spPr>
          <a:xfrm>
            <a:off x="731520" y="1481328"/>
            <a:ext cx="164592" cy="164592"/>
          </a:xfrm>
          <a:prstGeom prst="rect">
            <a:avLst/>
          </a:prstGeom>
          <a:solidFill>
            <a:schemeClr val="accent1"/>
          </a:solidFill>
          <a:ln w="12700">
            <a:solidFill>
              <a:schemeClr val="accent1"/>
            </a:solidFill>
            <a:prstDash val="solid"/>
          </a:ln>
        </p:spPr>
      </p:sp>
      <p:sp>
        <p:nvSpPr>
          <p:cNvPr id="7" name="Barra de vida"/>
          <p:cNvSpPr/>
          <p:nvPr/>
        </p:nvSpPr>
        <p:spPr>
          <a:xfrm>
            <a:off x="950976" y="1481328"/>
            <a:ext cx="164592" cy="164592"/>
          </a:xfrm>
          <a:prstGeom prst="rect">
            <a:avLst/>
          </a:prstGeom>
          <a:solidFill>
            <a:schemeClr val="accent1"/>
          </a:solidFill>
          <a:ln w="12700">
            <a:solidFill>
              <a:schemeClr val="accent1"/>
            </a:solidFill>
            <a:prstDash val="solid"/>
          </a:ln>
        </p:spPr>
      </p:sp>
      <p:sp>
        <p:nvSpPr>
          <p:cNvPr id="8" name="Barra de vida"/>
          <p:cNvSpPr/>
          <p:nvPr/>
        </p:nvSpPr>
        <p:spPr>
          <a:xfrm>
            <a:off x="1170432" y="1481328"/>
            <a:ext cx="164592" cy="164592"/>
          </a:xfrm>
          <a:prstGeom prst="rect">
            <a:avLst/>
          </a:prstGeom>
          <a:solidFill>
            <a:schemeClr val="accent5"/>
          </a:solidFill>
          <a:ln w="12700">
            <a:solidFill>
              <a:schemeClr val="accent5"/>
            </a:solidFill>
            <a:prstDash val="solid"/>
          </a:ln>
        </p:spPr>
      </p:sp>
      <p:sp>
        <p:nvSpPr>
          <p:cNvPr id="9" name="Text 6"/>
          <p:cNvSpPr txBox="1"/>
          <p:nvPr/>
        </p:nvSpPr>
        <p:spPr>
          <a:xfrm>
            <a:off x="731520" y="4069080"/>
            <a:ext cx="7223760" cy="685800"/>
          </a:xfrm>
          <a:prstGeom prst="rect">
            <a:avLst/>
          </a:prstGeom>
          <a:noFill/>
          <a:ln/>
        </p:spPr>
        <p:txBody>
          <a:bodyPr wrap="square" lIns="0" tIns="0" rIns="0" bIns="0" rtlCol="0" anchor="t"/>
          <a:lstStyle/>
          <a:p>
            <a:pPr indent="0" marL="0">
              <a:spcAft>
                <a:spcPts val="400"/>
              </a:spcAft>
              <a:buNone/>
            </a:pPr>
            <a:r>
              <a:rPr lang="es-PE" sz="1600" b="1" dirty="0">
                <a:solidFill>
                  <a:schemeClr val="bg1"/>
                </a:solidFill>
              </a:rPr>
              <a:t>Trabajo Parcial  |  Teoría de Compiladores</a:t>
            </a:r>
            <a:endParaRPr lang="es-PE" sz="1600" dirty="0"/>
          </a:p>
          <a:p>
            <a:pPr indent="0" marL="0">
              <a:spcAft>
                <a:spcPts val="400"/>
              </a:spcAft>
              <a:buNone/>
            </a:pPr>
            <a:r>
              <a:rPr lang="es-PE" sz="1300" dirty="0">
                <a:solidFill>
                  <a:schemeClr val="accent6"/>
                </a:solidFill>
              </a:rPr>
              <a:t>Sección 13962  |  Grupo 5  |  Docente: Marco Antonio Sobrevilla Cabezudo</a:t>
            </a:r>
            <a:endParaRPr lang="es-PE" sz="1600" dirty="0"/>
          </a:p>
        </p:txBody>
      </p:sp>
      <p:sp>
        <p:nvSpPr>
          <p:cNvPr id="10" name="Text 7"/>
          <p:cNvSpPr txBox="1"/>
          <p:nvPr/>
        </p:nvSpPr>
        <p:spPr>
          <a:xfrm>
            <a:off x="731520" y="4892040"/>
            <a:ext cx="6949440" cy="1143000"/>
          </a:xfrm>
          <a:prstGeom prst="rect">
            <a:avLst/>
          </a:prstGeom>
          <a:noFill/>
          <a:ln/>
        </p:spPr>
        <p:txBody>
          <a:bodyPr wrap="square" lIns="0" tIns="0" rIns="0" bIns="0" rtlCol="0" anchor="t"/>
          <a:lstStyle/>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U20221G222   </a:t>
            </a:r>
            <a:r>
              <a:rPr lang="es-PE" sz="1300" dirty="0">
                <a:solidFill>
                  <a:schemeClr val="bg1"/>
                </a:solidFill>
              </a:rPr>
              <a:t>Diego Gilmer Ruiz Soto</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U202417368   </a:t>
            </a:r>
            <a:r>
              <a:rPr lang="es-PE" sz="1300" dirty="0">
                <a:solidFill>
                  <a:schemeClr val="bg1"/>
                </a:solidFill>
              </a:rPr>
              <a:t>David Miguel Ramos Parihuaman</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U20241D937   </a:t>
            </a:r>
            <a:r>
              <a:rPr lang="es-PE" sz="1300" dirty="0">
                <a:solidFill>
                  <a:schemeClr val="bg1"/>
                </a:solidFill>
              </a:rPr>
              <a:t>Antony Rodrigo Quito Anccasi</a:t>
            </a:r>
            <a:endParaRPr lang="es-PE" sz="1200" dirty="0"/>
          </a:p>
          <a:p>
            <a:pPr indent="0" marL="0">
              <a:spcAft>
                <a:spcPts val="300"/>
              </a:spcAft>
              <a:buNone/>
            </a:pPr>
            <a:r>
              <a:rPr lang="es-PE" sz="1200" dirty="0">
                <a:solidFill>
                  <a:schemeClr val="accent4"/>
                </a:solidFill>
                <a:latin typeface="Consolas" pitchFamily="34" charset="0"/>
                <a:ea typeface="Consolas" pitchFamily="34" charset="-122"/>
                <a:cs typeface="Consolas" pitchFamily="34" charset="-120"/>
              </a:rPr>
              <a:t>U202412516   </a:t>
            </a:r>
            <a:r>
              <a:rPr lang="es-PE" sz="1300" dirty="0">
                <a:solidFill>
                  <a:schemeClr val="bg1"/>
                </a:solidFill>
              </a:rPr>
              <a:t>Mateo Alonso Monge Jiménez</a:t>
            </a:r>
            <a:endParaRPr lang="es-PE" sz="1200" dirty="0"/>
          </a:p>
        </p:txBody>
      </p:sp>
      <p:sp>
        <p:nvSpPr>
          <p:cNvPr id="11" name="Text 8"/>
          <p:cNvSpPr txBox="1"/>
          <p:nvPr/>
        </p:nvSpPr>
        <p:spPr>
          <a:xfrm>
            <a:off x="731520" y="6172200"/>
            <a:ext cx="3657600" cy="274320"/>
          </a:xfrm>
          <a:prstGeom prst="rect">
            <a:avLst/>
          </a:prstGeom>
          <a:noFill/>
          <a:ln/>
        </p:spPr>
        <p:txBody>
          <a:bodyPr wrap="square" lIns="0" tIns="0" rIns="0" bIns="0" rtlCol="0" anchor="t"/>
          <a:lstStyle/>
          <a:p>
            <a:pPr indent="0" marL="0">
              <a:buNone/>
            </a:pPr>
            <a:r>
              <a:rPr lang="es-PE" sz="1200" dirty="0">
                <a:solidFill>
                  <a:schemeClr val="accent5"/>
                </a:solidFill>
              </a:rPr>
              <a:t>Octubre de 2026</a:t>
            </a:r>
            <a:endParaRPr lang="es-PE" sz="1200" dirty="0"/>
          </a:p>
        </p:txBody>
      </p:sp>
      <p:sp>
        <p:nvSpPr>
          <p:cNvPr id="12" name="Pixel"/>
          <p:cNvSpPr/>
          <p:nvPr/>
        </p:nvSpPr>
        <p:spPr>
          <a:xfrm>
            <a:off x="9326880" y="1143000"/>
            <a:ext cx="274320" cy="274320"/>
          </a:xfrm>
          <a:prstGeom prst="rect">
            <a:avLst/>
          </a:prstGeom>
          <a:solidFill>
            <a:schemeClr val="accent1"/>
          </a:solidFill>
          <a:ln w="12700">
            <a:solidFill>
              <a:schemeClr val="accent1"/>
            </a:solidFill>
            <a:prstDash val="solid"/>
          </a:ln>
        </p:spPr>
      </p:sp>
      <p:sp>
        <p:nvSpPr>
          <p:cNvPr id="13" name="Pixel"/>
          <p:cNvSpPr/>
          <p:nvPr/>
        </p:nvSpPr>
        <p:spPr>
          <a:xfrm>
            <a:off x="9601200" y="1143000"/>
            <a:ext cx="274320" cy="274320"/>
          </a:xfrm>
          <a:prstGeom prst="rect">
            <a:avLst/>
          </a:prstGeom>
          <a:solidFill>
            <a:schemeClr val="accent1"/>
          </a:solidFill>
          <a:ln w="12700">
            <a:solidFill>
              <a:schemeClr val="accent1"/>
            </a:solidFill>
            <a:prstDash val="solid"/>
          </a:ln>
        </p:spPr>
      </p:sp>
      <p:sp>
        <p:nvSpPr>
          <p:cNvPr id="14" name="Pixel"/>
          <p:cNvSpPr/>
          <p:nvPr/>
        </p:nvSpPr>
        <p:spPr>
          <a:xfrm>
            <a:off x="9875520" y="1143000"/>
            <a:ext cx="274320" cy="274320"/>
          </a:xfrm>
          <a:prstGeom prst="rect">
            <a:avLst/>
          </a:prstGeom>
          <a:solidFill>
            <a:schemeClr val="accent1"/>
          </a:solidFill>
          <a:ln w="12700">
            <a:solidFill>
              <a:schemeClr val="accent1"/>
            </a:solidFill>
            <a:prstDash val="solid"/>
          </a:ln>
        </p:spPr>
      </p:sp>
      <p:sp>
        <p:nvSpPr>
          <p:cNvPr id="15" name="Pixel"/>
          <p:cNvSpPr/>
          <p:nvPr/>
        </p:nvSpPr>
        <p:spPr>
          <a:xfrm>
            <a:off x="10149840" y="1143000"/>
            <a:ext cx="274320" cy="274320"/>
          </a:xfrm>
          <a:prstGeom prst="rect">
            <a:avLst/>
          </a:prstGeom>
          <a:solidFill>
            <a:schemeClr val="accent1"/>
          </a:solidFill>
          <a:ln w="12700">
            <a:solidFill>
              <a:schemeClr val="accent1"/>
            </a:solidFill>
            <a:prstDash val="solid"/>
          </a:ln>
        </p:spPr>
      </p:sp>
      <p:sp>
        <p:nvSpPr>
          <p:cNvPr id="16" name="Pixel"/>
          <p:cNvSpPr/>
          <p:nvPr/>
        </p:nvSpPr>
        <p:spPr>
          <a:xfrm>
            <a:off x="9052560" y="1417320"/>
            <a:ext cx="274320" cy="274320"/>
          </a:xfrm>
          <a:prstGeom prst="rect">
            <a:avLst/>
          </a:prstGeom>
          <a:solidFill>
            <a:schemeClr val="accent1"/>
          </a:solidFill>
          <a:ln w="12700">
            <a:solidFill>
              <a:schemeClr val="accent1"/>
            </a:solidFill>
            <a:prstDash val="solid"/>
          </a:ln>
        </p:spPr>
      </p:sp>
      <p:sp>
        <p:nvSpPr>
          <p:cNvPr id="17" name="Pixel"/>
          <p:cNvSpPr/>
          <p:nvPr/>
        </p:nvSpPr>
        <p:spPr>
          <a:xfrm>
            <a:off x="9326880" y="1417320"/>
            <a:ext cx="274320" cy="274320"/>
          </a:xfrm>
          <a:prstGeom prst="rect">
            <a:avLst/>
          </a:prstGeom>
          <a:solidFill>
            <a:schemeClr val="accent1"/>
          </a:solidFill>
          <a:ln w="12700">
            <a:solidFill>
              <a:schemeClr val="accent1"/>
            </a:solidFill>
            <a:prstDash val="solid"/>
          </a:ln>
        </p:spPr>
      </p:sp>
      <p:sp>
        <p:nvSpPr>
          <p:cNvPr id="18" name="Pixel"/>
          <p:cNvSpPr/>
          <p:nvPr/>
        </p:nvSpPr>
        <p:spPr>
          <a:xfrm>
            <a:off x="9601200" y="1417320"/>
            <a:ext cx="274320" cy="274320"/>
          </a:xfrm>
          <a:prstGeom prst="rect">
            <a:avLst/>
          </a:prstGeom>
          <a:solidFill>
            <a:schemeClr val="accent1"/>
          </a:solidFill>
          <a:ln w="12700">
            <a:solidFill>
              <a:schemeClr val="accent1"/>
            </a:solidFill>
            <a:prstDash val="solid"/>
          </a:ln>
        </p:spPr>
      </p:sp>
      <p:sp>
        <p:nvSpPr>
          <p:cNvPr id="19" name="Pixel"/>
          <p:cNvSpPr/>
          <p:nvPr/>
        </p:nvSpPr>
        <p:spPr>
          <a:xfrm>
            <a:off x="9875520" y="1417320"/>
            <a:ext cx="274320" cy="274320"/>
          </a:xfrm>
          <a:prstGeom prst="rect">
            <a:avLst/>
          </a:prstGeom>
          <a:solidFill>
            <a:schemeClr val="accent1"/>
          </a:solidFill>
          <a:ln w="12700">
            <a:solidFill>
              <a:schemeClr val="accent1"/>
            </a:solidFill>
            <a:prstDash val="solid"/>
          </a:ln>
        </p:spPr>
      </p:sp>
      <p:sp>
        <p:nvSpPr>
          <p:cNvPr id="20" name="Pixel"/>
          <p:cNvSpPr/>
          <p:nvPr/>
        </p:nvSpPr>
        <p:spPr>
          <a:xfrm>
            <a:off x="10149840" y="1417320"/>
            <a:ext cx="274320" cy="274320"/>
          </a:xfrm>
          <a:prstGeom prst="rect">
            <a:avLst/>
          </a:prstGeom>
          <a:solidFill>
            <a:schemeClr val="accent1"/>
          </a:solidFill>
          <a:ln w="12700">
            <a:solidFill>
              <a:schemeClr val="accent1"/>
            </a:solidFill>
            <a:prstDash val="solid"/>
          </a:ln>
        </p:spPr>
      </p:sp>
      <p:sp>
        <p:nvSpPr>
          <p:cNvPr id="21" name="Pixel"/>
          <p:cNvSpPr/>
          <p:nvPr/>
        </p:nvSpPr>
        <p:spPr>
          <a:xfrm>
            <a:off x="9601200" y="1691640"/>
            <a:ext cx="274320" cy="274320"/>
          </a:xfrm>
          <a:prstGeom prst="rect">
            <a:avLst/>
          </a:prstGeom>
          <a:solidFill>
            <a:schemeClr val="accent1"/>
          </a:solidFill>
          <a:ln w="12700">
            <a:solidFill>
              <a:schemeClr val="accent1"/>
            </a:solidFill>
            <a:prstDash val="solid"/>
          </a:ln>
        </p:spPr>
      </p:sp>
      <p:sp>
        <p:nvSpPr>
          <p:cNvPr id="22" name="Pixel"/>
          <p:cNvSpPr/>
          <p:nvPr/>
        </p:nvSpPr>
        <p:spPr>
          <a:xfrm>
            <a:off x="9875520" y="1691640"/>
            <a:ext cx="274320" cy="274320"/>
          </a:xfrm>
          <a:prstGeom prst="rect">
            <a:avLst/>
          </a:prstGeom>
          <a:solidFill>
            <a:schemeClr val="accent1"/>
          </a:solidFill>
          <a:ln w="12700">
            <a:solidFill>
              <a:schemeClr val="accent1"/>
            </a:solidFill>
            <a:prstDash val="solid"/>
          </a:ln>
        </p:spPr>
      </p:sp>
      <p:sp>
        <p:nvSpPr>
          <p:cNvPr id="23" name="Pixel"/>
          <p:cNvSpPr/>
          <p:nvPr/>
        </p:nvSpPr>
        <p:spPr>
          <a:xfrm>
            <a:off x="8778240" y="1965960"/>
            <a:ext cx="274320" cy="274320"/>
          </a:xfrm>
          <a:prstGeom prst="rect">
            <a:avLst/>
          </a:prstGeom>
          <a:solidFill>
            <a:schemeClr val="bg2"/>
          </a:solidFill>
          <a:ln w="12700">
            <a:solidFill>
              <a:schemeClr val="bg2"/>
            </a:solidFill>
            <a:prstDash val="solid"/>
          </a:ln>
        </p:spPr>
      </p:sp>
      <p:sp>
        <p:nvSpPr>
          <p:cNvPr id="24" name="Pixel"/>
          <p:cNvSpPr/>
          <p:nvPr/>
        </p:nvSpPr>
        <p:spPr>
          <a:xfrm>
            <a:off x="9052560" y="1965960"/>
            <a:ext cx="274320" cy="274320"/>
          </a:xfrm>
          <a:prstGeom prst="rect">
            <a:avLst/>
          </a:prstGeom>
          <a:solidFill>
            <a:schemeClr val="bg2"/>
          </a:solidFill>
          <a:ln w="12700">
            <a:solidFill>
              <a:schemeClr val="bg2"/>
            </a:solidFill>
            <a:prstDash val="solid"/>
          </a:ln>
        </p:spPr>
      </p:sp>
      <p:sp>
        <p:nvSpPr>
          <p:cNvPr id="25" name="Pixel"/>
          <p:cNvSpPr/>
          <p:nvPr/>
        </p:nvSpPr>
        <p:spPr>
          <a:xfrm>
            <a:off x="9326880" y="1965960"/>
            <a:ext cx="274320" cy="274320"/>
          </a:xfrm>
          <a:prstGeom prst="rect">
            <a:avLst/>
          </a:prstGeom>
          <a:solidFill>
            <a:schemeClr val="bg2"/>
          </a:solidFill>
          <a:ln w="12700">
            <a:solidFill>
              <a:schemeClr val="bg2"/>
            </a:solidFill>
            <a:prstDash val="solid"/>
          </a:ln>
        </p:spPr>
      </p:sp>
      <p:sp>
        <p:nvSpPr>
          <p:cNvPr id="26" name="Pixel"/>
          <p:cNvSpPr/>
          <p:nvPr/>
        </p:nvSpPr>
        <p:spPr>
          <a:xfrm>
            <a:off x="9601200" y="1965960"/>
            <a:ext cx="274320" cy="274320"/>
          </a:xfrm>
          <a:prstGeom prst="rect">
            <a:avLst/>
          </a:prstGeom>
          <a:solidFill>
            <a:schemeClr val="bg2"/>
          </a:solidFill>
          <a:ln w="12700">
            <a:solidFill>
              <a:schemeClr val="bg2"/>
            </a:solidFill>
            <a:prstDash val="solid"/>
          </a:ln>
        </p:spPr>
      </p:sp>
      <p:sp>
        <p:nvSpPr>
          <p:cNvPr id="27" name="Pixel"/>
          <p:cNvSpPr/>
          <p:nvPr/>
        </p:nvSpPr>
        <p:spPr>
          <a:xfrm>
            <a:off x="9875520" y="1965960"/>
            <a:ext cx="274320" cy="274320"/>
          </a:xfrm>
          <a:prstGeom prst="rect">
            <a:avLst/>
          </a:prstGeom>
          <a:solidFill>
            <a:schemeClr val="bg2"/>
          </a:solidFill>
          <a:ln w="12700">
            <a:solidFill>
              <a:schemeClr val="bg2"/>
            </a:solidFill>
            <a:prstDash val="solid"/>
          </a:ln>
        </p:spPr>
      </p:sp>
      <p:sp>
        <p:nvSpPr>
          <p:cNvPr id="28" name="Pixel"/>
          <p:cNvSpPr/>
          <p:nvPr/>
        </p:nvSpPr>
        <p:spPr>
          <a:xfrm>
            <a:off x="10149840" y="1965960"/>
            <a:ext cx="274320" cy="274320"/>
          </a:xfrm>
          <a:prstGeom prst="rect">
            <a:avLst/>
          </a:prstGeom>
          <a:solidFill>
            <a:schemeClr val="bg2"/>
          </a:solidFill>
          <a:ln w="12700">
            <a:solidFill>
              <a:schemeClr val="bg2"/>
            </a:solidFill>
            <a:prstDash val="solid"/>
          </a:ln>
        </p:spPr>
      </p:sp>
      <p:sp>
        <p:nvSpPr>
          <p:cNvPr id="29" name="Pixel"/>
          <p:cNvSpPr/>
          <p:nvPr/>
        </p:nvSpPr>
        <p:spPr>
          <a:xfrm>
            <a:off x="10424160" y="1965960"/>
            <a:ext cx="274320" cy="274320"/>
          </a:xfrm>
          <a:prstGeom prst="rect">
            <a:avLst/>
          </a:prstGeom>
          <a:solidFill>
            <a:schemeClr val="bg2"/>
          </a:solidFill>
          <a:ln w="12700">
            <a:solidFill>
              <a:schemeClr val="bg2"/>
            </a:solidFill>
            <a:prstDash val="solid"/>
          </a:ln>
        </p:spPr>
      </p:sp>
      <p:sp>
        <p:nvSpPr>
          <p:cNvPr id="30" name="Pixel"/>
          <p:cNvSpPr/>
          <p:nvPr/>
        </p:nvSpPr>
        <p:spPr>
          <a:xfrm>
            <a:off x="10698480" y="1965960"/>
            <a:ext cx="274320" cy="274320"/>
          </a:xfrm>
          <a:prstGeom prst="rect">
            <a:avLst/>
          </a:prstGeom>
          <a:solidFill>
            <a:schemeClr val="bg2"/>
          </a:solidFill>
          <a:ln w="12700">
            <a:solidFill>
              <a:schemeClr val="bg2"/>
            </a:solidFill>
            <a:prstDash val="solid"/>
          </a:ln>
        </p:spPr>
      </p:sp>
      <p:sp>
        <p:nvSpPr>
          <p:cNvPr id="31" name="Pixel"/>
          <p:cNvSpPr/>
          <p:nvPr/>
        </p:nvSpPr>
        <p:spPr>
          <a:xfrm>
            <a:off x="8503920" y="2240280"/>
            <a:ext cx="274320" cy="274320"/>
          </a:xfrm>
          <a:prstGeom prst="rect">
            <a:avLst/>
          </a:prstGeom>
          <a:solidFill>
            <a:schemeClr val="bg2"/>
          </a:solidFill>
          <a:ln w="12700">
            <a:solidFill>
              <a:schemeClr val="bg2"/>
            </a:solidFill>
            <a:prstDash val="solid"/>
          </a:ln>
        </p:spPr>
      </p:sp>
      <p:sp>
        <p:nvSpPr>
          <p:cNvPr id="32" name="Pixel"/>
          <p:cNvSpPr/>
          <p:nvPr/>
        </p:nvSpPr>
        <p:spPr>
          <a:xfrm>
            <a:off x="8778240" y="2240280"/>
            <a:ext cx="274320" cy="274320"/>
          </a:xfrm>
          <a:prstGeom prst="rect">
            <a:avLst/>
          </a:prstGeom>
          <a:solidFill>
            <a:schemeClr val="bg2"/>
          </a:solidFill>
          <a:ln w="12700">
            <a:solidFill>
              <a:schemeClr val="bg2"/>
            </a:solidFill>
            <a:prstDash val="solid"/>
          </a:ln>
        </p:spPr>
      </p:sp>
      <p:sp>
        <p:nvSpPr>
          <p:cNvPr id="33" name="Pixel"/>
          <p:cNvSpPr/>
          <p:nvPr/>
        </p:nvSpPr>
        <p:spPr>
          <a:xfrm>
            <a:off x="9052560" y="2240280"/>
            <a:ext cx="274320" cy="274320"/>
          </a:xfrm>
          <a:prstGeom prst="rect">
            <a:avLst/>
          </a:prstGeom>
          <a:solidFill>
            <a:schemeClr val="bg2"/>
          </a:solidFill>
          <a:ln w="12700">
            <a:solidFill>
              <a:schemeClr val="bg2"/>
            </a:solidFill>
            <a:prstDash val="solid"/>
          </a:ln>
        </p:spPr>
      </p:sp>
      <p:sp>
        <p:nvSpPr>
          <p:cNvPr id="34" name="Pixel"/>
          <p:cNvSpPr/>
          <p:nvPr/>
        </p:nvSpPr>
        <p:spPr>
          <a:xfrm>
            <a:off x="9326880" y="2240280"/>
            <a:ext cx="274320" cy="274320"/>
          </a:xfrm>
          <a:prstGeom prst="rect">
            <a:avLst/>
          </a:prstGeom>
          <a:solidFill>
            <a:schemeClr val="bg2"/>
          </a:solidFill>
          <a:ln w="12700">
            <a:solidFill>
              <a:schemeClr val="bg2"/>
            </a:solidFill>
            <a:prstDash val="solid"/>
          </a:ln>
        </p:spPr>
      </p:sp>
      <p:sp>
        <p:nvSpPr>
          <p:cNvPr id="35" name="Pixel"/>
          <p:cNvSpPr/>
          <p:nvPr/>
        </p:nvSpPr>
        <p:spPr>
          <a:xfrm>
            <a:off x="9601200" y="2240280"/>
            <a:ext cx="274320" cy="274320"/>
          </a:xfrm>
          <a:prstGeom prst="rect">
            <a:avLst/>
          </a:prstGeom>
          <a:solidFill>
            <a:schemeClr val="bg2"/>
          </a:solidFill>
          <a:ln w="12700">
            <a:solidFill>
              <a:schemeClr val="bg2"/>
            </a:solidFill>
            <a:prstDash val="solid"/>
          </a:ln>
        </p:spPr>
      </p:sp>
      <p:sp>
        <p:nvSpPr>
          <p:cNvPr id="36" name="Pixel"/>
          <p:cNvSpPr/>
          <p:nvPr/>
        </p:nvSpPr>
        <p:spPr>
          <a:xfrm>
            <a:off x="9875520" y="2240280"/>
            <a:ext cx="274320" cy="274320"/>
          </a:xfrm>
          <a:prstGeom prst="rect">
            <a:avLst/>
          </a:prstGeom>
          <a:solidFill>
            <a:schemeClr val="bg2"/>
          </a:solidFill>
          <a:ln w="12700">
            <a:solidFill>
              <a:schemeClr val="bg2"/>
            </a:solidFill>
            <a:prstDash val="solid"/>
          </a:ln>
        </p:spPr>
      </p:sp>
      <p:sp>
        <p:nvSpPr>
          <p:cNvPr id="37" name="Pixel"/>
          <p:cNvSpPr/>
          <p:nvPr/>
        </p:nvSpPr>
        <p:spPr>
          <a:xfrm>
            <a:off x="10149840" y="2240280"/>
            <a:ext cx="274320" cy="274320"/>
          </a:xfrm>
          <a:prstGeom prst="rect">
            <a:avLst/>
          </a:prstGeom>
          <a:solidFill>
            <a:schemeClr val="bg2"/>
          </a:solidFill>
          <a:ln w="12700">
            <a:solidFill>
              <a:schemeClr val="bg2"/>
            </a:solidFill>
            <a:prstDash val="solid"/>
          </a:ln>
        </p:spPr>
      </p:sp>
      <p:sp>
        <p:nvSpPr>
          <p:cNvPr id="38" name="Pixel"/>
          <p:cNvSpPr/>
          <p:nvPr/>
        </p:nvSpPr>
        <p:spPr>
          <a:xfrm>
            <a:off x="10424160" y="2240280"/>
            <a:ext cx="274320" cy="274320"/>
          </a:xfrm>
          <a:prstGeom prst="rect">
            <a:avLst/>
          </a:prstGeom>
          <a:solidFill>
            <a:schemeClr val="bg2"/>
          </a:solidFill>
          <a:ln w="12700">
            <a:solidFill>
              <a:schemeClr val="bg2"/>
            </a:solidFill>
            <a:prstDash val="solid"/>
          </a:ln>
        </p:spPr>
      </p:sp>
      <p:sp>
        <p:nvSpPr>
          <p:cNvPr id="39" name="Pixel"/>
          <p:cNvSpPr/>
          <p:nvPr/>
        </p:nvSpPr>
        <p:spPr>
          <a:xfrm>
            <a:off x="10698480" y="2240280"/>
            <a:ext cx="274320" cy="274320"/>
          </a:xfrm>
          <a:prstGeom prst="rect">
            <a:avLst/>
          </a:prstGeom>
          <a:solidFill>
            <a:schemeClr val="bg2"/>
          </a:solidFill>
          <a:ln w="12700">
            <a:solidFill>
              <a:schemeClr val="bg2"/>
            </a:solidFill>
            <a:prstDash val="solid"/>
          </a:ln>
        </p:spPr>
      </p:sp>
      <p:sp>
        <p:nvSpPr>
          <p:cNvPr id="40" name="Pixel"/>
          <p:cNvSpPr/>
          <p:nvPr/>
        </p:nvSpPr>
        <p:spPr>
          <a:xfrm>
            <a:off x="10972800" y="2240280"/>
            <a:ext cx="274320" cy="274320"/>
          </a:xfrm>
          <a:prstGeom prst="rect">
            <a:avLst/>
          </a:prstGeom>
          <a:solidFill>
            <a:schemeClr val="bg2"/>
          </a:solidFill>
          <a:ln w="12700">
            <a:solidFill>
              <a:schemeClr val="bg2"/>
            </a:solidFill>
            <a:prstDash val="solid"/>
          </a:ln>
        </p:spPr>
      </p:sp>
      <p:sp>
        <p:nvSpPr>
          <p:cNvPr id="41" name="Pixel"/>
          <p:cNvSpPr/>
          <p:nvPr/>
        </p:nvSpPr>
        <p:spPr>
          <a:xfrm>
            <a:off x="8503920" y="2514600"/>
            <a:ext cx="274320" cy="274320"/>
          </a:xfrm>
          <a:prstGeom prst="rect">
            <a:avLst/>
          </a:prstGeom>
          <a:solidFill>
            <a:schemeClr val="bg2"/>
          </a:solidFill>
          <a:ln w="12700">
            <a:solidFill>
              <a:schemeClr val="bg2"/>
            </a:solidFill>
            <a:prstDash val="solid"/>
          </a:ln>
        </p:spPr>
      </p:sp>
      <p:sp>
        <p:nvSpPr>
          <p:cNvPr id="42" name="Pixel"/>
          <p:cNvSpPr/>
          <p:nvPr/>
        </p:nvSpPr>
        <p:spPr>
          <a:xfrm>
            <a:off x="8778240" y="2514600"/>
            <a:ext cx="274320" cy="274320"/>
          </a:xfrm>
          <a:prstGeom prst="rect">
            <a:avLst/>
          </a:prstGeom>
          <a:solidFill>
            <a:schemeClr val="bg2"/>
          </a:solidFill>
          <a:ln w="12700">
            <a:solidFill>
              <a:schemeClr val="bg2"/>
            </a:solidFill>
            <a:prstDash val="solid"/>
          </a:ln>
        </p:spPr>
      </p:sp>
      <p:sp>
        <p:nvSpPr>
          <p:cNvPr id="43" name="Pixel"/>
          <p:cNvSpPr/>
          <p:nvPr/>
        </p:nvSpPr>
        <p:spPr>
          <a:xfrm>
            <a:off x="9601200" y="2514600"/>
            <a:ext cx="274320" cy="274320"/>
          </a:xfrm>
          <a:prstGeom prst="rect">
            <a:avLst/>
          </a:prstGeom>
          <a:solidFill>
            <a:schemeClr val="bg2"/>
          </a:solidFill>
          <a:ln w="12700">
            <a:solidFill>
              <a:schemeClr val="bg2"/>
            </a:solidFill>
            <a:prstDash val="solid"/>
          </a:ln>
        </p:spPr>
      </p:sp>
      <p:sp>
        <p:nvSpPr>
          <p:cNvPr id="44" name="Pixel"/>
          <p:cNvSpPr/>
          <p:nvPr/>
        </p:nvSpPr>
        <p:spPr>
          <a:xfrm>
            <a:off x="9875520" y="2514600"/>
            <a:ext cx="274320" cy="274320"/>
          </a:xfrm>
          <a:prstGeom prst="rect">
            <a:avLst/>
          </a:prstGeom>
          <a:solidFill>
            <a:schemeClr val="bg2"/>
          </a:solidFill>
          <a:ln w="12700">
            <a:solidFill>
              <a:schemeClr val="bg2"/>
            </a:solidFill>
            <a:prstDash val="solid"/>
          </a:ln>
        </p:spPr>
      </p:sp>
      <p:sp>
        <p:nvSpPr>
          <p:cNvPr id="45" name="Pixel"/>
          <p:cNvSpPr/>
          <p:nvPr/>
        </p:nvSpPr>
        <p:spPr>
          <a:xfrm>
            <a:off x="10698480" y="2514600"/>
            <a:ext cx="274320" cy="274320"/>
          </a:xfrm>
          <a:prstGeom prst="rect">
            <a:avLst/>
          </a:prstGeom>
          <a:solidFill>
            <a:schemeClr val="bg2"/>
          </a:solidFill>
          <a:ln w="12700">
            <a:solidFill>
              <a:schemeClr val="bg2"/>
            </a:solidFill>
            <a:prstDash val="solid"/>
          </a:ln>
        </p:spPr>
      </p:sp>
      <p:sp>
        <p:nvSpPr>
          <p:cNvPr id="46" name="Pixel"/>
          <p:cNvSpPr/>
          <p:nvPr/>
        </p:nvSpPr>
        <p:spPr>
          <a:xfrm>
            <a:off x="10972800" y="2514600"/>
            <a:ext cx="274320" cy="274320"/>
          </a:xfrm>
          <a:prstGeom prst="rect">
            <a:avLst/>
          </a:prstGeom>
          <a:solidFill>
            <a:schemeClr val="bg2"/>
          </a:solidFill>
          <a:ln w="12700">
            <a:solidFill>
              <a:schemeClr val="bg2"/>
            </a:solidFill>
            <a:prstDash val="solid"/>
          </a:ln>
        </p:spPr>
      </p:sp>
      <p:sp>
        <p:nvSpPr>
          <p:cNvPr id="47" name="Pixel"/>
          <p:cNvSpPr/>
          <p:nvPr/>
        </p:nvSpPr>
        <p:spPr>
          <a:xfrm>
            <a:off x="8503920" y="2788920"/>
            <a:ext cx="274320" cy="274320"/>
          </a:xfrm>
          <a:prstGeom prst="rect">
            <a:avLst/>
          </a:prstGeom>
          <a:solidFill>
            <a:schemeClr val="bg2"/>
          </a:solidFill>
          <a:ln w="12700">
            <a:solidFill>
              <a:schemeClr val="bg2"/>
            </a:solidFill>
            <a:prstDash val="solid"/>
          </a:ln>
        </p:spPr>
      </p:sp>
      <p:sp>
        <p:nvSpPr>
          <p:cNvPr id="48" name="Pixel"/>
          <p:cNvSpPr/>
          <p:nvPr/>
        </p:nvSpPr>
        <p:spPr>
          <a:xfrm>
            <a:off x="8778240" y="2788920"/>
            <a:ext cx="274320" cy="274320"/>
          </a:xfrm>
          <a:prstGeom prst="rect">
            <a:avLst/>
          </a:prstGeom>
          <a:solidFill>
            <a:schemeClr val="bg2"/>
          </a:solidFill>
          <a:ln w="12700">
            <a:solidFill>
              <a:schemeClr val="bg2"/>
            </a:solidFill>
            <a:prstDash val="solid"/>
          </a:ln>
        </p:spPr>
      </p:sp>
      <p:sp>
        <p:nvSpPr>
          <p:cNvPr id="49" name="Pixel"/>
          <p:cNvSpPr/>
          <p:nvPr/>
        </p:nvSpPr>
        <p:spPr>
          <a:xfrm>
            <a:off x="9052560" y="2788920"/>
            <a:ext cx="274320" cy="274320"/>
          </a:xfrm>
          <a:prstGeom prst="rect">
            <a:avLst/>
          </a:prstGeom>
          <a:solidFill>
            <a:schemeClr val="bg2"/>
          </a:solidFill>
          <a:ln w="12700">
            <a:solidFill>
              <a:schemeClr val="bg2"/>
            </a:solidFill>
            <a:prstDash val="solid"/>
          </a:ln>
        </p:spPr>
      </p:sp>
      <p:sp>
        <p:nvSpPr>
          <p:cNvPr id="50" name="Pixel"/>
          <p:cNvSpPr/>
          <p:nvPr/>
        </p:nvSpPr>
        <p:spPr>
          <a:xfrm>
            <a:off x="9326880" y="2788920"/>
            <a:ext cx="274320" cy="274320"/>
          </a:xfrm>
          <a:prstGeom prst="rect">
            <a:avLst/>
          </a:prstGeom>
          <a:solidFill>
            <a:schemeClr val="bg2"/>
          </a:solidFill>
          <a:ln w="12700">
            <a:solidFill>
              <a:schemeClr val="bg2"/>
            </a:solidFill>
            <a:prstDash val="solid"/>
          </a:ln>
        </p:spPr>
      </p:sp>
      <p:sp>
        <p:nvSpPr>
          <p:cNvPr id="51" name="Pixel"/>
          <p:cNvSpPr/>
          <p:nvPr/>
        </p:nvSpPr>
        <p:spPr>
          <a:xfrm>
            <a:off x="9601200" y="2788920"/>
            <a:ext cx="274320" cy="274320"/>
          </a:xfrm>
          <a:prstGeom prst="rect">
            <a:avLst/>
          </a:prstGeom>
          <a:solidFill>
            <a:schemeClr val="bg2"/>
          </a:solidFill>
          <a:ln w="12700">
            <a:solidFill>
              <a:schemeClr val="bg2"/>
            </a:solidFill>
            <a:prstDash val="solid"/>
          </a:ln>
        </p:spPr>
      </p:sp>
      <p:sp>
        <p:nvSpPr>
          <p:cNvPr id="52" name="Pixel"/>
          <p:cNvSpPr/>
          <p:nvPr/>
        </p:nvSpPr>
        <p:spPr>
          <a:xfrm>
            <a:off x="9875520" y="2788920"/>
            <a:ext cx="274320" cy="274320"/>
          </a:xfrm>
          <a:prstGeom prst="rect">
            <a:avLst/>
          </a:prstGeom>
          <a:solidFill>
            <a:schemeClr val="bg2"/>
          </a:solidFill>
          <a:ln w="12700">
            <a:solidFill>
              <a:schemeClr val="bg2"/>
            </a:solidFill>
            <a:prstDash val="solid"/>
          </a:ln>
        </p:spPr>
      </p:sp>
      <p:sp>
        <p:nvSpPr>
          <p:cNvPr id="53" name="Pixel"/>
          <p:cNvSpPr/>
          <p:nvPr/>
        </p:nvSpPr>
        <p:spPr>
          <a:xfrm>
            <a:off x="10149840" y="2788920"/>
            <a:ext cx="274320" cy="274320"/>
          </a:xfrm>
          <a:prstGeom prst="rect">
            <a:avLst/>
          </a:prstGeom>
          <a:solidFill>
            <a:schemeClr val="bg2"/>
          </a:solidFill>
          <a:ln w="12700">
            <a:solidFill>
              <a:schemeClr val="bg2"/>
            </a:solidFill>
            <a:prstDash val="solid"/>
          </a:ln>
        </p:spPr>
      </p:sp>
      <p:sp>
        <p:nvSpPr>
          <p:cNvPr id="54" name="Pixel"/>
          <p:cNvSpPr/>
          <p:nvPr/>
        </p:nvSpPr>
        <p:spPr>
          <a:xfrm>
            <a:off x="10424160" y="2788920"/>
            <a:ext cx="274320" cy="274320"/>
          </a:xfrm>
          <a:prstGeom prst="rect">
            <a:avLst/>
          </a:prstGeom>
          <a:solidFill>
            <a:schemeClr val="bg2"/>
          </a:solidFill>
          <a:ln w="12700">
            <a:solidFill>
              <a:schemeClr val="bg2"/>
            </a:solidFill>
            <a:prstDash val="solid"/>
          </a:ln>
        </p:spPr>
      </p:sp>
      <p:sp>
        <p:nvSpPr>
          <p:cNvPr id="55" name="Pixel"/>
          <p:cNvSpPr/>
          <p:nvPr/>
        </p:nvSpPr>
        <p:spPr>
          <a:xfrm>
            <a:off x="10698480" y="2788920"/>
            <a:ext cx="274320" cy="274320"/>
          </a:xfrm>
          <a:prstGeom prst="rect">
            <a:avLst/>
          </a:prstGeom>
          <a:solidFill>
            <a:schemeClr val="bg2"/>
          </a:solidFill>
          <a:ln w="12700">
            <a:solidFill>
              <a:schemeClr val="bg2"/>
            </a:solidFill>
            <a:prstDash val="solid"/>
          </a:ln>
        </p:spPr>
      </p:sp>
      <p:sp>
        <p:nvSpPr>
          <p:cNvPr id="56" name="Pixel"/>
          <p:cNvSpPr/>
          <p:nvPr/>
        </p:nvSpPr>
        <p:spPr>
          <a:xfrm>
            <a:off x="10972800" y="2788920"/>
            <a:ext cx="274320" cy="274320"/>
          </a:xfrm>
          <a:prstGeom prst="rect">
            <a:avLst/>
          </a:prstGeom>
          <a:solidFill>
            <a:schemeClr val="bg2"/>
          </a:solidFill>
          <a:ln w="12700">
            <a:solidFill>
              <a:schemeClr val="bg2"/>
            </a:solidFill>
            <a:prstDash val="solid"/>
          </a:ln>
        </p:spPr>
      </p:sp>
      <p:sp>
        <p:nvSpPr>
          <p:cNvPr id="57" name="Pixel"/>
          <p:cNvSpPr/>
          <p:nvPr/>
        </p:nvSpPr>
        <p:spPr>
          <a:xfrm>
            <a:off x="8778240" y="3063240"/>
            <a:ext cx="274320" cy="274320"/>
          </a:xfrm>
          <a:prstGeom prst="rect">
            <a:avLst/>
          </a:prstGeom>
          <a:solidFill>
            <a:schemeClr val="bg2"/>
          </a:solidFill>
          <a:ln w="12700">
            <a:solidFill>
              <a:schemeClr val="bg2"/>
            </a:solidFill>
            <a:prstDash val="solid"/>
          </a:ln>
        </p:spPr>
      </p:sp>
      <p:sp>
        <p:nvSpPr>
          <p:cNvPr id="58" name="Pixel"/>
          <p:cNvSpPr/>
          <p:nvPr/>
        </p:nvSpPr>
        <p:spPr>
          <a:xfrm>
            <a:off x="9052560" y="3063240"/>
            <a:ext cx="274320" cy="274320"/>
          </a:xfrm>
          <a:prstGeom prst="rect">
            <a:avLst/>
          </a:prstGeom>
          <a:solidFill>
            <a:schemeClr val="bg2"/>
          </a:solidFill>
          <a:ln w="12700">
            <a:solidFill>
              <a:schemeClr val="bg2"/>
            </a:solidFill>
            <a:prstDash val="solid"/>
          </a:ln>
        </p:spPr>
      </p:sp>
      <p:sp>
        <p:nvSpPr>
          <p:cNvPr id="59" name="Pixel"/>
          <p:cNvSpPr/>
          <p:nvPr/>
        </p:nvSpPr>
        <p:spPr>
          <a:xfrm>
            <a:off x="9326880" y="3063240"/>
            <a:ext cx="274320" cy="274320"/>
          </a:xfrm>
          <a:prstGeom prst="rect">
            <a:avLst/>
          </a:prstGeom>
          <a:solidFill>
            <a:schemeClr val="bg2"/>
          </a:solidFill>
          <a:ln w="12700">
            <a:solidFill>
              <a:schemeClr val="bg2"/>
            </a:solidFill>
            <a:prstDash val="solid"/>
          </a:ln>
        </p:spPr>
      </p:sp>
      <p:sp>
        <p:nvSpPr>
          <p:cNvPr id="60" name="Pixel"/>
          <p:cNvSpPr/>
          <p:nvPr/>
        </p:nvSpPr>
        <p:spPr>
          <a:xfrm>
            <a:off x="9601200" y="3063240"/>
            <a:ext cx="274320" cy="274320"/>
          </a:xfrm>
          <a:prstGeom prst="rect">
            <a:avLst/>
          </a:prstGeom>
          <a:solidFill>
            <a:schemeClr val="bg2"/>
          </a:solidFill>
          <a:ln w="12700">
            <a:solidFill>
              <a:schemeClr val="bg2"/>
            </a:solidFill>
            <a:prstDash val="solid"/>
          </a:ln>
        </p:spPr>
      </p:sp>
      <p:sp>
        <p:nvSpPr>
          <p:cNvPr id="61" name="Pixel"/>
          <p:cNvSpPr/>
          <p:nvPr/>
        </p:nvSpPr>
        <p:spPr>
          <a:xfrm>
            <a:off x="9875520" y="3063240"/>
            <a:ext cx="274320" cy="274320"/>
          </a:xfrm>
          <a:prstGeom prst="rect">
            <a:avLst/>
          </a:prstGeom>
          <a:solidFill>
            <a:schemeClr val="bg2"/>
          </a:solidFill>
          <a:ln w="12700">
            <a:solidFill>
              <a:schemeClr val="bg2"/>
            </a:solidFill>
            <a:prstDash val="solid"/>
          </a:ln>
        </p:spPr>
      </p:sp>
      <p:sp>
        <p:nvSpPr>
          <p:cNvPr id="62" name="Pixel"/>
          <p:cNvSpPr/>
          <p:nvPr/>
        </p:nvSpPr>
        <p:spPr>
          <a:xfrm>
            <a:off x="10149840" y="3063240"/>
            <a:ext cx="274320" cy="274320"/>
          </a:xfrm>
          <a:prstGeom prst="rect">
            <a:avLst/>
          </a:prstGeom>
          <a:solidFill>
            <a:schemeClr val="bg2"/>
          </a:solidFill>
          <a:ln w="12700">
            <a:solidFill>
              <a:schemeClr val="bg2"/>
            </a:solidFill>
            <a:prstDash val="solid"/>
          </a:ln>
        </p:spPr>
      </p:sp>
      <p:sp>
        <p:nvSpPr>
          <p:cNvPr id="63" name="Pixel"/>
          <p:cNvSpPr/>
          <p:nvPr/>
        </p:nvSpPr>
        <p:spPr>
          <a:xfrm>
            <a:off x="10424160" y="3063240"/>
            <a:ext cx="274320" cy="274320"/>
          </a:xfrm>
          <a:prstGeom prst="rect">
            <a:avLst/>
          </a:prstGeom>
          <a:solidFill>
            <a:schemeClr val="bg2"/>
          </a:solidFill>
          <a:ln w="12700">
            <a:solidFill>
              <a:schemeClr val="bg2"/>
            </a:solidFill>
            <a:prstDash val="solid"/>
          </a:ln>
        </p:spPr>
      </p:sp>
      <p:sp>
        <p:nvSpPr>
          <p:cNvPr id="64" name="Pixel"/>
          <p:cNvSpPr/>
          <p:nvPr/>
        </p:nvSpPr>
        <p:spPr>
          <a:xfrm>
            <a:off x="10698480" y="3063240"/>
            <a:ext cx="274320" cy="274320"/>
          </a:xfrm>
          <a:prstGeom prst="rect">
            <a:avLst/>
          </a:prstGeom>
          <a:solidFill>
            <a:schemeClr val="bg2"/>
          </a:solidFill>
          <a:ln w="12700">
            <a:solidFill>
              <a:schemeClr val="bg2"/>
            </a:solidFill>
            <a:prstDash val="solid"/>
          </a:ln>
        </p:spPr>
      </p:sp>
      <p:sp>
        <p:nvSpPr>
          <p:cNvPr id="65" name="Pixel"/>
          <p:cNvSpPr/>
          <p:nvPr/>
        </p:nvSpPr>
        <p:spPr>
          <a:xfrm>
            <a:off x="9052560" y="3337560"/>
            <a:ext cx="274320" cy="274320"/>
          </a:xfrm>
          <a:prstGeom prst="rect">
            <a:avLst/>
          </a:prstGeom>
          <a:solidFill>
            <a:schemeClr val="accent5"/>
          </a:solidFill>
          <a:ln w="12700">
            <a:solidFill>
              <a:schemeClr val="accent5"/>
            </a:solidFill>
            <a:prstDash val="solid"/>
          </a:ln>
        </p:spPr>
      </p:sp>
      <p:sp>
        <p:nvSpPr>
          <p:cNvPr id="66" name="Pixel"/>
          <p:cNvSpPr/>
          <p:nvPr/>
        </p:nvSpPr>
        <p:spPr>
          <a:xfrm>
            <a:off x="9326880" y="3337560"/>
            <a:ext cx="274320" cy="274320"/>
          </a:xfrm>
          <a:prstGeom prst="rect">
            <a:avLst/>
          </a:prstGeom>
          <a:solidFill>
            <a:schemeClr val="accent5"/>
          </a:solidFill>
          <a:ln w="12700">
            <a:solidFill>
              <a:schemeClr val="accent5"/>
            </a:solidFill>
            <a:prstDash val="solid"/>
          </a:ln>
        </p:spPr>
      </p:sp>
      <p:sp>
        <p:nvSpPr>
          <p:cNvPr id="67" name="Pixel"/>
          <p:cNvSpPr/>
          <p:nvPr/>
        </p:nvSpPr>
        <p:spPr>
          <a:xfrm>
            <a:off x="9601200" y="3337560"/>
            <a:ext cx="274320" cy="274320"/>
          </a:xfrm>
          <a:prstGeom prst="rect">
            <a:avLst/>
          </a:prstGeom>
          <a:solidFill>
            <a:schemeClr val="accent5"/>
          </a:solidFill>
          <a:ln w="12700">
            <a:solidFill>
              <a:schemeClr val="accent5"/>
            </a:solidFill>
            <a:prstDash val="solid"/>
          </a:ln>
        </p:spPr>
      </p:sp>
      <p:sp>
        <p:nvSpPr>
          <p:cNvPr id="68" name="Pixel"/>
          <p:cNvSpPr/>
          <p:nvPr/>
        </p:nvSpPr>
        <p:spPr>
          <a:xfrm>
            <a:off x="9875520" y="3337560"/>
            <a:ext cx="274320" cy="274320"/>
          </a:xfrm>
          <a:prstGeom prst="rect">
            <a:avLst/>
          </a:prstGeom>
          <a:solidFill>
            <a:schemeClr val="accent5"/>
          </a:solidFill>
          <a:ln w="12700">
            <a:solidFill>
              <a:schemeClr val="accent5"/>
            </a:solidFill>
            <a:prstDash val="solid"/>
          </a:ln>
        </p:spPr>
      </p:sp>
      <p:sp>
        <p:nvSpPr>
          <p:cNvPr id="69" name="Pixel"/>
          <p:cNvSpPr/>
          <p:nvPr/>
        </p:nvSpPr>
        <p:spPr>
          <a:xfrm>
            <a:off x="10149840" y="3337560"/>
            <a:ext cx="274320" cy="274320"/>
          </a:xfrm>
          <a:prstGeom prst="rect">
            <a:avLst/>
          </a:prstGeom>
          <a:solidFill>
            <a:schemeClr val="accent5"/>
          </a:solidFill>
          <a:ln w="12700">
            <a:solidFill>
              <a:schemeClr val="accent5"/>
            </a:solidFill>
            <a:prstDash val="solid"/>
          </a:ln>
        </p:spPr>
      </p:sp>
      <p:sp>
        <p:nvSpPr>
          <p:cNvPr id="70" name="Pixel"/>
          <p:cNvSpPr/>
          <p:nvPr/>
        </p:nvSpPr>
        <p:spPr>
          <a:xfrm>
            <a:off x="10424160" y="3337560"/>
            <a:ext cx="274320" cy="274320"/>
          </a:xfrm>
          <a:prstGeom prst="rect">
            <a:avLst/>
          </a:prstGeom>
          <a:solidFill>
            <a:schemeClr val="accent5"/>
          </a:solidFill>
          <a:ln w="12700">
            <a:solidFill>
              <a:schemeClr val="accent5"/>
            </a:solidFill>
            <a:prstDash val="solid"/>
          </a:ln>
        </p:spPr>
      </p:sp>
      <p:sp>
        <p:nvSpPr>
          <p:cNvPr id="71" name="Pixel"/>
          <p:cNvSpPr/>
          <p:nvPr/>
        </p:nvSpPr>
        <p:spPr>
          <a:xfrm>
            <a:off x="8503920" y="3611880"/>
            <a:ext cx="274320" cy="274320"/>
          </a:xfrm>
          <a:prstGeom prst="rect">
            <a:avLst/>
          </a:prstGeom>
          <a:solidFill>
            <a:schemeClr val="accent5"/>
          </a:solidFill>
          <a:ln w="12700">
            <a:solidFill>
              <a:schemeClr val="accent5"/>
            </a:solidFill>
            <a:prstDash val="solid"/>
          </a:ln>
        </p:spPr>
      </p:sp>
      <p:sp>
        <p:nvSpPr>
          <p:cNvPr id="72" name="Pixel"/>
          <p:cNvSpPr/>
          <p:nvPr/>
        </p:nvSpPr>
        <p:spPr>
          <a:xfrm>
            <a:off x="8778240" y="3611880"/>
            <a:ext cx="274320" cy="274320"/>
          </a:xfrm>
          <a:prstGeom prst="rect">
            <a:avLst/>
          </a:prstGeom>
          <a:solidFill>
            <a:schemeClr val="accent5"/>
          </a:solidFill>
          <a:ln w="12700">
            <a:solidFill>
              <a:schemeClr val="accent5"/>
            </a:solidFill>
            <a:prstDash val="solid"/>
          </a:ln>
        </p:spPr>
      </p:sp>
      <p:sp>
        <p:nvSpPr>
          <p:cNvPr id="73" name="Pixel"/>
          <p:cNvSpPr/>
          <p:nvPr/>
        </p:nvSpPr>
        <p:spPr>
          <a:xfrm>
            <a:off x="9052560" y="3611880"/>
            <a:ext cx="274320" cy="274320"/>
          </a:xfrm>
          <a:prstGeom prst="rect">
            <a:avLst/>
          </a:prstGeom>
          <a:solidFill>
            <a:schemeClr val="accent5"/>
          </a:solidFill>
          <a:ln w="12700">
            <a:solidFill>
              <a:schemeClr val="accent5"/>
            </a:solidFill>
            <a:prstDash val="solid"/>
          </a:ln>
        </p:spPr>
      </p:sp>
      <p:sp>
        <p:nvSpPr>
          <p:cNvPr id="74" name="Pixel"/>
          <p:cNvSpPr/>
          <p:nvPr/>
        </p:nvSpPr>
        <p:spPr>
          <a:xfrm>
            <a:off x="9326880" y="3611880"/>
            <a:ext cx="274320" cy="274320"/>
          </a:xfrm>
          <a:prstGeom prst="rect">
            <a:avLst/>
          </a:prstGeom>
          <a:solidFill>
            <a:schemeClr val="accent1"/>
          </a:solidFill>
          <a:ln w="12700">
            <a:solidFill>
              <a:schemeClr val="accent1"/>
            </a:solidFill>
            <a:prstDash val="solid"/>
          </a:ln>
        </p:spPr>
      </p:sp>
      <p:sp>
        <p:nvSpPr>
          <p:cNvPr id="75" name="Pixel"/>
          <p:cNvSpPr/>
          <p:nvPr/>
        </p:nvSpPr>
        <p:spPr>
          <a:xfrm>
            <a:off x="9601200" y="3611880"/>
            <a:ext cx="274320" cy="274320"/>
          </a:xfrm>
          <a:prstGeom prst="rect">
            <a:avLst/>
          </a:prstGeom>
          <a:solidFill>
            <a:schemeClr val="accent1"/>
          </a:solidFill>
          <a:ln w="12700">
            <a:solidFill>
              <a:schemeClr val="accent1"/>
            </a:solidFill>
            <a:prstDash val="solid"/>
          </a:ln>
        </p:spPr>
      </p:sp>
      <p:sp>
        <p:nvSpPr>
          <p:cNvPr id="76" name="Pixel"/>
          <p:cNvSpPr/>
          <p:nvPr/>
        </p:nvSpPr>
        <p:spPr>
          <a:xfrm>
            <a:off x="9875520" y="3611880"/>
            <a:ext cx="274320" cy="274320"/>
          </a:xfrm>
          <a:prstGeom prst="rect">
            <a:avLst/>
          </a:prstGeom>
          <a:solidFill>
            <a:schemeClr val="accent1"/>
          </a:solidFill>
          <a:ln w="12700">
            <a:solidFill>
              <a:schemeClr val="accent1"/>
            </a:solidFill>
            <a:prstDash val="solid"/>
          </a:ln>
        </p:spPr>
      </p:sp>
      <p:sp>
        <p:nvSpPr>
          <p:cNvPr id="77" name="Pixel"/>
          <p:cNvSpPr/>
          <p:nvPr/>
        </p:nvSpPr>
        <p:spPr>
          <a:xfrm>
            <a:off x="10149840" y="3611880"/>
            <a:ext cx="274320" cy="274320"/>
          </a:xfrm>
          <a:prstGeom prst="rect">
            <a:avLst/>
          </a:prstGeom>
          <a:solidFill>
            <a:schemeClr val="accent1"/>
          </a:solidFill>
          <a:ln w="12700">
            <a:solidFill>
              <a:schemeClr val="accent1"/>
            </a:solidFill>
            <a:prstDash val="solid"/>
          </a:ln>
        </p:spPr>
      </p:sp>
      <p:sp>
        <p:nvSpPr>
          <p:cNvPr id="78" name="Pixel"/>
          <p:cNvSpPr/>
          <p:nvPr/>
        </p:nvSpPr>
        <p:spPr>
          <a:xfrm>
            <a:off x="10424160" y="3611880"/>
            <a:ext cx="274320" cy="274320"/>
          </a:xfrm>
          <a:prstGeom prst="rect">
            <a:avLst/>
          </a:prstGeom>
          <a:solidFill>
            <a:schemeClr val="accent5"/>
          </a:solidFill>
          <a:ln w="12700">
            <a:solidFill>
              <a:schemeClr val="accent5"/>
            </a:solidFill>
            <a:prstDash val="solid"/>
          </a:ln>
        </p:spPr>
      </p:sp>
      <p:sp>
        <p:nvSpPr>
          <p:cNvPr id="79" name="Pixel"/>
          <p:cNvSpPr/>
          <p:nvPr/>
        </p:nvSpPr>
        <p:spPr>
          <a:xfrm>
            <a:off x="10698480" y="3611880"/>
            <a:ext cx="274320" cy="274320"/>
          </a:xfrm>
          <a:prstGeom prst="rect">
            <a:avLst/>
          </a:prstGeom>
          <a:solidFill>
            <a:schemeClr val="accent5"/>
          </a:solidFill>
          <a:ln w="12700">
            <a:solidFill>
              <a:schemeClr val="accent5"/>
            </a:solidFill>
            <a:prstDash val="solid"/>
          </a:ln>
        </p:spPr>
      </p:sp>
      <p:sp>
        <p:nvSpPr>
          <p:cNvPr id="80" name="Pixel"/>
          <p:cNvSpPr/>
          <p:nvPr/>
        </p:nvSpPr>
        <p:spPr>
          <a:xfrm>
            <a:off x="10972800" y="3611880"/>
            <a:ext cx="274320" cy="274320"/>
          </a:xfrm>
          <a:prstGeom prst="rect">
            <a:avLst/>
          </a:prstGeom>
          <a:solidFill>
            <a:schemeClr val="accent5"/>
          </a:solidFill>
          <a:ln w="12700">
            <a:solidFill>
              <a:schemeClr val="accent5"/>
            </a:solidFill>
            <a:prstDash val="solid"/>
          </a:ln>
        </p:spPr>
      </p:sp>
      <p:sp>
        <p:nvSpPr>
          <p:cNvPr id="81" name="Pixel"/>
          <p:cNvSpPr/>
          <p:nvPr/>
        </p:nvSpPr>
        <p:spPr>
          <a:xfrm>
            <a:off x="8503920" y="3886200"/>
            <a:ext cx="274320" cy="274320"/>
          </a:xfrm>
          <a:prstGeom prst="rect">
            <a:avLst/>
          </a:prstGeom>
          <a:solidFill>
            <a:schemeClr val="accent5"/>
          </a:solidFill>
          <a:ln w="12700">
            <a:solidFill>
              <a:schemeClr val="accent5"/>
            </a:solidFill>
            <a:prstDash val="solid"/>
          </a:ln>
        </p:spPr>
      </p:sp>
      <p:sp>
        <p:nvSpPr>
          <p:cNvPr id="82" name="Pixel"/>
          <p:cNvSpPr/>
          <p:nvPr/>
        </p:nvSpPr>
        <p:spPr>
          <a:xfrm>
            <a:off x="8778240" y="3886200"/>
            <a:ext cx="274320" cy="274320"/>
          </a:xfrm>
          <a:prstGeom prst="rect">
            <a:avLst/>
          </a:prstGeom>
          <a:solidFill>
            <a:schemeClr val="accent5"/>
          </a:solidFill>
          <a:ln w="12700">
            <a:solidFill>
              <a:schemeClr val="accent5"/>
            </a:solidFill>
            <a:prstDash val="solid"/>
          </a:ln>
        </p:spPr>
      </p:sp>
      <p:sp>
        <p:nvSpPr>
          <p:cNvPr id="83" name="Pixel"/>
          <p:cNvSpPr/>
          <p:nvPr/>
        </p:nvSpPr>
        <p:spPr>
          <a:xfrm>
            <a:off x="9326880" y="3886200"/>
            <a:ext cx="274320" cy="274320"/>
          </a:xfrm>
          <a:prstGeom prst="rect">
            <a:avLst/>
          </a:prstGeom>
          <a:solidFill>
            <a:schemeClr val="accent1"/>
          </a:solidFill>
          <a:ln w="12700">
            <a:solidFill>
              <a:schemeClr val="accent1"/>
            </a:solidFill>
            <a:prstDash val="solid"/>
          </a:ln>
        </p:spPr>
      </p:sp>
      <p:sp>
        <p:nvSpPr>
          <p:cNvPr id="84" name="Pixel"/>
          <p:cNvSpPr/>
          <p:nvPr/>
        </p:nvSpPr>
        <p:spPr>
          <a:xfrm>
            <a:off x="9601200" y="3886200"/>
            <a:ext cx="274320" cy="274320"/>
          </a:xfrm>
          <a:prstGeom prst="rect">
            <a:avLst/>
          </a:prstGeom>
          <a:solidFill>
            <a:schemeClr val="accent1"/>
          </a:solidFill>
          <a:ln w="12700">
            <a:solidFill>
              <a:schemeClr val="accent1"/>
            </a:solidFill>
            <a:prstDash val="solid"/>
          </a:ln>
        </p:spPr>
      </p:sp>
      <p:sp>
        <p:nvSpPr>
          <p:cNvPr id="85" name="Pixel"/>
          <p:cNvSpPr/>
          <p:nvPr/>
        </p:nvSpPr>
        <p:spPr>
          <a:xfrm>
            <a:off x="9875520" y="3886200"/>
            <a:ext cx="274320" cy="274320"/>
          </a:xfrm>
          <a:prstGeom prst="rect">
            <a:avLst/>
          </a:prstGeom>
          <a:solidFill>
            <a:schemeClr val="accent1"/>
          </a:solidFill>
          <a:ln w="12700">
            <a:solidFill>
              <a:schemeClr val="accent1"/>
            </a:solidFill>
            <a:prstDash val="solid"/>
          </a:ln>
        </p:spPr>
      </p:sp>
      <p:sp>
        <p:nvSpPr>
          <p:cNvPr id="86" name="Pixel"/>
          <p:cNvSpPr/>
          <p:nvPr/>
        </p:nvSpPr>
        <p:spPr>
          <a:xfrm>
            <a:off x="10149840" y="3886200"/>
            <a:ext cx="274320" cy="274320"/>
          </a:xfrm>
          <a:prstGeom prst="rect">
            <a:avLst/>
          </a:prstGeom>
          <a:solidFill>
            <a:schemeClr val="accent1"/>
          </a:solidFill>
          <a:ln w="12700">
            <a:solidFill>
              <a:schemeClr val="accent1"/>
            </a:solidFill>
            <a:prstDash val="solid"/>
          </a:ln>
        </p:spPr>
      </p:sp>
      <p:sp>
        <p:nvSpPr>
          <p:cNvPr id="87" name="Pixel"/>
          <p:cNvSpPr/>
          <p:nvPr/>
        </p:nvSpPr>
        <p:spPr>
          <a:xfrm>
            <a:off x="10698480" y="3886200"/>
            <a:ext cx="274320" cy="274320"/>
          </a:xfrm>
          <a:prstGeom prst="rect">
            <a:avLst/>
          </a:prstGeom>
          <a:solidFill>
            <a:schemeClr val="accent5"/>
          </a:solidFill>
          <a:ln w="12700">
            <a:solidFill>
              <a:schemeClr val="accent5"/>
            </a:solidFill>
            <a:prstDash val="solid"/>
          </a:ln>
        </p:spPr>
      </p:sp>
      <p:sp>
        <p:nvSpPr>
          <p:cNvPr id="88" name="Pixel"/>
          <p:cNvSpPr/>
          <p:nvPr/>
        </p:nvSpPr>
        <p:spPr>
          <a:xfrm>
            <a:off x="10972800" y="3886200"/>
            <a:ext cx="274320" cy="274320"/>
          </a:xfrm>
          <a:prstGeom prst="rect">
            <a:avLst/>
          </a:prstGeom>
          <a:solidFill>
            <a:schemeClr val="accent5"/>
          </a:solidFill>
          <a:ln w="12700">
            <a:solidFill>
              <a:schemeClr val="accent5"/>
            </a:solidFill>
            <a:prstDash val="solid"/>
          </a:ln>
        </p:spPr>
      </p:sp>
      <p:sp>
        <p:nvSpPr>
          <p:cNvPr id="89" name="Pixel"/>
          <p:cNvSpPr/>
          <p:nvPr/>
        </p:nvSpPr>
        <p:spPr>
          <a:xfrm>
            <a:off x="8503920" y="4160520"/>
            <a:ext cx="274320" cy="274320"/>
          </a:xfrm>
          <a:prstGeom prst="rect">
            <a:avLst/>
          </a:prstGeom>
          <a:solidFill>
            <a:schemeClr val="accent5"/>
          </a:solidFill>
          <a:ln w="12700">
            <a:solidFill>
              <a:schemeClr val="accent5"/>
            </a:solidFill>
            <a:prstDash val="solid"/>
          </a:ln>
        </p:spPr>
      </p:sp>
      <p:sp>
        <p:nvSpPr>
          <p:cNvPr id="90" name="Pixel"/>
          <p:cNvSpPr/>
          <p:nvPr/>
        </p:nvSpPr>
        <p:spPr>
          <a:xfrm>
            <a:off x="8778240" y="4160520"/>
            <a:ext cx="274320" cy="274320"/>
          </a:xfrm>
          <a:prstGeom prst="rect">
            <a:avLst/>
          </a:prstGeom>
          <a:solidFill>
            <a:schemeClr val="accent5"/>
          </a:solidFill>
          <a:ln w="12700">
            <a:solidFill>
              <a:schemeClr val="accent5"/>
            </a:solidFill>
            <a:prstDash val="solid"/>
          </a:ln>
        </p:spPr>
      </p:sp>
      <p:sp>
        <p:nvSpPr>
          <p:cNvPr id="91" name="Pixel"/>
          <p:cNvSpPr/>
          <p:nvPr/>
        </p:nvSpPr>
        <p:spPr>
          <a:xfrm>
            <a:off x="9326880" y="4160520"/>
            <a:ext cx="274320" cy="274320"/>
          </a:xfrm>
          <a:prstGeom prst="rect">
            <a:avLst/>
          </a:prstGeom>
          <a:solidFill>
            <a:schemeClr val="accent1"/>
          </a:solidFill>
          <a:ln w="12700">
            <a:solidFill>
              <a:schemeClr val="accent1"/>
            </a:solidFill>
            <a:prstDash val="solid"/>
          </a:ln>
        </p:spPr>
      </p:sp>
      <p:sp>
        <p:nvSpPr>
          <p:cNvPr id="92" name="Pixel"/>
          <p:cNvSpPr/>
          <p:nvPr/>
        </p:nvSpPr>
        <p:spPr>
          <a:xfrm>
            <a:off x="9601200" y="4160520"/>
            <a:ext cx="274320" cy="274320"/>
          </a:xfrm>
          <a:prstGeom prst="rect">
            <a:avLst/>
          </a:prstGeom>
          <a:solidFill>
            <a:schemeClr val="accent1"/>
          </a:solidFill>
          <a:ln w="12700">
            <a:solidFill>
              <a:schemeClr val="accent1"/>
            </a:solidFill>
            <a:prstDash val="solid"/>
          </a:ln>
        </p:spPr>
      </p:sp>
      <p:sp>
        <p:nvSpPr>
          <p:cNvPr id="93" name="Pixel"/>
          <p:cNvSpPr/>
          <p:nvPr/>
        </p:nvSpPr>
        <p:spPr>
          <a:xfrm>
            <a:off x="9875520" y="4160520"/>
            <a:ext cx="274320" cy="274320"/>
          </a:xfrm>
          <a:prstGeom prst="rect">
            <a:avLst/>
          </a:prstGeom>
          <a:solidFill>
            <a:schemeClr val="accent1"/>
          </a:solidFill>
          <a:ln w="12700">
            <a:solidFill>
              <a:schemeClr val="accent1"/>
            </a:solidFill>
            <a:prstDash val="solid"/>
          </a:ln>
        </p:spPr>
      </p:sp>
      <p:sp>
        <p:nvSpPr>
          <p:cNvPr id="94" name="Pixel"/>
          <p:cNvSpPr/>
          <p:nvPr/>
        </p:nvSpPr>
        <p:spPr>
          <a:xfrm>
            <a:off x="10149840" y="4160520"/>
            <a:ext cx="274320" cy="274320"/>
          </a:xfrm>
          <a:prstGeom prst="rect">
            <a:avLst/>
          </a:prstGeom>
          <a:solidFill>
            <a:schemeClr val="accent1"/>
          </a:solidFill>
          <a:ln w="12700">
            <a:solidFill>
              <a:schemeClr val="accent1"/>
            </a:solidFill>
            <a:prstDash val="solid"/>
          </a:ln>
        </p:spPr>
      </p:sp>
      <p:sp>
        <p:nvSpPr>
          <p:cNvPr id="95" name="Pixel"/>
          <p:cNvSpPr/>
          <p:nvPr/>
        </p:nvSpPr>
        <p:spPr>
          <a:xfrm>
            <a:off x="10698480" y="4160520"/>
            <a:ext cx="274320" cy="274320"/>
          </a:xfrm>
          <a:prstGeom prst="rect">
            <a:avLst/>
          </a:prstGeom>
          <a:solidFill>
            <a:schemeClr val="accent5"/>
          </a:solidFill>
          <a:ln w="12700">
            <a:solidFill>
              <a:schemeClr val="accent5"/>
            </a:solidFill>
            <a:prstDash val="solid"/>
          </a:ln>
        </p:spPr>
      </p:sp>
      <p:sp>
        <p:nvSpPr>
          <p:cNvPr id="96" name="Pixel"/>
          <p:cNvSpPr/>
          <p:nvPr/>
        </p:nvSpPr>
        <p:spPr>
          <a:xfrm>
            <a:off x="10972800" y="4160520"/>
            <a:ext cx="274320" cy="274320"/>
          </a:xfrm>
          <a:prstGeom prst="rect">
            <a:avLst/>
          </a:prstGeom>
          <a:solidFill>
            <a:schemeClr val="accent5"/>
          </a:solidFill>
          <a:ln w="12700">
            <a:solidFill>
              <a:schemeClr val="accent5"/>
            </a:solidFill>
            <a:prstDash val="solid"/>
          </a:ln>
        </p:spPr>
      </p:sp>
      <p:sp>
        <p:nvSpPr>
          <p:cNvPr id="97" name="Pixel"/>
          <p:cNvSpPr/>
          <p:nvPr/>
        </p:nvSpPr>
        <p:spPr>
          <a:xfrm>
            <a:off x="9326880" y="4434840"/>
            <a:ext cx="274320" cy="274320"/>
          </a:xfrm>
          <a:prstGeom prst="rect">
            <a:avLst/>
          </a:prstGeom>
          <a:solidFill>
            <a:schemeClr val="accent5"/>
          </a:solidFill>
          <a:ln w="12700">
            <a:solidFill>
              <a:schemeClr val="accent5"/>
            </a:solidFill>
            <a:prstDash val="solid"/>
          </a:ln>
        </p:spPr>
      </p:sp>
      <p:sp>
        <p:nvSpPr>
          <p:cNvPr id="98" name="Pixel"/>
          <p:cNvSpPr/>
          <p:nvPr/>
        </p:nvSpPr>
        <p:spPr>
          <a:xfrm>
            <a:off x="9601200" y="4434840"/>
            <a:ext cx="274320" cy="274320"/>
          </a:xfrm>
          <a:prstGeom prst="rect">
            <a:avLst/>
          </a:prstGeom>
          <a:solidFill>
            <a:schemeClr val="accent5"/>
          </a:solidFill>
          <a:ln w="12700">
            <a:solidFill>
              <a:schemeClr val="accent5"/>
            </a:solidFill>
            <a:prstDash val="solid"/>
          </a:ln>
        </p:spPr>
      </p:sp>
      <p:sp>
        <p:nvSpPr>
          <p:cNvPr id="99" name="Pixel"/>
          <p:cNvSpPr/>
          <p:nvPr/>
        </p:nvSpPr>
        <p:spPr>
          <a:xfrm>
            <a:off x="10149840" y="4434840"/>
            <a:ext cx="274320" cy="274320"/>
          </a:xfrm>
          <a:prstGeom prst="rect">
            <a:avLst/>
          </a:prstGeom>
          <a:solidFill>
            <a:schemeClr val="accent5"/>
          </a:solidFill>
          <a:ln w="12700">
            <a:solidFill>
              <a:schemeClr val="accent5"/>
            </a:solidFill>
            <a:prstDash val="solid"/>
          </a:ln>
        </p:spPr>
      </p:sp>
      <p:sp>
        <p:nvSpPr>
          <p:cNvPr id="100" name="Pixel"/>
          <p:cNvSpPr/>
          <p:nvPr/>
        </p:nvSpPr>
        <p:spPr>
          <a:xfrm>
            <a:off x="10424160" y="4434840"/>
            <a:ext cx="274320" cy="274320"/>
          </a:xfrm>
          <a:prstGeom prst="rect">
            <a:avLst/>
          </a:prstGeom>
          <a:solidFill>
            <a:schemeClr val="accent5"/>
          </a:solidFill>
          <a:ln w="12700">
            <a:solidFill>
              <a:schemeClr val="accent5"/>
            </a:solidFill>
            <a:prstDash val="solid"/>
          </a:ln>
        </p:spPr>
      </p:sp>
      <p:sp>
        <p:nvSpPr>
          <p:cNvPr id="101" name="Pixel"/>
          <p:cNvSpPr/>
          <p:nvPr/>
        </p:nvSpPr>
        <p:spPr>
          <a:xfrm>
            <a:off x="9052560" y="4709160"/>
            <a:ext cx="274320" cy="274320"/>
          </a:xfrm>
          <a:prstGeom prst="rect">
            <a:avLst/>
          </a:prstGeom>
          <a:solidFill>
            <a:schemeClr val="accent5"/>
          </a:solidFill>
          <a:ln w="12700">
            <a:solidFill>
              <a:schemeClr val="accent5"/>
            </a:solidFill>
            <a:prstDash val="solid"/>
          </a:ln>
        </p:spPr>
      </p:sp>
      <p:sp>
        <p:nvSpPr>
          <p:cNvPr id="102" name="Pixel"/>
          <p:cNvSpPr/>
          <p:nvPr/>
        </p:nvSpPr>
        <p:spPr>
          <a:xfrm>
            <a:off x="9326880" y="4709160"/>
            <a:ext cx="274320" cy="274320"/>
          </a:xfrm>
          <a:prstGeom prst="rect">
            <a:avLst/>
          </a:prstGeom>
          <a:solidFill>
            <a:schemeClr val="accent5"/>
          </a:solidFill>
          <a:ln w="12700">
            <a:solidFill>
              <a:schemeClr val="accent5"/>
            </a:solidFill>
            <a:prstDash val="solid"/>
          </a:ln>
        </p:spPr>
      </p:sp>
      <p:sp>
        <p:nvSpPr>
          <p:cNvPr id="103" name="Pixel"/>
          <p:cNvSpPr/>
          <p:nvPr/>
        </p:nvSpPr>
        <p:spPr>
          <a:xfrm>
            <a:off x="9601200" y="4709160"/>
            <a:ext cx="274320" cy="274320"/>
          </a:xfrm>
          <a:prstGeom prst="rect">
            <a:avLst/>
          </a:prstGeom>
          <a:solidFill>
            <a:schemeClr val="accent5"/>
          </a:solidFill>
          <a:ln w="12700">
            <a:solidFill>
              <a:schemeClr val="accent5"/>
            </a:solidFill>
            <a:prstDash val="solid"/>
          </a:ln>
        </p:spPr>
      </p:sp>
      <p:sp>
        <p:nvSpPr>
          <p:cNvPr id="104" name="Pixel"/>
          <p:cNvSpPr/>
          <p:nvPr/>
        </p:nvSpPr>
        <p:spPr>
          <a:xfrm>
            <a:off x="10149840" y="4709160"/>
            <a:ext cx="274320" cy="274320"/>
          </a:xfrm>
          <a:prstGeom prst="rect">
            <a:avLst/>
          </a:prstGeom>
          <a:solidFill>
            <a:schemeClr val="accent5"/>
          </a:solidFill>
          <a:ln w="12700">
            <a:solidFill>
              <a:schemeClr val="accent5"/>
            </a:solidFill>
            <a:prstDash val="solid"/>
          </a:ln>
        </p:spPr>
      </p:sp>
      <p:sp>
        <p:nvSpPr>
          <p:cNvPr id="105" name="Pixel"/>
          <p:cNvSpPr/>
          <p:nvPr/>
        </p:nvSpPr>
        <p:spPr>
          <a:xfrm>
            <a:off x="10424160" y="4709160"/>
            <a:ext cx="274320" cy="274320"/>
          </a:xfrm>
          <a:prstGeom prst="rect">
            <a:avLst/>
          </a:prstGeom>
          <a:solidFill>
            <a:schemeClr val="accent5"/>
          </a:solidFill>
          <a:ln w="12700">
            <a:solidFill>
              <a:schemeClr val="accent5"/>
            </a:solidFill>
            <a:prstDash val="solid"/>
          </a:ln>
        </p:spPr>
      </p:sp>
      <p:sp>
        <p:nvSpPr>
          <p:cNvPr id="106" name="Pixel"/>
          <p:cNvSpPr/>
          <p:nvPr/>
        </p:nvSpPr>
        <p:spPr>
          <a:xfrm>
            <a:off x="10698480" y="4709160"/>
            <a:ext cx="274320" cy="274320"/>
          </a:xfrm>
          <a:prstGeom prst="rect">
            <a:avLst/>
          </a:prstGeom>
          <a:solidFill>
            <a:schemeClr val="accent5"/>
          </a:solidFill>
          <a:ln w="12700">
            <a:solidFill>
              <a:schemeClr val="accent5"/>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La máquina de estados existe, pero no se escribe</a:t>
            </a:r>
            <a:endParaRPr lang="es-PE" sz="2800" dirty="0"/>
          </a:p>
        </p:txBody>
      </p:sp>
      <p:sp>
        <p:nvSpPr>
          <p:cNvPr id="5" name="Text 2"/>
          <p:cNvSpPr txBox="1"/>
          <p:nvPr/>
        </p:nvSpPr>
        <p:spPr>
          <a:xfrm>
            <a:off x="548640" y="1554480"/>
            <a:ext cx="5669280" cy="274320"/>
          </a:xfrm>
          <a:prstGeom prst="rect">
            <a:avLst/>
          </a:prstGeom>
          <a:noFill/>
          <a:ln/>
        </p:spPr>
        <p:txBody>
          <a:bodyPr wrap="square" lIns="0" tIns="0" rIns="0" bIns="0" rtlCol="0" anchor="t"/>
          <a:lstStyle/>
          <a:p>
            <a:pPr indent="0" marL="0">
              <a:buNone/>
            </a:pPr>
            <a:r>
              <a:rPr lang="es-PE" sz="1200" b="1" dirty="0">
                <a:solidFill>
                  <a:schemeClr val="accent5"/>
                </a:solidFill>
              </a:rPr>
              <a:t>Así suele quedar en el código del juego</a:t>
            </a:r>
            <a:endParaRPr lang="es-PE" sz="1200" dirty="0"/>
          </a:p>
        </p:txBody>
      </p:sp>
      <p:sp>
        <p:nvSpPr>
          <p:cNvPr id="6" name="Código"/>
          <p:cNvSpPr txBox="1"/>
          <p:nvPr/>
        </p:nvSpPr>
        <p:spPr>
          <a:xfrm>
            <a:off x="548640" y="1874520"/>
            <a:ext cx="5669280" cy="306324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void actualizar()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(boton_saltar &amp;&amp; !saltando)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saltando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vy = 2.5;</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(boton_atacar &amp;&amp; !saltando)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atacando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if (recibio_golpe)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vida -= 25;</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aturdido = true;</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    }</a:t>
            </a:r>
            <a:endParaRPr lang="es-PE" sz="1400" dirty="0"/>
          </a:p>
          <a:p>
            <a:pPr indent="0" marL="0">
              <a:lnSpc>
                <a:spcPct val="100000"/>
              </a:lnSpc>
              <a:buNone/>
            </a:pPr>
            <a:r>
              <a:rPr lang="es-PE" sz="1400" dirty="0">
                <a:solidFill>
                  <a:schemeClr val="bg1"/>
                </a:solidFill>
                <a:latin typeface="Consolas" pitchFamily="34" charset="0"/>
                <a:ea typeface="Consolas" pitchFamily="34" charset="-122"/>
                <a:cs typeface="Consolas" pitchFamily="34" charset="-120"/>
              </a:rPr>
              <a:t>}</a:t>
            </a:r>
            <a:endParaRPr lang="es-PE" sz="1400" dirty="0"/>
          </a:p>
        </p:txBody>
      </p:sp>
      <p:sp>
        <p:nvSpPr>
          <p:cNvPr id="7" name="Text 4"/>
          <p:cNvSpPr txBox="1"/>
          <p:nvPr/>
        </p:nvSpPr>
        <p:spPr>
          <a:xfrm>
            <a:off x="548640" y="5120640"/>
            <a:ext cx="5669280" cy="548640"/>
          </a:xfrm>
          <a:prstGeom prst="rect">
            <a:avLst/>
          </a:prstGeom>
          <a:noFill/>
          <a:ln/>
        </p:spPr>
        <p:txBody>
          <a:bodyPr wrap="square" lIns="0" tIns="0" rIns="0" bIns="0" rtlCol="0" anchor="t"/>
          <a:lstStyle/>
          <a:p>
            <a:pPr indent="0" marL="0">
              <a:buNone/>
            </a:pPr>
            <a:r>
              <a:rPr lang="es-PE" sz="1500" b="1" dirty="0">
                <a:solidFill>
                  <a:schemeClr val="accent1"/>
                </a:solidFill>
                <a:latin typeface="Consolas" pitchFamily="34" charset="0"/>
                <a:ea typeface="Consolas" pitchFamily="34" charset="-122"/>
                <a:cs typeface="Consolas" pitchFamily="34" charset="-120"/>
              </a:rPr>
              <a:t>atacando</a:t>
            </a:r>
            <a:r>
              <a:rPr lang="es-PE" sz="1500" dirty="0">
                <a:solidFill>
                  <a:schemeClr val="tx1"/>
                </a:solidFill>
              </a:rPr>
              <a:t> y </a:t>
            </a:r>
            <a:r>
              <a:rPr lang="es-PE" sz="1500" b="1" dirty="0">
                <a:solidFill>
                  <a:schemeClr val="accent1"/>
                </a:solidFill>
                <a:latin typeface="Consolas" pitchFamily="34" charset="0"/>
                <a:ea typeface="Consolas" pitchFamily="34" charset="-122"/>
                <a:cs typeface="Consolas" pitchFamily="34" charset="-120"/>
              </a:rPr>
              <a:t>aturdido</a:t>
            </a:r>
            <a:r>
              <a:rPr lang="es-PE" sz="1500" dirty="0">
                <a:solidFill>
                  <a:schemeClr val="tx1"/>
                </a:solidFill>
              </a:rPr>
              <a:t> pueden quedar en true a la vez: nada lo impide.</a:t>
            </a:r>
            <a:endParaRPr lang="es-PE" sz="1500" dirty="0"/>
          </a:p>
        </p:txBody>
      </p:sp>
      <p:sp>
        <p:nvSpPr>
          <p:cNvPr id="8" name="Fondo del icono"/>
          <p:cNvSpPr/>
          <p:nvPr/>
        </p:nvSpPr>
        <p:spPr>
          <a:xfrm>
            <a:off x="6675120" y="1783080"/>
            <a:ext cx="566928" cy="566928"/>
          </a:xfrm>
          <a:prstGeom prst="rect">
            <a:avLst/>
          </a:prstGeom>
          <a:solidFill>
            <a:schemeClr val="accent1"/>
          </a:solidFill>
          <a:ln w="12700">
            <a:solidFill>
              <a:schemeClr val="accent1"/>
            </a:solidFill>
            <a:prstDash val="solid"/>
          </a:ln>
        </p:spPr>
      </p:sp>
      <p:pic>
        <p:nvPicPr>
          <p:cNvPr id="9" name="Icono" descr="preencoded.png">    </p:cNvPr>
          <p:cNvPicPr>
            <a:picLocks noChangeAspect="1"/>
          </p:cNvPicPr>
          <p:nvPr/>
        </p:nvPicPr>
        <p:blipFill>
          <a:blip r:embed="rId1"/>
          <a:stretch>
            <a:fillRect/>
          </a:stretch>
        </p:blipFill>
        <p:spPr>
          <a:xfrm>
            <a:off x="6788506" y="1896466"/>
            <a:ext cx="340157" cy="340157"/>
          </a:xfrm>
          <a:prstGeom prst="rect">
            <a:avLst/>
          </a:prstGeom>
        </p:spPr>
      </p:pic>
      <p:sp>
        <p:nvSpPr>
          <p:cNvPr id="10" name="Text 6"/>
          <p:cNvSpPr txBox="1"/>
          <p:nvPr/>
        </p:nvSpPr>
        <p:spPr>
          <a:xfrm>
            <a:off x="7452360" y="1764792"/>
            <a:ext cx="4187952" cy="365760"/>
          </a:xfrm>
          <a:prstGeom prst="rect">
            <a:avLst/>
          </a:prstGeom>
          <a:noFill/>
          <a:ln/>
        </p:spPr>
        <p:txBody>
          <a:bodyPr wrap="square" lIns="0" tIns="0" rIns="0" bIns="0" rtlCol="0" anchor="t"/>
          <a:lstStyle/>
          <a:p>
            <a:pPr indent="0" marL="0">
              <a:buNone/>
            </a:pPr>
            <a:r>
              <a:rPr lang="es-PE" sz="1800" b="1" dirty="0">
                <a:solidFill>
                  <a:schemeClr val="tx1"/>
                </a:solidFill>
              </a:rPr>
              <a:t>Se piensa como una máquina</a:t>
            </a:r>
            <a:endParaRPr lang="es-PE" sz="1800" dirty="0"/>
          </a:p>
        </p:txBody>
      </p:sp>
      <p:sp>
        <p:nvSpPr>
          <p:cNvPr id="11" name="Text 7"/>
          <p:cNvSpPr txBox="1"/>
          <p:nvPr/>
        </p:nvSpPr>
        <p:spPr>
          <a:xfrm>
            <a:off x="7452360" y="2148840"/>
            <a:ext cx="4187952" cy="868680"/>
          </a:xfrm>
          <a:prstGeom prst="rect">
            <a:avLst/>
          </a:prstGeom>
          <a:noFill/>
          <a:ln/>
        </p:spPr>
        <p:txBody>
          <a:bodyPr wrap="square" lIns="0" tIns="0" rIns="0" bIns="0" rtlCol="0" anchor="t"/>
          <a:lstStyle/>
          <a:p>
            <a:pPr indent="0" marL="0">
              <a:buNone/>
            </a:pPr>
            <a:r>
              <a:rPr lang="es-PE" sz="1500" dirty="0">
                <a:solidFill>
                  <a:schemeClr val="tx2"/>
                </a:solidFill>
              </a:rPr>
              <a:t>Reposo, saltando, atacando o aturdido: el personaje cambia de estado con cada evento (Nystrom, 2014).</a:t>
            </a:r>
            <a:endParaRPr lang="es-PE" sz="1500" dirty="0"/>
          </a:p>
        </p:txBody>
      </p:sp>
      <p:sp>
        <p:nvSpPr>
          <p:cNvPr id="12" name="Fondo del icono"/>
          <p:cNvSpPr/>
          <p:nvPr/>
        </p:nvSpPr>
        <p:spPr>
          <a:xfrm>
            <a:off x="6675120" y="3200400"/>
            <a:ext cx="566928" cy="566928"/>
          </a:xfrm>
          <a:prstGeom prst="rect">
            <a:avLst/>
          </a:prstGeom>
          <a:solidFill>
            <a:schemeClr val="accent1"/>
          </a:solidFill>
          <a:ln w="12700">
            <a:solidFill>
              <a:schemeClr val="accent1"/>
            </a:solidFill>
            <a:prstDash val="solid"/>
          </a:ln>
        </p:spPr>
      </p:sp>
      <p:pic>
        <p:nvPicPr>
          <p:cNvPr id="13" name="Icono" descr="preencoded.png">    </p:cNvPr>
          <p:cNvPicPr>
            <a:picLocks noChangeAspect="1"/>
          </p:cNvPicPr>
          <p:nvPr/>
        </p:nvPicPr>
        <p:blipFill>
          <a:blip r:embed="rId2"/>
          <a:stretch>
            <a:fillRect/>
          </a:stretch>
        </p:blipFill>
        <p:spPr>
          <a:xfrm>
            <a:off x="6788506" y="3313786"/>
            <a:ext cx="340157" cy="340157"/>
          </a:xfrm>
          <a:prstGeom prst="rect">
            <a:avLst/>
          </a:prstGeom>
        </p:spPr>
      </p:pic>
      <p:sp>
        <p:nvSpPr>
          <p:cNvPr id="14" name="Text 9"/>
          <p:cNvSpPr txBox="1"/>
          <p:nvPr/>
        </p:nvSpPr>
        <p:spPr>
          <a:xfrm>
            <a:off x="7452360" y="3182112"/>
            <a:ext cx="4187952" cy="365760"/>
          </a:xfrm>
          <a:prstGeom prst="rect">
            <a:avLst/>
          </a:prstGeom>
          <a:noFill/>
          <a:ln/>
        </p:spPr>
        <p:txBody>
          <a:bodyPr wrap="square" lIns="0" tIns="0" rIns="0" bIns="0" rtlCol="0" anchor="t"/>
          <a:lstStyle/>
          <a:p>
            <a:pPr indent="0" marL="0">
              <a:buNone/>
            </a:pPr>
            <a:r>
              <a:rPr lang="es-PE" sz="1800" b="1" dirty="0">
                <a:solidFill>
                  <a:schemeClr val="tx1"/>
                </a:solidFill>
              </a:rPr>
              <a:t>Se escribe como banderas</a:t>
            </a:r>
            <a:endParaRPr lang="es-PE" sz="1800" dirty="0"/>
          </a:p>
        </p:txBody>
      </p:sp>
      <p:sp>
        <p:nvSpPr>
          <p:cNvPr id="15" name="Text 10"/>
          <p:cNvSpPr txBox="1"/>
          <p:nvPr/>
        </p:nvSpPr>
        <p:spPr>
          <a:xfrm>
            <a:off x="7452360" y="3566160"/>
            <a:ext cx="4187952" cy="868680"/>
          </a:xfrm>
          <a:prstGeom prst="rect">
            <a:avLst/>
          </a:prstGeom>
          <a:noFill/>
          <a:ln/>
        </p:spPr>
        <p:txBody>
          <a:bodyPr wrap="square" lIns="0" tIns="0" rIns="0" bIns="0" rtlCol="0" anchor="t"/>
          <a:lstStyle/>
          <a:p>
            <a:pPr indent="0" marL="0">
              <a:buNone/>
            </a:pPr>
            <a:r>
              <a:rPr lang="es-PE" sz="1500" dirty="0">
                <a:solidFill>
                  <a:schemeClr val="tx2"/>
                </a:solidFill>
              </a:rPr>
              <a:t>Condicionales que revisan banderas sueltas en el bucle del juego (Nystrom, 2014).</a:t>
            </a:r>
            <a:endParaRPr lang="es-PE" sz="1500" dirty="0"/>
          </a:p>
        </p:txBody>
      </p:sp>
      <p:sp>
        <p:nvSpPr>
          <p:cNvPr id="16" name="Fondo del icono"/>
          <p:cNvSpPr/>
          <p:nvPr/>
        </p:nvSpPr>
        <p:spPr>
          <a:xfrm>
            <a:off x="6675120" y="4617720"/>
            <a:ext cx="566928" cy="566928"/>
          </a:xfrm>
          <a:prstGeom prst="rect">
            <a:avLst/>
          </a:prstGeom>
          <a:solidFill>
            <a:schemeClr val="accent1"/>
          </a:solidFill>
          <a:ln w="12700">
            <a:solidFill>
              <a:schemeClr val="accent1"/>
            </a:solidFill>
            <a:prstDash val="solid"/>
          </a:ln>
        </p:spPr>
      </p:sp>
      <p:pic>
        <p:nvPicPr>
          <p:cNvPr id="17" name="Icono" descr="preencoded.png">    </p:cNvPr>
          <p:cNvPicPr>
            <a:picLocks noChangeAspect="1"/>
          </p:cNvPicPr>
          <p:nvPr/>
        </p:nvPicPr>
        <p:blipFill>
          <a:blip r:embed="rId3"/>
          <a:stretch>
            <a:fillRect/>
          </a:stretch>
        </p:blipFill>
        <p:spPr>
          <a:xfrm>
            <a:off x="6788506" y="4731106"/>
            <a:ext cx="340157" cy="340157"/>
          </a:xfrm>
          <a:prstGeom prst="rect">
            <a:avLst/>
          </a:prstGeom>
        </p:spPr>
      </p:pic>
      <p:sp>
        <p:nvSpPr>
          <p:cNvPr id="18" name="Text 12"/>
          <p:cNvSpPr txBox="1"/>
          <p:nvPr/>
        </p:nvSpPr>
        <p:spPr>
          <a:xfrm>
            <a:off x="7452360" y="4599432"/>
            <a:ext cx="4187952" cy="365760"/>
          </a:xfrm>
          <a:prstGeom prst="rect">
            <a:avLst/>
          </a:prstGeom>
          <a:noFill/>
          <a:ln/>
        </p:spPr>
        <p:txBody>
          <a:bodyPr wrap="square" lIns="0" tIns="0" rIns="0" bIns="0" rtlCol="0" anchor="t"/>
          <a:lstStyle/>
          <a:p>
            <a:pPr indent="0" marL="0">
              <a:buNone/>
            </a:pPr>
            <a:r>
              <a:rPr lang="es-PE" sz="1800" b="1" dirty="0">
                <a:solidFill>
                  <a:schemeClr val="tx1"/>
                </a:solidFill>
              </a:rPr>
              <a:t>Los editores no la ordenan</a:t>
            </a:r>
            <a:endParaRPr lang="es-PE" sz="1800" dirty="0"/>
          </a:p>
        </p:txBody>
      </p:sp>
      <p:sp>
        <p:nvSpPr>
          <p:cNvPr id="19" name="Text 13"/>
          <p:cNvSpPr txBox="1"/>
          <p:nvPr/>
        </p:nvSpPr>
        <p:spPr>
          <a:xfrm>
            <a:off x="7452360" y="4983480"/>
            <a:ext cx="4187952" cy="868680"/>
          </a:xfrm>
          <a:prstGeom prst="rect">
            <a:avLst/>
          </a:prstGeom>
          <a:noFill/>
          <a:ln/>
        </p:spPr>
        <p:txBody>
          <a:bodyPr wrap="square" lIns="0" tIns="0" rIns="0" bIns="0" rtlCol="0" anchor="t"/>
          <a:lstStyle/>
          <a:p>
            <a:pPr indent="0" marL="0">
              <a:buNone/>
            </a:pPr>
            <a:r>
              <a:rPr lang="es-PE" sz="1500" dirty="0">
                <a:solidFill>
                  <a:schemeClr val="tx2"/>
                </a:solidFill>
              </a:rPr>
              <a:t>En Unity los estados son nodos, pero las condiciones de cada transición quedan en paneles separados (Unity Technologies, s. f.).</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2</a:t>
            </a:fld>
            <a:endParaRPr lang="es-P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Nada la revisa antes de jugar</a:t>
            </a:r>
            <a:endParaRPr lang="es-PE" sz="2800" dirty="0"/>
          </a:p>
        </p:txBody>
      </p:sp>
      <p:sp>
        <p:nvSpPr>
          <p:cNvPr id="5" name="Tarjeta"/>
          <p:cNvSpPr/>
          <p:nvPr/>
        </p:nvSpPr>
        <p:spPr>
          <a:xfrm>
            <a:off x="548640" y="1600200"/>
            <a:ext cx="3514344" cy="3063240"/>
          </a:xfrm>
          <a:prstGeom prst="rect">
            <a:avLst/>
          </a:prstGeom>
          <a:solidFill>
            <a:schemeClr val="bg2"/>
          </a:solidFill>
          <a:ln w="12700">
            <a:solidFill>
              <a:schemeClr val="bg2"/>
            </a:solidFill>
            <a:prstDash val="solid"/>
          </a:ln>
        </p:spPr>
      </p:sp>
      <p:sp>
        <p:nvSpPr>
          <p:cNvPr id="6" name="Estado"/>
          <p:cNvSpPr/>
          <p:nvPr/>
        </p:nvSpPr>
        <p:spPr>
          <a:xfrm>
            <a:off x="1005840" y="1801368"/>
            <a:ext cx="822960" cy="822960"/>
          </a:xfrm>
          <a:prstGeom prst="ellipse">
            <a:avLst/>
          </a:prstGeom>
          <a:solidFill>
            <a:schemeClr val="bg1"/>
          </a:solidFill>
          <a:ln w="15875">
            <a:solidFill>
              <a:schemeClr val="tx1"/>
            </a:solidFill>
            <a:prstDash val="solid"/>
          </a:ln>
        </p:spPr>
      </p:sp>
      <p:sp>
        <p:nvSpPr>
          <p:cNvPr id="7" name="Text 4"/>
          <p:cNvSpPr txBox="1"/>
          <p:nvPr/>
        </p:nvSpPr>
        <p:spPr>
          <a:xfrm>
            <a:off x="1005840" y="180136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Reposo</a:t>
            </a:r>
            <a:endParaRPr lang="es-PE" sz="1100" dirty="0"/>
          </a:p>
        </p:txBody>
      </p:sp>
      <p:sp>
        <p:nvSpPr>
          <p:cNvPr id="8" name="Estado"/>
          <p:cNvSpPr/>
          <p:nvPr/>
        </p:nvSpPr>
        <p:spPr>
          <a:xfrm>
            <a:off x="2834640" y="1801368"/>
            <a:ext cx="822960" cy="822960"/>
          </a:xfrm>
          <a:prstGeom prst="ellipse">
            <a:avLst/>
          </a:prstGeom>
          <a:solidFill>
            <a:schemeClr val="bg1"/>
          </a:solidFill>
          <a:ln w="15875">
            <a:solidFill>
              <a:schemeClr val="tx1"/>
            </a:solidFill>
            <a:prstDash val="solid"/>
          </a:ln>
        </p:spPr>
      </p:sp>
      <p:sp>
        <p:nvSpPr>
          <p:cNvPr id="9" name="Text 6"/>
          <p:cNvSpPr txBox="1"/>
          <p:nvPr/>
        </p:nvSpPr>
        <p:spPr>
          <a:xfrm>
            <a:off x="2834640" y="180136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Saltando</a:t>
            </a:r>
            <a:endParaRPr lang="es-PE" sz="1100" dirty="0"/>
          </a:p>
        </p:txBody>
      </p:sp>
      <p:sp>
        <p:nvSpPr>
          <p:cNvPr id="10" name="Estado"/>
          <p:cNvSpPr/>
          <p:nvPr/>
        </p:nvSpPr>
        <p:spPr>
          <a:xfrm>
            <a:off x="1920240" y="2807208"/>
            <a:ext cx="822960" cy="822960"/>
          </a:xfrm>
          <a:prstGeom prst="ellipse">
            <a:avLst/>
          </a:prstGeom>
          <a:solidFill>
            <a:schemeClr val="bg1"/>
          </a:solidFill>
          <a:ln w="28575">
            <a:solidFill>
              <a:schemeClr val="accent1"/>
            </a:solidFill>
            <a:prstDash val="solid"/>
          </a:ln>
        </p:spPr>
      </p:sp>
      <p:sp>
        <p:nvSpPr>
          <p:cNvPr id="11" name="Text 8"/>
          <p:cNvSpPr txBox="1"/>
          <p:nvPr/>
        </p:nvSpPr>
        <p:spPr>
          <a:xfrm>
            <a:off x="1920240" y="280720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Nadando</a:t>
            </a:r>
            <a:endParaRPr lang="es-PE" sz="1100" dirty="0"/>
          </a:p>
        </p:txBody>
      </p:sp>
      <p:sp>
        <p:nvSpPr>
          <p:cNvPr id="12" name="Flecha"/>
          <p:cNvSpPr/>
          <p:nvPr/>
        </p:nvSpPr>
        <p:spPr>
          <a:xfrm>
            <a:off x="1828800" y="2212848"/>
            <a:ext cx="1005840" cy="0"/>
          </a:xfrm>
          <a:prstGeom prst="line">
            <a:avLst/>
          </a:prstGeom>
          <a:noFill/>
          <a:ln w="19050">
            <a:solidFill>
              <a:schemeClr val="tx1"/>
            </a:solidFill>
            <a:prstDash val="solid"/>
            <a:tailEnd type="triangle"/>
          </a:ln>
        </p:spPr>
      </p:sp>
      <p:sp>
        <p:nvSpPr>
          <p:cNvPr id="13" name="Text 10"/>
          <p:cNvSpPr txBox="1"/>
          <p:nvPr/>
        </p:nvSpPr>
        <p:spPr>
          <a:xfrm>
            <a:off x="822960"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Estado inalcanzable</a:t>
            </a:r>
            <a:endParaRPr lang="es-PE" sz="1800" dirty="0"/>
          </a:p>
        </p:txBody>
      </p:sp>
      <p:sp>
        <p:nvSpPr>
          <p:cNvPr id="14" name="Text 11"/>
          <p:cNvSpPr txBox="1"/>
          <p:nvPr/>
        </p:nvSpPr>
        <p:spPr>
          <a:xfrm>
            <a:off x="822960"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Ninguna transición llega a él.</a:t>
            </a:r>
            <a:endParaRPr lang="es-PE" sz="1400" dirty="0"/>
          </a:p>
        </p:txBody>
      </p:sp>
      <p:sp>
        <p:nvSpPr>
          <p:cNvPr id="15" name="Tarjeta"/>
          <p:cNvSpPr/>
          <p:nvPr/>
        </p:nvSpPr>
        <p:spPr>
          <a:xfrm>
            <a:off x="4337304" y="1600200"/>
            <a:ext cx="3514344" cy="3063240"/>
          </a:xfrm>
          <a:prstGeom prst="rect">
            <a:avLst/>
          </a:prstGeom>
          <a:solidFill>
            <a:schemeClr val="bg2"/>
          </a:solidFill>
          <a:ln w="12700">
            <a:solidFill>
              <a:schemeClr val="bg2"/>
            </a:solidFill>
            <a:prstDash val="solid"/>
          </a:ln>
        </p:spPr>
      </p:sp>
      <p:sp>
        <p:nvSpPr>
          <p:cNvPr id="16" name="Estado"/>
          <p:cNvSpPr/>
          <p:nvPr/>
        </p:nvSpPr>
        <p:spPr>
          <a:xfrm>
            <a:off x="4794504" y="2304288"/>
            <a:ext cx="822960" cy="822960"/>
          </a:xfrm>
          <a:prstGeom prst="ellipse">
            <a:avLst/>
          </a:prstGeom>
          <a:solidFill>
            <a:schemeClr val="bg1"/>
          </a:solidFill>
          <a:ln w="15875">
            <a:solidFill>
              <a:schemeClr val="tx1"/>
            </a:solidFill>
            <a:prstDash val="solid"/>
          </a:ln>
        </p:spPr>
      </p:sp>
      <p:sp>
        <p:nvSpPr>
          <p:cNvPr id="17" name="Text 14"/>
          <p:cNvSpPr txBox="1"/>
          <p:nvPr/>
        </p:nvSpPr>
        <p:spPr>
          <a:xfrm>
            <a:off x="4794504" y="230428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Saltando</a:t>
            </a:r>
            <a:endParaRPr lang="es-PE" sz="1100" dirty="0"/>
          </a:p>
        </p:txBody>
      </p:sp>
      <p:sp>
        <p:nvSpPr>
          <p:cNvPr id="18" name="Estado"/>
          <p:cNvSpPr/>
          <p:nvPr/>
        </p:nvSpPr>
        <p:spPr>
          <a:xfrm>
            <a:off x="6623304" y="2304288"/>
            <a:ext cx="822960" cy="822960"/>
          </a:xfrm>
          <a:prstGeom prst="ellipse">
            <a:avLst/>
          </a:prstGeom>
          <a:solidFill>
            <a:schemeClr val="bg1"/>
          </a:solidFill>
          <a:ln w="28575">
            <a:solidFill>
              <a:schemeClr val="accent1"/>
            </a:solidFill>
            <a:prstDash val="dash"/>
          </a:ln>
        </p:spPr>
      </p:sp>
      <p:sp>
        <p:nvSpPr>
          <p:cNvPr id="19" name="Text 16"/>
          <p:cNvSpPr txBox="1"/>
          <p:nvPr/>
        </p:nvSpPr>
        <p:spPr>
          <a:xfrm>
            <a:off x="6623304" y="230428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¿Volando?</a:t>
            </a:r>
            <a:endParaRPr lang="es-PE" sz="1100" dirty="0"/>
          </a:p>
        </p:txBody>
      </p:sp>
      <p:sp>
        <p:nvSpPr>
          <p:cNvPr id="20" name="Flecha"/>
          <p:cNvSpPr/>
          <p:nvPr/>
        </p:nvSpPr>
        <p:spPr>
          <a:xfrm>
            <a:off x="5617464" y="2715768"/>
            <a:ext cx="1005840" cy="0"/>
          </a:xfrm>
          <a:prstGeom prst="line">
            <a:avLst/>
          </a:prstGeom>
          <a:noFill/>
          <a:ln w="19050">
            <a:solidFill>
              <a:schemeClr val="accent1"/>
            </a:solidFill>
            <a:prstDash val="solid"/>
            <a:tailEnd type="triangle"/>
          </a:ln>
        </p:spPr>
      </p:sp>
      <p:sp>
        <p:nvSpPr>
          <p:cNvPr id="21" name="Text 18"/>
          <p:cNvSpPr txBox="1"/>
          <p:nvPr/>
        </p:nvSpPr>
        <p:spPr>
          <a:xfrm>
            <a:off x="4611624"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Destino inexistente</a:t>
            </a:r>
            <a:endParaRPr lang="es-PE" sz="1800" dirty="0"/>
          </a:p>
        </p:txBody>
      </p:sp>
      <p:sp>
        <p:nvSpPr>
          <p:cNvPr id="22" name="Text 19"/>
          <p:cNvSpPr txBox="1"/>
          <p:nvPr/>
        </p:nvSpPr>
        <p:spPr>
          <a:xfrm>
            <a:off x="4611624"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La transición apunta a un estado que se borró o se renombró.</a:t>
            </a:r>
            <a:endParaRPr lang="es-PE" sz="1400" dirty="0"/>
          </a:p>
        </p:txBody>
      </p:sp>
      <p:sp>
        <p:nvSpPr>
          <p:cNvPr id="23" name="Tarjeta"/>
          <p:cNvSpPr/>
          <p:nvPr/>
        </p:nvSpPr>
        <p:spPr>
          <a:xfrm>
            <a:off x="8125968" y="1600200"/>
            <a:ext cx="3514344" cy="3063240"/>
          </a:xfrm>
          <a:prstGeom prst="rect">
            <a:avLst/>
          </a:prstGeom>
          <a:solidFill>
            <a:schemeClr val="bg2"/>
          </a:solidFill>
          <a:ln w="12700">
            <a:solidFill>
              <a:schemeClr val="bg2"/>
            </a:solidFill>
            <a:prstDash val="solid"/>
          </a:ln>
        </p:spPr>
      </p:sp>
      <p:sp>
        <p:nvSpPr>
          <p:cNvPr id="24" name="Estado"/>
          <p:cNvSpPr/>
          <p:nvPr/>
        </p:nvSpPr>
        <p:spPr>
          <a:xfrm>
            <a:off x="8583168" y="2304288"/>
            <a:ext cx="822960" cy="822960"/>
          </a:xfrm>
          <a:prstGeom prst="ellipse">
            <a:avLst/>
          </a:prstGeom>
          <a:solidFill>
            <a:schemeClr val="bg1"/>
          </a:solidFill>
          <a:ln w="15875">
            <a:solidFill>
              <a:schemeClr val="tx1"/>
            </a:solidFill>
            <a:prstDash val="solid"/>
          </a:ln>
        </p:spPr>
      </p:sp>
      <p:sp>
        <p:nvSpPr>
          <p:cNvPr id="25" name="Text 22"/>
          <p:cNvSpPr txBox="1"/>
          <p:nvPr/>
        </p:nvSpPr>
        <p:spPr>
          <a:xfrm>
            <a:off x="8583168" y="2304288"/>
            <a:ext cx="822960" cy="822960"/>
          </a:xfrm>
          <a:prstGeom prst="rect">
            <a:avLst/>
          </a:prstGeom>
          <a:noFill/>
          <a:ln/>
        </p:spPr>
        <p:txBody>
          <a:bodyPr wrap="square" lIns="0" tIns="0" rIns="0" bIns="0" rtlCol="0" anchor="ctr"/>
          <a:lstStyle/>
          <a:p>
            <a:pPr algn="ctr" indent="0" marL="0">
              <a:buNone/>
            </a:pPr>
            <a:r>
              <a:rPr lang="es-PE" sz="1100" dirty="0">
                <a:solidFill>
                  <a:schemeClr val="tx1"/>
                </a:solidFill>
              </a:rPr>
              <a:t>Reposo</a:t>
            </a:r>
            <a:endParaRPr lang="es-PE" sz="1100" dirty="0"/>
          </a:p>
        </p:txBody>
      </p:sp>
      <p:sp>
        <p:nvSpPr>
          <p:cNvPr id="26" name="Estado"/>
          <p:cNvSpPr/>
          <p:nvPr/>
        </p:nvSpPr>
        <p:spPr>
          <a:xfrm>
            <a:off x="10411968" y="2304288"/>
            <a:ext cx="822960" cy="822960"/>
          </a:xfrm>
          <a:prstGeom prst="ellipse">
            <a:avLst/>
          </a:prstGeom>
          <a:solidFill>
            <a:schemeClr val="bg1"/>
          </a:solidFill>
          <a:ln w="28575">
            <a:solidFill>
              <a:schemeClr val="accent1"/>
            </a:solidFill>
            <a:prstDash val="solid"/>
          </a:ln>
        </p:spPr>
      </p:sp>
      <p:sp>
        <p:nvSpPr>
          <p:cNvPr id="27" name="Text 24"/>
          <p:cNvSpPr txBox="1"/>
          <p:nvPr/>
        </p:nvSpPr>
        <p:spPr>
          <a:xfrm>
            <a:off x="10411968" y="2304288"/>
            <a:ext cx="822960" cy="822960"/>
          </a:xfrm>
          <a:prstGeom prst="rect">
            <a:avLst/>
          </a:prstGeom>
          <a:noFill/>
          <a:ln/>
        </p:spPr>
        <p:txBody>
          <a:bodyPr wrap="square" lIns="0" tIns="0" rIns="0" bIns="0" rtlCol="0" anchor="ctr"/>
          <a:lstStyle/>
          <a:p>
            <a:pPr algn="ctr" indent="0" marL="0">
              <a:buNone/>
            </a:pPr>
            <a:r>
              <a:rPr lang="es-PE" sz="1100" b="1" dirty="0">
                <a:solidFill>
                  <a:schemeClr val="accent1"/>
                </a:solidFill>
              </a:rPr>
              <a:t>Aturdido</a:t>
            </a:r>
            <a:endParaRPr lang="es-PE" sz="1100" dirty="0"/>
          </a:p>
        </p:txBody>
      </p:sp>
      <p:sp>
        <p:nvSpPr>
          <p:cNvPr id="28" name="Flecha"/>
          <p:cNvSpPr/>
          <p:nvPr/>
        </p:nvSpPr>
        <p:spPr>
          <a:xfrm>
            <a:off x="9406128" y="2715768"/>
            <a:ext cx="1005840" cy="0"/>
          </a:xfrm>
          <a:prstGeom prst="line">
            <a:avLst/>
          </a:prstGeom>
          <a:noFill/>
          <a:ln w="19050">
            <a:solidFill>
              <a:schemeClr val="tx1"/>
            </a:solidFill>
            <a:prstDash val="solid"/>
            <a:tailEnd type="triangle"/>
          </a:ln>
        </p:spPr>
      </p:sp>
      <p:sp>
        <p:nvSpPr>
          <p:cNvPr id="29" name="Text 26"/>
          <p:cNvSpPr txBox="1"/>
          <p:nvPr/>
        </p:nvSpPr>
        <p:spPr>
          <a:xfrm>
            <a:off x="8400288" y="3721608"/>
            <a:ext cx="2965704" cy="365760"/>
          </a:xfrm>
          <a:prstGeom prst="rect">
            <a:avLst/>
          </a:prstGeom>
          <a:noFill/>
          <a:ln/>
        </p:spPr>
        <p:txBody>
          <a:bodyPr wrap="square" lIns="0" tIns="0" rIns="0" bIns="0" rtlCol="0" anchor="t"/>
          <a:lstStyle/>
          <a:p>
            <a:pPr indent="0" marL="0">
              <a:buNone/>
            </a:pPr>
            <a:r>
              <a:rPr lang="es-PE" sz="1800" b="1" dirty="0">
                <a:solidFill>
                  <a:schemeClr val="tx1"/>
                </a:solidFill>
              </a:rPr>
              <a:t>Estado sin salida</a:t>
            </a:r>
            <a:endParaRPr lang="es-PE" sz="1800" dirty="0"/>
          </a:p>
        </p:txBody>
      </p:sp>
      <p:sp>
        <p:nvSpPr>
          <p:cNvPr id="30" name="Text 27"/>
          <p:cNvSpPr txBox="1"/>
          <p:nvPr/>
        </p:nvSpPr>
        <p:spPr>
          <a:xfrm>
            <a:off x="8400288" y="4087368"/>
            <a:ext cx="2965704" cy="548640"/>
          </a:xfrm>
          <a:prstGeom prst="rect">
            <a:avLst/>
          </a:prstGeom>
          <a:noFill/>
          <a:ln/>
        </p:spPr>
        <p:txBody>
          <a:bodyPr wrap="square" lIns="0" tIns="0" rIns="0" bIns="0" rtlCol="0" anchor="t"/>
          <a:lstStyle/>
          <a:p>
            <a:pPr indent="0" marL="0">
              <a:buNone/>
            </a:pPr>
            <a:r>
              <a:rPr lang="es-PE" sz="1400" dirty="0">
                <a:solidFill>
                  <a:schemeClr val="tx2"/>
                </a:solidFill>
              </a:rPr>
              <a:t>El personaje entra y se queda atrapado.</a:t>
            </a:r>
            <a:endParaRPr lang="es-PE" sz="1400" dirty="0"/>
          </a:p>
        </p:txBody>
      </p:sp>
      <p:sp>
        <p:nvSpPr>
          <p:cNvPr id="31" name="Pixel"/>
          <p:cNvSpPr/>
          <p:nvPr/>
        </p:nvSpPr>
        <p:spPr>
          <a:xfrm>
            <a:off x="548640" y="5029200"/>
            <a:ext cx="128016" cy="128016"/>
          </a:xfrm>
          <a:prstGeom prst="rect">
            <a:avLst/>
          </a:prstGeom>
          <a:solidFill>
            <a:schemeClr val="accent1"/>
          </a:solidFill>
          <a:ln w="12700">
            <a:solidFill>
              <a:schemeClr val="accent1"/>
            </a:solidFill>
            <a:prstDash val="solid"/>
          </a:ln>
        </p:spPr>
      </p:sp>
      <p:sp>
        <p:nvSpPr>
          <p:cNvPr id="32" name="Text 29"/>
          <p:cNvSpPr txBox="1"/>
          <p:nvPr/>
        </p:nvSpPr>
        <p:spPr>
          <a:xfrm>
            <a:off x="868680" y="4937760"/>
            <a:ext cx="10771632" cy="365760"/>
          </a:xfrm>
          <a:prstGeom prst="rect">
            <a:avLst/>
          </a:prstGeom>
          <a:noFill/>
          <a:ln/>
        </p:spPr>
        <p:txBody>
          <a:bodyPr wrap="square" lIns="0" tIns="0" rIns="0" bIns="0" rtlCol="0" anchor="t"/>
          <a:lstStyle/>
          <a:p>
            <a:pPr indent="0" marL="0">
              <a:buNone/>
            </a:pPr>
            <a:r>
              <a:rPr lang="es-PE" sz="1500" dirty="0">
                <a:solidFill>
                  <a:schemeClr val="tx1"/>
                </a:solidFill>
              </a:rPr>
              <a:t>Los diagramas de estados planos se vuelven difíciles de mantener a medida que crecen (Harel, 1987).</a:t>
            </a:r>
            <a:endParaRPr lang="es-PE" sz="1500" dirty="0"/>
          </a:p>
        </p:txBody>
      </p:sp>
      <p:sp>
        <p:nvSpPr>
          <p:cNvPr id="33" name="Pixel"/>
          <p:cNvSpPr/>
          <p:nvPr/>
        </p:nvSpPr>
        <p:spPr>
          <a:xfrm>
            <a:off x="548640" y="5532120"/>
            <a:ext cx="128016" cy="128016"/>
          </a:xfrm>
          <a:prstGeom prst="rect">
            <a:avLst/>
          </a:prstGeom>
          <a:solidFill>
            <a:schemeClr val="accent1"/>
          </a:solidFill>
          <a:ln w="12700">
            <a:solidFill>
              <a:schemeClr val="accent1"/>
            </a:solidFill>
            <a:prstDash val="solid"/>
          </a:ln>
        </p:spPr>
      </p:sp>
      <p:sp>
        <p:nvSpPr>
          <p:cNvPr id="34" name="Text 31"/>
          <p:cNvSpPr txBox="1"/>
          <p:nvPr/>
        </p:nvSpPr>
        <p:spPr>
          <a:xfrm>
            <a:off x="868680" y="5440680"/>
            <a:ext cx="10771632" cy="594360"/>
          </a:xfrm>
          <a:prstGeom prst="rect">
            <a:avLst/>
          </a:prstGeom>
          <a:noFill/>
          <a:ln/>
        </p:spPr>
        <p:txBody>
          <a:bodyPr wrap="square" lIns="0" tIns="0" rIns="0" bIns="0" rtlCol="0" anchor="t"/>
          <a:lstStyle/>
          <a:p>
            <a:pPr indent="0" marL="0">
              <a:buNone/>
            </a:pPr>
            <a:r>
              <a:rPr lang="es-PE" sz="1500" dirty="0">
                <a:solidFill>
                  <a:schemeClr val="tx1"/>
                </a:solidFill>
              </a:rPr>
              <a:t>Las pruebas dependen casi solo de partidas manuales (Politowski et al., 2021), y los equipos evitan automatizarlas porque quedan obsoletas cuando cambia el diseño (Murphy-Hill et al., 2014).</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3</a:t>
            </a:fld>
            <a:endParaRPr lang="es-P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Problemática y motivación</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PixelLang: cada personaje es un autómata finito</a:t>
            </a:r>
            <a:endParaRPr lang="es-PE" sz="2800" dirty="0"/>
          </a:p>
        </p:txBody>
      </p:sp>
      <p:sp>
        <p:nvSpPr>
          <p:cNvPr id="5" name="Text 2"/>
          <p:cNvSpPr txBox="1"/>
          <p:nvPr/>
        </p:nvSpPr>
        <p:spPr>
          <a:xfrm>
            <a:off x="548640" y="1536192"/>
            <a:ext cx="7315200" cy="274320"/>
          </a:xfrm>
          <a:prstGeom prst="rect">
            <a:avLst/>
          </a:prstGeom>
          <a:noFill/>
          <a:ln/>
        </p:spPr>
        <p:txBody>
          <a:bodyPr wrap="square" lIns="0" tIns="0" rIns="0" bIns="0" rtlCol="0" anchor="t"/>
          <a:lstStyle/>
          <a:p>
            <a:pPr indent="0" marL="0">
              <a:buNone/>
            </a:pPr>
            <a:r>
              <a:rPr lang="es-PE" sz="1200" b="1" dirty="0">
                <a:solidFill>
                  <a:schemeClr val="accent5"/>
                </a:solidFill>
              </a:rPr>
              <a:t>Formas de escribir máquinas de estados como texto</a:t>
            </a:r>
            <a:endParaRPr lang="es-PE" sz="1200" dirty="0"/>
          </a:p>
        </p:txBody>
      </p:sp>
      <p:sp>
        <p:nvSpPr>
          <p:cNvPr id="6" name="Tarjeta"/>
          <p:cNvSpPr/>
          <p:nvPr/>
        </p:nvSpPr>
        <p:spPr>
          <a:xfrm>
            <a:off x="548640" y="1828800"/>
            <a:ext cx="3514344" cy="1325880"/>
          </a:xfrm>
          <a:prstGeom prst="rect">
            <a:avLst/>
          </a:prstGeom>
          <a:solidFill>
            <a:schemeClr val="bg2"/>
          </a:solidFill>
          <a:ln w="12700">
            <a:solidFill>
              <a:schemeClr val="bg2"/>
            </a:solidFill>
            <a:prstDash val="solid"/>
          </a:ln>
        </p:spPr>
      </p:sp>
      <p:sp>
        <p:nvSpPr>
          <p:cNvPr id="7" name="Text 4"/>
          <p:cNvSpPr txBox="1"/>
          <p:nvPr/>
        </p:nvSpPr>
        <p:spPr>
          <a:xfrm>
            <a:off x="777240" y="1938528"/>
            <a:ext cx="3057144" cy="365760"/>
          </a:xfrm>
          <a:prstGeom prst="rect">
            <a:avLst/>
          </a:prstGeom>
          <a:noFill/>
          <a:ln/>
        </p:spPr>
        <p:txBody>
          <a:bodyPr wrap="square" lIns="0" tIns="0" rIns="0" bIns="0" rtlCol="0" anchor="t"/>
          <a:lstStyle/>
          <a:p>
            <a:pPr indent="0" marL="0">
              <a:buNone/>
            </a:pPr>
            <a:r>
              <a:rPr lang="es-PE" sz="1700" b="1" dirty="0">
                <a:solidFill>
                  <a:schemeClr val="tx1"/>
                </a:solidFill>
                <a:latin typeface="Consolas" pitchFamily="34" charset="0"/>
                <a:ea typeface="Consolas" pitchFamily="34" charset="-122"/>
                <a:cs typeface="Consolas" pitchFamily="34" charset="-120"/>
              </a:rPr>
              <a:t>SCXML</a:t>
            </a:r>
            <a:endParaRPr lang="es-PE" sz="1700" dirty="0"/>
          </a:p>
        </p:txBody>
      </p:sp>
      <p:sp>
        <p:nvSpPr>
          <p:cNvPr id="8" name="Text 5"/>
          <p:cNvSpPr txBox="1"/>
          <p:nvPr/>
        </p:nvSpPr>
        <p:spPr>
          <a:xfrm>
            <a:off x="777240" y="2331720"/>
            <a:ext cx="3057144" cy="658368"/>
          </a:xfrm>
          <a:prstGeom prst="rect">
            <a:avLst/>
          </a:prstGeom>
          <a:noFill/>
          <a:ln/>
        </p:spPr>
        <p:txBody>
          <a:bodyPr wrap="square" lIns="0" tIns="0" rIns="0" bIns="0" rtlCol="0" anchor="t"/>
          <a:lstStyle/>
          <a:p>
            <a:pPr indent="0" marL="0">
              <a:buNone/>
            </a:pPr>
            <a:r>
              <a:rPr lang="es-PE" sz="1400" dirty="0">
                <a:solidFill>
                  <a:schemeClr val="tx2"/>
                </a:solidFill>
              </a:rPr>
              <a:t>Formato XML de propósito general, para intérpretes (World Wide Web Consortium, 2015)</a:t>
            </a:r>
            <a:endParaRPr lang="es-PE" sz="1400" dirty="0"/>
          </a:p>
        </p:txBody>
      </p:sp>
      <p:sp>
        <p:nvSpPr>
          <p:cNvPr id="9" name="Tarjeta"/>
          <p:cNvSpPr/>
          <p:nvPr/>
        </p:nvSpPr>
        <p:spPr>
          <a:xfrm>
            <a:off x="4337304" y="1828800"/>
            <a:ext cx="3514344" cy="1325880"/>
          </a:xfrm>
          <a:prstGeom prst="rect">
            <a:avLst/>
          </a:prstGeom>
          <a:solidFill>
            <a:schemeClr val="bg2"/>
          </a:solidFill>
          <a:ln w="12700">
            <a:solidFill>
              <a:schemeClr val="bg2"/>
            </a:solidFill>
            <a:prstDash val="solid"/>
          </a:ln>
        </p:spPr>
      </p:sp>
      <p:sp>
        <p:nvSpPr>
          <p:cNvPr id="10" name="Text 7"/>
          <p:cNvSpPr txBox="1"/>
          <p:nvPr/>
        </p:nvSpPr>
        <p:spPr>
          <a:xfrm>
            <a:off x="4565904" y="1938528"/>
            <a:ext cx="3057144" cy="365760"/>
          </a:xfrm>
          <a:prstGeom prst="rect">
            <a:avLst/>
          </a:prstGeom>
          <a:noFill/>
          <a:ln/>
        </p:spPr>
        <p:txBody>
          <a:bodyPr wrap="square" lIns="0" tIns="0" rIns="0" bIns="0" rtlCol="0" anchor="t"/>
          <a:lstStyle/>
          <a:p>
            <a:pPr indent="0" marL="0">
              <a:buNone/>
            </a:pPr>
            <a:r>
              <a:rPr lang="es-PE" sz="1700" b="1" dirty="0">
                <a:solidFill>
                  <a:schemeClr val="tx1"/>
                </a:solidFill>
                <a:latin typeface="Consolas" pitchFamily="34" charset="0"/>
                <a:ea typeface="Consolas" pitchFamily="34" charset="-122"/>
                <a:cs typeface="Consolas" pitchFamily="34" charset="-120"/>
              </a:rPr>
              <a:t>XState</a:t>
            </a:r>
            <a:endParaRPr lang="es-PE" sz="1700" dirty="0"/>
          </a:p>
        </p:txBody>
      </p:sp>
      <p:sp>
        <p:nvSpPr>
          <p:cNvPr id="11" name="Text 8"/>
          <p:cNvSpPr txBox="1"/>
          <p:nvPr/>
        </p:nvSpPr>
        <p:spPr>
          <a:xfrm>
            <a:off x="4565904" y="2331720"/>
            <a:ext cx="3057144" cy="658368"/>
          </a:xfrm>
          <a:prstGeom prst="rect">
            <a:avLst/>
          </a:prstGeom>
          <a:noFill/>
          <a:ln/>
        </p:spPr>
        <p:txBody>
          <a:bodyPr wrap="square" lIns="0" tIns="0" rIns="0" bIns="0" rtlCol="0" anchor="t"/>
          <a:lstStyle/>
          <a:p>
            <a:pPr indent="0" marL="0">
              <a:buNone/>
            </a:pPr>
            <a:r>
              <a:rPr lang="es-PE" sz="1400" dirty="0">
                <a:solidFill>
                  <a:schemeClr val="tx2"/>
                </a:solidFill>
              </a:rPr>
              <a:t>Librería de propósito general para aplicaciones web (Stately, s. f.)</a:t>
            </a:r>
            <a:endParaRPr lang="es-PE" sz="1400" dirty="0"/>
          </a:p>
        </p:txBody>
      </p:sp>
      <p:sp>
        <p:nvSpPr>
          <p:cNvPr id="12" name="Tarjeta"/>
          <p:cNvSpPr/>
          <p:nvPr/>
        </p:nvSpPr>
        <p:spPr>
          <a:xfrm>
            <a:off x="8125968" y="1828800"/>
            <a:ext cx="3514344" cy="1325880"/>
          </a:xfrm>
          <a:prstGeom prst="rect">
            <a:avLst/>
          </a:prstGeom>
          <a:solidFill>
            <a:schemeClr val="tx1"/>
          </a:solidFill>
          <a:ln w="12700">
            <a:solidFill>
              <a:schemeClr val="tx1"/>
            </a:solidFill>
            <a:prstDash val="solid"/>
          </a:ln>
        </p:spPr>
      </p:sp>
      <p:sp>
        <p:nvSpPr>
          <p:cNvPr id="13" name="Text 10"/>
          <p:cNvSpPr txBox="1"/>
          <p:nvPr/>
        </p:nvSpPr>
        <p:spPr>
          <a:xfrm>
            <a:off x="8354568" y="1938528"/>
            <a:ext cx="3057144" cy="365760"/>
          </a:xfrm>
          <a:prstGeom prst="rect">
            <a:avLst/>
          </a:prstGeom>
          <a:noFill/>
          <a:ln/>
        </p:spPr>
        <p:txBody>
          <a:bodyPr wrap="square" lIns="0" tIns="0" rIns="0" bIns="0" rtlCol="0" anchor="t"/>
          <a:lstStyle/>
          <a:p>
            <a:pPr indent="0" marL="0">
              <a:buNone/>
            </a:pPr>
            <a:r>
              <a:rPr lang="es-PE" sz="1700" b="1" dirty="0">
                <a:solidFill>
                  <a:schemeClr val="accent4"/>
                </a:solidFill>
                <a:latin typeface="Consolas" pitchFamily="34" charset="0"/>
                <a:ea typeface="Consolas" pitchFamily="34" charset="-122"/>
                <a:cs typeface="Consolas" pitchFamily="34" charset="-120"/>
              </a:rPr>
              <a:t>PixelLang</a:t>
            </a:r>
            <a:endParaRPr lang="es-PE" sz="1700" dirty="0"/>
          </a:p>
        </p:txBody>
      </p:sp>
      <p:sp>
        <p:nvSpPr>
          <p:cNvPr id="14" name="Text 11"/>
          <p:cNvSpPr txBox="1"/>
          <p:nvPr/>
        </p:nvSpPr>
        <p:spPr>
          <a:xfrm>
            <a:off x="8354568" y="2331720"/>
            <a:ext cx="3057144" cy="658368"/>
          </a:xfrm>
          <a:prstGeom prst="rect">
            <a:avLst/>
          </a:prstGeom>
          <a:noFill/>
          <a:ln/>
        </p:spPr>
        <p:txBody>
          <a:bodyPr wrap="square" lIns="0" tIns="0" rIns="0" bIns="0" rtlCol="0" anchor="t"/>
          <a:lstStyle/>
          <a:p>
            <a:pPr indent="0" marL="0">
              <a:buNone/>
            </a:pPr>
            <a:r>
              <a:rPr lang="es-PE" sz="1400" dirty="0">
                <a:solidFill>
                  <a:schemeClr val="bg1"/>
                </a:solidFill>
              </a:rPr>
              <a:t>Lenguaje de dominio específico: el autómata de cada personaje se verifica al compilar</a:t>
            </a:r>
            <a:endParaRPr lang="es-PE"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74720"/>
          <a:ext cx="6675120" cy="914400"/>
        </p:xfrm>
        <a:graphic>
          <a:graphicData uri="http://schemas.openxmlformats.org/drawingml/2006/table">
            <a:tbl>
              <a:tblPr/>
              <a:tblGrid>
                <a:gridCol w="1143000"/>
                <a:gridCol w="2148840"/>
                <a:gridCol w="3383280"/>
              </a:tblGrid>
              <a:tr h="420624">
                <a:tc>
                  <a:txBody>
                    <a:bodyPr/>
                    <a:lstStyle/>
                    <a:p>
                      <a:pPr algn="ctr" indent="0" marL="0">
                        <a:buNone/>
                      </a:pPr>
                      <a:r>
                        <a:rPr lang="es-PE" sz="1400" b="1" dirty="0">
                          <a:solidFill>
                            <a:schemeClr val="bg1"/>
                          </a:solidFill>
                        </a:rPr>
                        <a:t>Autómata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400" b="1" dirty="0">
                          <a:solidFill>
                            <a:schemeClr val="bg1"/>
                          </a:solidFill>
                        </a:rPr>
                        <a:t>En PixelLang</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400" b="1" dirty="0">
                          <a:solidFill>
                            <a:schemeClr val="bg1"/>
                          </a:solidFill>
                        </a:rPr>
                        <a:t>Ejemplo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420624">
                <a:tc>
                  <a:txBody>
                    <a:bodyPr/>
                    <a:lstStyle/>
                    <a:p>
                      <a:pPr algn="ctr" indent="0" marL="0">
                        <a:buNone/>
                      </a:pPr>
                      <a:r>
                        <a:rPr lang="es-PE" sz="1700" b="1" dirty="0">
                          <a:solidFill>
                            <a:schemeClr val="accent1"/>
                          </a:solidFill>
                        </a:rPr>
                        <a:t>Q</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estado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Reposo, Saltando, Aturdido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20624">
                <a:tc>
                  <a:txBody>
                    <a:bodyPr/>
                    <a:lstStyle/>
                    <a:p>
                      <a:pPr algn="ctr" indent="0" marL="0">
                        <a:buNone/>
                      </a:pPr>
                      <a:r>
                        <a:rPr lang="es-PE" sz="1700" b="1" dirty="0">
                          <a:solidFill>
                            <a:schemeClr val="accent1"/>
                          </a:solidFill>
                        </a:rPr>
                        <a:t>Σ</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eventos</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rPr>
                        <a:t>saltar, atacar, recibir_golpe</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20624">
                <a:tc>
                  <a:txBody>
                    <a:bodyPr/>
                    <a:lstStyle/>
                    <a:p>
                      <a:pPr algn="ctr" indent="0" marL="0">
                        <a:buNone/>
                      </a:pPr>
                      <a:r>
                        <a:rPr lang="es-PE" sz="1700" b="1" dirty="0">
                          <a:solidFill>
                            <a:schemeClr val="accent1"/>
                          </a:solidFill>
                        </a:rPr>
                        <a:t>δ</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cuando e -&gt; q</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δ(Reposo, saltar) = Saltando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20624">
                <a:tc>
                  <a:txBody>
                    <a:bodyPr/>
                    <a:lstStyle/>
                    <a:p>
                      <a:pPr algn="ctr" indent="0" marL="0">
                        <a:buNone/>
                      </a:pPr>
                      <a:r>
                        <a:rPr lang="es-PE" sz="1700" b="1" dirty="0">
                          <a:solidFill>
                            <a:schemeClr val="accent1"/>
                          </a:solidFill>
                        </a:rPr>
                        <a:t>q0</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inicial</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400" dirty="0">
                          <a:solidFill>
                            <a:schemeClr val="tx1"/>
                          </a:solidFill>
                        </a:rPr>
                        <a:t>Reposo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20624">
                <a:tc>
                  <a:txBody>
                    <a:bodyPr/>
                    <a:lstStyle/>
                    <a:p>
                      <a:pPr algn="ctr" indent="0" marL="0">
                        <a:buNone/>
                      </a:pPr>
                      <a:r>
                        <a:rPr lang="es-PE" sz="1700" b="1" dirty="0">
                          <a:solidFill>
                            <a:schemeClr val="accent1"/>
                          </a:solidFill>
                        </a:rPr>
                        <a:t>F</a:t>
                      </a:r>
                      <a:endParaRPr lang="es-PE" sz="17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latin typeface="Consolas" pitchFamily="34" charset="0"/>
                          <a:ea typeface="Consolas" pitchFamily="34" charset="-122"/>
                          <a:cs typeface="Consolas" pitchFamily="34" charset="-120"/>
                        </a:rPr>
                        <a:t>final</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400" dirty="0">
                          <a:solidFill>
                            <a:schemeClr val="tx1"/>
                          </a:solidFill>
                        </a:rPr>
                        <a:t>Derrotado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16" name="Text 12"/>
          <p:cNvSpPr txBox="1"/>
          <p:nvPr/>
        </p:nvSpPr>
        <p:spPr>
          <a:xfrm>
            <a:off x="7589520" y="3474720"/>
            <a:ext cx="4050792" cy="502920"/>
          </a:xfrm>
          <a:prstGeom prst="rect">
            <a:avLst/>
          </a:prstGeom>
          <a:noFill/>
          <a:ln/>
        </p:spPr>
        <p:txBody>
          <a:bodyPr wrap="square" lIns="0" tIns="0" rIns="0" bIns="0" rtlCol="0" anchor="t"/>
          <a:lstStyle/>
          <a:p>
            <a:pPr indent="0" marL="0">
              <a:buNone/>
            </a:pPr>
            <a:r>
              <a:rPr lang="es-PE" sz="2400" b="1" dirty="0">
                <a:solidFill>
                  <a:schemeClr val="accent1"/>
                </a:solidFill>
                <a:latin typeface="Consolas" pitchFamily="34" charset="0"/>
                <a:ea typeface="Consolas" pitchFamily="34" charset="-122"/>
                <a:cs typeface="Consolas" pitchFamily="34" charset="-120"/>
              </a:rPr>
              <a:t>A = {Q, Σ, δ, q0, F}</a:t>
            </a:r>
            <a:endParaRPr lang="es-PE" sz="2400" dirty="0"/>
          </a:p>
        </p:txBody>
      </p:sp>
      <p:sp>
        <p:nvSpPr>
          <p:cNvPr id="17" name="Text 13"/>
          <p:cNvSpPr txBox="1"/>
          <p:nvPr/>
        </p:nvSpPr>
        <p:spPr>
          <a:xfrm>
            <a:off x="7589520" y="4114800"/>
            <a:ext cx="4050792" cy="960120"/>
          </a:xfrm>
          <a:prstGeom prst="rect">
            <a:avLst/>
          </a:prstGeom>
          <a:noFill/>
          <a:ln/>
        </p:spPr>
        <p:txBody>
          <a:bodyPr wrap="square" lIns="0" tIns="0" rIns="0" bIns="0" rtlCol="0" anchor="t"/>
          <a:lstStyle/>
          <a:p>
            <a:pPr indent="0" marL="0">
              <a:buNone/>
            </a:pPr>
            <a:r>
              <a:rPr lang="es-PE" sz="1500" dirty="0">
                <a:solidFill>
                  <a:schemeClr val="tx2"/>
                </a:solidFill>
              </a:rPr>
              <a:t>Un lenguaje de dominio específico permite analizar y verificar los programas en términos del dominio (Mernik et al., 2005).</a:t>
            </a:r>
            <a:endParaRPr lang="es-PE" sz="1500" dirty="0"/>
          </a:p>
        </p:txBody>
      </p:sp>
      <p:sp>
        <p:nvSpPr>
          <p:cNvPr id="18" name="Text 14"/>
          <p:cNvSpPr txBox="1"/>
          <p:nvPr/>
        </p:nvSpPr>
        <p:spPr>
          <a:xfrm>
            <a:off x="7589520" y="5212080"/>
            <a:ext cx="4050792" cy="731520"/>
          </a:xfrm>
          <a:prstGeom prst="rect">
            <a:avLst/>
          </a:prstGeom>
          <a:noFill/>
          <a:ln/>
        </p:spPr>
        <p:txBody>
          <a:bodyPr wrap="square" lIns="0" tIns="0" rIns="0" bIns="0" rtlCol="0" anchor="t"/>
          <a:lstStyle/>
          <a:p>
            <a:pPr indent="0" marL="0">
              <a:buNone/>
            </a:pPr>
            <a:r>
              <a:rPr lang="es-PE" sz="1700" b="1" dirty="0">
                <a:solidFill>
                  <a:schemeClr val="tx1"/>
                </a:solidFill>
              </a:rPr>
              <a:t>Verificar al personaje es verificar que su autómata esté bien formado.</a:t>
            </a:r>
            <a:endParaRPr lang="es-PE" sz="17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4</a:t>
            </a:fld>
            <a:endParaRPr lang="es-P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Objetivos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Objetivo: verificar la máquina al compilar</a:t>
            </a:r>
            <a:endParaRPr lang="es-PE" sz="2800" dirty="0"/>
          </a:p>
        </p:txBody>
      </p:sp>
      <p:sp>
        <p:nvSpPr>
          <p:cNvPr id="5" name="Text 2"/>
          <p:cNvSpPr txBox="1"/>
          <p:nvPr/>
        </p:nvSpPr>
        <p:spPr>
          <a:xfrm>
            <a:off x="548640" y="1536192"/>
            <a:ext cx="3657600" cy="274320"/>
          </a:xfrm>
          <a:prstGeom prst="rect">
            <a:avLst/>
          </a:prstGeom>
          <a:noFill/>
          <a:ln/>
        </p:spPr>
        <p:txBody>
          <a:bodyPr wrap="square" lIns="0" tIns="0" rIns="0" bIns="0" rtlCol="0" anchor="t"/>
          <a:lstStyle/>
          <a:p>
            <a:pPr indent="0" marL="0">
              <a:buNone/>
            </a:pPr>
            <a:r>
              <a:rPr lang="es-PE" sz="1200" b="1" dirty="0">
                <a:solidFill>
                  <a:schemeClr val="accent5"/>
                </a:solidFill>
              </a:rPr>
              <a:t>Objetivo general</a:t>
            </a:r>
            <a:endParaRPr lang="es-PE" sz="1200" dirty="0"/>
          </a:p>
        </p:txBody>
      </p:sp>
      <p:sp>
        <p:nvSpPr>
          <p:cNvPr id="6" name="Text 3"/>
          <p:cNvSpPr txBox="1"/>
          <p:nvPr/>
        </p:nvSpPr>
        <p:spPr>
          <a:xfrm>
            <a:off x="548640" y="1810512"/>
            <a:ext cx="11091672" cy="822960"/>
          </a:xfrm>
          <a:prstGeom prst="rect">
            <a:avLst/>
          </a:prstGeom>
          <a:noFill/>
          <a:ln/>
        </p:spPr>
        <p:txBody>
          <a:bodyPr wrap="square" lIns="0" tIns="0" rIns="0" bIns="0" rtlCol="0" anchor="t"/>
          <a:lstStyle/>
          <a:p>
            <a:pPr indent="0" marL="0">
              <a:buNone/>
            </a:pPr>
            <a:r>
              <a:rPr lang="es-PE" sz="1900" dirty="0">
                <a:solidFill>
                  <a:schemeClr val="tx1"/>
                </a:solidFill>
              </a:rPr>
              <a:t>Desarrollar un compilador para PixelLang que verifique, al compilar, que la máquina de estados de cada personaje esté bien formada, y que la traduzca a código ejecutable.</a:t>
            </a:r>
            <a:endParaRPr lang="es-PE" sz="1900" dirty="0"/>
          </a:p>
        </p:txBody>
      </p:sp>
      <p:sp>
        <p:nvSpPr>
          <p:cNvPr id="7" name="Text 4"/>
          <p:cNvSpPr txBox="1"/>
          <p:nvPr/>
        </p:nvSpPr>
        <p:spPr>
          <a:xfrm>
            <a:off x="548640" y="2788920"/>
            <a:ext cx="3657600" cy="274320"/>
          </a:xfrm>
          <a:prstGeom prst="rect">
            <a:avLst/>
          </a:prstGeom>
          <a:noFill/>
          <a:ln/>
        </p:spPr>
        <p:txBody>
          <a:bodyPr wrap="square" lIns="0" tIns="0" rIns="0" bIns="0" rtlCol="0" anchor="t"/>
          <a:lstStyle/>
          <a:p>
            <a:pPr indent="0" marL="0">
              <a:buNone/>
            </a:pPr>
            <a:r>
              <a:rPr lang="es-PE" sz="1200" b="1" dirty="0">
                <a:solidFill>
                  <a:schemeClr val="accent5"/>
                </a:solidFill>
              </a:rPr>
              <a:t>Objetivos específicos</a:t>
            </a:r>
            <a:endParaRPr lang="es-PE" sz="1200" dirty="0"/>
          </a:p>
        </p:txBody>
      </p:sp>
      <p:sp>
        <p:nvSpPr>
          <p:cNvPr id="8" name="Tarjeta"/>
          <p:cNvSpPr/>
          <p:nvPr/>
        </p:nvSpPr>
        <p:spPr>
          <a:xfrm>
            <a:off x="548640" y="3063240"/>
            <a:ext cx="2514600" cy="2194560"/>
          </a:xfrm>
          <a:prstGeom prst="rect">
            <a:avLst/>
          </a:prstGeom>
          <a:solidFill>
            <a:schemeClr val="bg2"/>
          </a:solidFill>
          <a:ln w="12700">
            <a:solidFill>
              <a:schemeClr val="bg2"/>
            </a:solidFill>
            <a:prstDash val="solid"/>
          </a:ln>
        </p:spPr>
      </p:sp>
      <p:sp>
        <p:nvSpPr>
          <p:cNvPr id="9" name="Número 1"/>
          <p:cNvSpPr txBox="1"/>
          <p:nvPr/>
        </p:nvSpPr>
        <p:spPr>
          <a:xfrm>
            <a:off x="777240"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1</a:t>
            </a:r>
            <a:endParaRPr lang="es-PE" sz="1600" dirty="0"/>
          </a:p>
        </p:txBody>
      </p:sp>
      <p:sp>
        <p:nvSpPr>
          <p:cNvPr id="10" name="Text 7"/>
          <p:cNvSpPr txBox="1"/>
          <p:nvPr/>
        </p:nvSpPr>
        <p:spPr>
          <a:xfrm>
            <a:off x="777240"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Léxico</a:t>
            </a:r>
            <a:endParaRPr lang="es-PE" sz="1900" dirty="0"/>
          </a:p>
        </p:txBody>
      </p:sp>
      <p:sp>
        <p:nvSpPr>
          <p:cNvPr id="11" name="Text 8"/>
          <p:cNvSpPr txBox="1"/>
          <p:nvPr/>
        </p:nvSpPr>
        <p:spPr>
          <a:xfrm>
            <a:off x="777240"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Definir el léxico e implementarlo con expresiones regulares en ANTLR4</a:t>
            </a:r>
            <a:endParaRPr lang="es-PE" sz="1400" dirty="0"/>
          </a:p>
        </p:txBody>
      </p:sp>
      <p:sp>
        <p:nvSpPr>
          <p:cNvPr id="12" name="Flecha"/>
          <p:cNvSpPr/>
          <p:nvPr/>
        </p:nvSpPr>
        <p:spPr>
          <a:xfrm>
            <a:off x="3118104" y="4160520"/>
            <a:ext cx="234696" cy="0"/>
          </a:xfrm>
          <a:prstGeom prst="line">
            <a:avLst/>
          </a:prstGeom>
          <a:noFill/>
          <a:ln w="19050">
            <a:solidFill>
              <a:schemeClr val="accent5"/>
            </a:solidFill>
            <a:prstDash val="solid"/>
            <a:tailEnd type="triangle"/>
          </a:ln>
        </p:spPr>
      </p:sp>
      <p:sp>
        <p:nvSpPr>
          <p:cNvPr id="13" name="Tarjeta"/>
          <p:cNvSpPr/>
          <p:nvPr/>
        </p:nvSpPr>
        <p:spPr>
          <a:xfrm>
            <a:off x="3407664" y="3063240"/>
            <a:ext cx="2514600" cy="2194560"/>
          </a:xfrm>
          <a:prstGeom prst="rect">
            <a:avLst/>
          </a:prstGeom>
          <a:solidFill>
            <a:schemeClr val="bg2"/>
          </a:solidFill>
          <a:ln w="12700">
            <a:solidFill>
              <a:schemeClr val="bg2"/>
            </a:solidFill>
            <a:prstDash val="solid"/>
          </a:ln>
        </p:spPr>
      </p:sp>
      <p:sp>
        <p:nvSpPr>
          <p:cNvPr id="14" name="Número 2"/>
          <p:cNvSpPr txBox="1"/>
          <p:nvPr/>
        </p:nvSpPr>
        <p:spPr>
          <a:xfrm>
            <a:off x="3636264"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2</a:t>
            </a:r>
            <a:endParaRPr lang="es-PE" sz="1600" dirty="0"/>
          </a:p>
        </p:txBody>
      </p:sp>
      <p:sp>
        <p:nvSpPr>
          <p:cNvPr id="15" name="Text 12"/>
          <p:cNvSpPr txBox="1"/>
          <p:nvPr/>
        </p:nvSpPr>
        <p:spPr>
          <a:xfrm>
            <a:off x="3636264"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Sintáctico</a:t>
            </a:r>
            <a:endParaRPr lang="es-PE" sz="1900" dirty="0"/>
          </a:p>
        </p:txBody>
      </p:sp>
      <p:sp>
        <p:nvSpPr>
          <p:cNvPr id="16" name="Text 13"/>
          <p:cNvSpPr txBox="1"/>
          <p:nvPr/>
        </p:nvSpPr>
        <p:spPr>
          <a:xfrm>
            <a:off x="3636264"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Una GLC por construcción, validada con derivaciones, y el parser en ANTLR4</a:t>
            </a:r>
            <a:endParaRPr lang="es-PE" sz="1400" dirty="0"/>
          </a:p>
        </p:txBody>
      </p:sp>
      <p:sp>
        <p:nvSpPr>
          <p:cNvPr id="17" name="Flecha"/>
          <p:cNvSpPr/>
          <p:nvPr/>
        </p:nvSpPr>
        <p:spPr>
          <a:xfrm>
            <a:off x="5977128" y="4160520"/>
            <a:ext cx="234696" cy="0"/>
          </a:xfrm>
          <a:prstGeom prst="line">
            <a:avLst/>
          </a:prstGeom>
          <a:noFill/>
          <a:ln w="19050">
            <a:solidFill>
              <a:schemeClr val="accent5"/>
            </a:solidFill>
            <a:prstDash val="solid"/>
            <a:tailEnd type="triangle"/>
          </a:ln>
        </p:spPr>
      </p:sp>
      <p:sp>
        <p:nvSpPr>
          <p:cNvPr id="18" name="Tarjeta"/>
          <p:cNvSpPr/>
          <p:nvPr/>
        </p:nvSpPr>
        <p:spPr>
          <a:xfrm>
            <a:off x="6266688" y="3063240"/>
            <a:ext cx="2514600" cy="2194560"/>
          </a:xfrm>
          <a:prstGeom prst="rect">
            <a:avLst/>
          </a:prstGeom>
          <a:solidFill>
            <a:schemeClr val="bg2"/>
          </a:solidFill>
          <a:ln w="12700">
            <a:solidFill>
              <a:schemeClr val="bg2"/>
            </a:solidFill>
            <a:prstDash val="solid"/>
          </a:ln>
        </p:spPr>
      </p:sp>
      <p:sp>
        <p:nvSpPr>
          <p:cNvPr id="19" name="Número 3"/>
          <p:cNvSpPr txBox="1"/>
          <p:nvPr/>
        </p:nvSpPr>
        <p:spPr>
          <a:xfrm>
            <a:off x="6495288" y="3273552"/>
            <a:ext cx="411480" cy="411480"/>
          </a:xfrm>
          <a:prstGeom prst="rect">
            <a:avLst/>
          </a:prstGeom>
          <a:solidFill>
            <a:schemeClr val="accent1"/>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3</a:t>
            </a:r>
            <a:endParaRPr lang="es-PE" sz="1600" dirty="0"/>
          </a:p>
        </p:txBody>
      </p:sp>
      <p:sp>
        <p:nvSpPr>
          <p:cNvPr id="20" name="Text 17"/>
          <p:cNvSpPr txBox="1"/>
          <p:nvPr/>
        </p:nvSpPr>
        <p:spPr>
          <a:xfrm>
            <a:off x="6495288"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Semántico</a:t>
            </a:r>
            <a:endParaRPr lang="es-PE" sz="1900" dirty="0"/>
          </a:p>
        </p:txBody>
      </p:sp>
      <p:sp>
        <p:nvSpPr>
          <p:cNvPr id="21" name="Text 18"/>
          <p:cNvSpPr txBox="1"/>
          <p:nvPr/>
        </p:nvSpPr>
        <p:spPr>
          <a:xfrm>
            <a:off x="6495288"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Tabla de símbolos por personaje y detección de los errores del autómata</a:t>
            </a:r>
            <a:endParaRPr lang="es-PE" sz="1400" dirty="0"/>
          </a:p>
        </p:txBody>
      </p:sp>
      <p:sp>
        <p:nvSpPr>
          <p:cNvPr id="22" name="Flecha"/>
          <p:cNvSpPr/>
          <p:nvPr/>
        </p:nvSpPr>
        <p:spPr>
          <a:xfrm>
            <a:off x="8836152" y="4160520"/>
            <a:ext cx="234696" cy="0"/>
          </a:xfrm>
          <a:prstGeom prst="line">
            <a:avLst/>
          </a:prstGeom>
          <a:noFill/>
          <a:ln w="19050">
            <a:solidFill>
              <a:schemeClr val="accent5"/>
            </a:solidFill>
            <a:prstDash val="solid"/>
            <a:tailEnd type="triangle"/>
          </a:ln>
        </p:spPr>
      </p:sp>
      <p:sp>
        <p:nvSpPr>
          <p:cNvPr id="23" name="Etapa futura"/>
          <p:cNvSpPr/>
          <p:nvPr/>
        </p:nvSpPr>
        <p:spPr>
          <a:xfrm>
            <a:off x="9125712" y="3063240"/>
            <a:ext cx="2514600" cy="2194560"/>
          </a:xfrm>
          <a:prstGeom prst="rect">
            <a:avLst/>
          </a:prstGeom>
          <a:solidFill>
            <a:schemeClr val="bg1"/>
          </a:solidFill>
          <a:ln w="15875">
            <a:solidFill>
              <a:schemeClr val="accent6"/>
            </a:solidFill>
            <a:prstDash val="dash"/>
          </a:ln>
        </p:spPr>
      </p:sp>
      <p:sp>
        <p:nvSpPr>
          <p:cNvPr id="24" name="Número 4"/>
          <p:cNvSpPr txBox="1"/>
          <p:nvPr/>
        </p:nvSpPr>
        <p:spPr>
          <a:xfrm>
            <a:off x="9354312" y="3273552"/>
            <a:ext cx="411480" cy="411480"/>
          </a:xfrm>
          <a:prstGeom prst="rect">
            <a:avLst/>
          </a:prstGeom>
          <a:solidFill>
            <a:schemeClr val="accent5"/>
          </a:solidFill>
          <a:ln/>
        </p:spPr>
        <p:txBody>
          <a:bodyPr wrap="square" lIns="0" tIns="0" rIns="0" bIns="0" rtlCol="0" anchor="ctr"/>
          <a:lstStyle/>
          <a:p>
            <a:pPr algn="ctr" indent="0" marL="0">
              <a:buNone/>
            </a:pPr>
            <a:r>
              <a:rPr lang="es-PE" sz="1600" b="1" dirty="0">
                <a:solidFill>
                  <a:schemeClr val="bg1"/>
                </a:solidFill>
                <a:latin typeface="Consolas" pitchFamily="34" charset="0"/>
                <a:ea typeface="Consolas" pitchFamily="34" charset="-122"/>
                <a:cs typeface="Consolas" pitchFamily="34" charset="-120"/>
              </a:rPr>
              <a:t>4</a:t>
            </a:r>
            <a:endParaRPr lang="es-PE" sz="1600" dirty="0"/>
          </a:p>
        </p:txBody>
      </p:sp>
      <p:sp>
        <p:nvSpPr>
          <p:cNvPr id="25" name="Text 22"/>
          <p:cNvSpPr txBox="1"/>
          <p:nvPr/>
        </p:nvSpPr>
        <p:spPr>
          <a:xfrm>
            <a:off x="9354312" y="3822192"/>
            <a:ext cx="2103120" cy="384048"/>
          </a:xfrm>
          <a:prstGeom prst="rect">
            <a:avLst/>
          </a:prstGeom>
          <a:noFill/>
          <a:ln/>
        </p:spPr>
        <p:txBody>
          <a:bodyPr wrap="square" lIns="0" tIns="0" rIns="0" bIns="0" rtlCol="0" anchor="t"/>
          <a:lstStyle/>
          <a:p>
            <a:pPr indent="0" marL="0">
              <a:buNone/>
            </a:pPr>
            <a:r>
              <a:rPr lang="es-PE" sz="1900" b="1" dirty="0">
                <a:solidFill>
                  <a:schemeClr val="tx1"/>
                </a:solidFill>
              </a:rPr>
              <a:t>Código LLVM</a:t>
            </a:r>
            <a:endParaRPr lang="es-PE" sz="1900" dirty="0"/>
          </a:p>
        </p:txBody>
      </p:sp>
      <p:sp>
        <p:nvSpPr>
          <p:cNvPr id="26" name="Text 23"/>
          <p:cNvSpPr txBox="1"/>
          <p:nvPr/>
        </p:nvSpPr>
        <p:spPr>
          <a:xfrm>
            <a:off x="9354312" y="4224528"/>
            <a:ext cx="2103120" cy="914400"/>
          </a:xfrm>
          <a:prstGeom prst="rect">
            <a:avLst/>
          </a:prstGeom>
          <a:noFill/>
          <a:ln/>
        </p:spPr>
        <p:txBody>
          <a:bodyPr wrap="square" lIns="0" tIns="0" rIns="0" bIns="0" rtlCol="0" anchor="t"/>
          <a:lstStyle/>
          <a:p>
            <a:pPr indent="0" marL="0">
              <a:buNone/>
            </a:pPr>
            <a:r>
              <a:rPr lang="es-PE" sz="1400" dirty="0">
                <a:solidFill>
                  <a:schemeClr val="tx2"/>
                </a:solidFill>
              </a:rPr>
              <a:t>Generar código ejecutable con LLVM (Lattner y Adve, 2004)</a:t>
            </a:r>
            <a:endParaRPr lang="es-PE" sz="1400" dirty="0"/>
          </a:p>
        </p:txBody>
      </p:sp>
      <p:sp>
        <p:nvSpPr>
          <p:cNvPr id="27" name="Hito"/>
          <p:cNvSpPr txBox="1"/>
          <p:nvPr/>
        </p:nvSpPr>
        <p:spPr>
          <a:xfrm>
            <a:off x="548640" y="5440680"/>
            <a:ext cx="8232648" cy="384048"/>
          </a:xfrm>
          <a:prstGeom prst="rect">
            <a:avLst/>
          </a:prstGeom>
          <a:solidFill>
            <a:schemeClr val="accent1"/>
          </a:solidFill>
          <a:ln/>
        </p:spPr>
        <p:txBody>
          <a:bodyPr wrap="square" lIns="0" tIns="0" rIns="0" bIns="0" rtlCol="0" anchor="ctr"/>
          <a:lstStyle/>
          <a:p>
            <a:pPr algn="ctr" indent="0" marL="0">
              <a:buNone/>
            </a:pPr>
            <a:r>
              <a:rPr lang="es-PE" sz="1400" b="1" dirty="0">
                <a:solidFill>
                  <a:schemeClr val="bg1"/>
                </a:solidFill>
              </a:rPr>
              <a:t>Hito 1: este trabajo</a:t>
            </a:r>
            <a:endParaRPr lang="es-PE" sz="1400" dirty="0"/>
          </a:p>
        </p:txBody>
      </p:sp>
      <p:sp>
        <p:nvSpPr>
          <p:cNvPr id="28" name="Hito"/>
          <p:cNvSpPr txBox="1"/>
          <p:nvPr/>
        </p:nvSpPr>
        <p:spPr>
          <a:xfrm>
            <a:off x="9125712" y="5440680"/>
            <a:ext cx="2514600" cy="384048"/>
          </a:xfrm>
          <a:prstGeom prst="rect">
            <a:avLst/>
          </a:prstGeom>
          <a:solidFill>
            <a:schemeClr val="bg2"/>
          </a:solidFill>
          <a:ln/>
        </p:spPr>
        <p:txBody>
          <a:bodyPr wrap="square" lIns="0" tIns="0" rIns="0" bIns="0" rtlCol="0" anchor="ctr"/>
          <a:lstStyle/>
          <a:p>
            <a:pPr algn="ctr" indent="0" marL="0">
              <a:buNone/>
            </a:pPr>
            <a:r>
              <a:rPr lang="es-PE" sz="1400" b="1" dirty="0">
                <a:solidFill>
                  <a:schemeClr val="tx2"/>
                </a:solidFill>
              </a:rPr>
              <a:t>Hito 3</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5</a:t>
            </a:fld>
            <a:endParaRPr lang="es-P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Construcciones del lenguaje</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Programa, atributos y eventos</a:t>
            </a:r>
            <a:endParaRPr lang="es-PE" sz="2800" dirty="0"/>
          </a:p>
        </p:txBody>
      </p:sp>
      <p:sp>
        <p:nvSpPr>
          <p:cNvPr id="5" name="Tarjeta"/>
          <p:cNvSpPr/>
          <p:nvPr/>
        </p:nvSpPr>
        <p:spPr>
          <a:xfrm>
            <a:off x="548640" y="1554480"/>
            <a:ext cx="11091672" cy="1956816"/>
          </a:xfrm>
          <a:prstGeom prst="rect">
            <a:avLst/>
          </a:prstGeom>
          <a:solidFill>
            <a:schemeClr val="bg2"/>
          </a:solidFill>
          <a:ln w="12700">
            <a:solidFill>
              <a:schemeClr val="bg2"/>
            </a:solidFill>
            <a:prstDash val="solid"/>
          </a:ln>
        </p:spPr>
      </p:sp>
      <p:sp>
        <p:nvSpPr>
          <p:cNvPr id="6" name="Número 1"/>
          <p:cNvSpPr txBox="1"/>
          <p:nvPr/>
        </p:nvSpPr>
        <p:spPr>
          <a:xfrm>
            <a:off x="731520" y="1700784"/>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1</a:t>
            </a:r>
            <a:endParaRPr lang="es-PE" sz="1500" dirty="0"/>
          </a:p>
        </p:txBody>
      </p:sp>
      <p:sp>
        <p:nvSpPr>
          <p:cNvPr id="7" name="Text 4"/>
          <p:cNvSpPr txBox="1"/>
          <p:nvPr/>
        </p:nvSpPr>
        <p:spPr>
          <a:xfrm>
            <a:off x="1280160" y="1664208"/>
            <a:ext cx="4297680" cy="310896"/>
          </a:xfrm>
          <a:prstGeom prst="rect">
            <a:avLst/>
          </a:prstGeom>
          <a:noFill/>
          <a:ln/>
        </p:spPr>
        <p:txBody>
          <a:bodyPr wrap="square" lIns="0" tIns="0" rIns="0" bIns="0" rtlCol="0" anchor="t"/>
          <a:lstStyle/>
          <a:p>
            <a:pPr indent="0" marL="0">
              <a:buNone/>
            </a:pPr>
            <a:r>
              <a:rPr lang="es-PE" sz="1700" b="1" dirty="0">
                <a:solidFill>
                  <a:schemeClr val="tx1"/>
                </a:solidFill>
              </a:rPr>
              <a:t>Programa y personaje</a:t>
            </a:r>
            <a:r>
              <a:rPr lang="es-PE" sz="1200" dirty="0">
                <a:solidFill>
                  <a:schemeClr val="accent5"/>
                </a:solidFill>
                <a:latin typeface="Consolas" pitchFamily="34" charset="0"/>
                <a:ea typeface="Consolas" pitchFamily="34" charset="-122"/>
                <a:cs typeface="Consolas" pitchFamily="34" charset="-120"/>
              </a:rPr>
              <a:t>   ejemplo 1.2</a:t>
            </a:r>
            <a:endParaRPr lang="es-PE" sz="1700" dirty="0"/>
          </a:p>
        </p:txBody>
      </p:sp>
      <p:sp>
        <p:nvSpPr>
          <p:cNvPr id="8" name="Text 5"/>
          <p:cNvSpPr txBox="1"/>
          <p:nvPr/>
        </p:nvSpPr>
        <p:spPr>
          <a:xfrm>
            <a:off x="1280160" y="1975104"/>
            <a:ext cx="4297680" cy="1499616"/>
          </a:xfrm>
          <a:prstGeom prst="rect">
            <a:avLst/>
          </a:prstGeom>
          <a:noFill/>
          <a:ln/>
        </p:spPr>
        <p:txBody>
          <a:bodyPr wrap="square" lIns="0" tIns="0" rIns="0" bIns="0" rtlCol="0" anchor="t"/>
          <a:lstStyle/>
          <a:p>
            <a:pPr indent="0" marL="0">
              <a:buNone/>
            </a:pPr>
            <a:r>
              <a:rPr lang="es-PE" sz="1300" dirty="0">
                <a:solidFill>
                  <a:schemeClr val="tx2"/>
                </a:solidFill>
              </a:rPr>
              <a:t>Lista de personajes seguida de simulaciones. Un personaje contiene sus atributos, sus eventos y al menos un estado.</a:t>
            </a:r>
            <a:endParaRPr lang="es-PE" sz="1300" dirty="0"/>
          </a:p>
        </p:txBody>
      </p:sp>
      <p:sp>
        <p:nvSpPr>
          <p:cNvPr id="9" name="Código"/>
          <p:cNvSpPr txBox="1"/>
          <p:nvPr/>
        </p:nvSpPr>
        <p:spPr>
          <a:xfrm>
            <a:off x="5669280" y="1650492"/>
            <a:ext cx="5833872" cy="1764792"/>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personaje</a:t>
            </a:r>
            <a:r>
              <a:rPr lang="es-PE" sz="1300" dirty="0">
                <a:solidFill>
                  <a:schemeClr val="bg1"/>
                </a:solidFill>
                <a:latin typeface="Consolas" pitchFamily="34" charset="0"/>
                <a:ea typeface="Consolas" pitchFamily="34" charset="-122"/>
                <a:cs typeface="Consolas" pitchFamily="34" charset="-120"/>
              </a:rPr>
              <a:t> Puerta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inicial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Cerrada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 -&gt; Abierta;</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final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Abierta {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simular</a:t>
            </a:r>
            <a:r>
              <a:rPr lang="es-PE" sz="1300" dirty="0">
                <a:solidFill>
                  <a:schemeClr val="bg1"/>
                </a:solidFill>
                <a:latin typeface="Consolas" pitchFamily="34" charset="0"/>
                <a:ea typeface="Consolas" pitchFamily="34" charset="-122"/>
                <a:cs typeface="Consolas" pitchFamily="34" charset="-120"/>
              </a:rPr>
              <a:t> Puerta: </a:t>
            </a:r>
            <a:r>
              <a:rPr lang="es-PE" sz="1300" dirty="0">
                <a:solidFill>
                  <a:schemeClr val="bg1"/>
                </a:solidFill>
                <a:latin typeface="Consolas" pitchFamily="34" charset="0"/>
                <a:ea typeface="Consolas" pitchFamily="34" charset="-122"/>
                <a:cs typeface="Consolas" pitchFamily="34" charset="-120"/>
              </a:rPr>
              <a:t>ser_abierta</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10" name="Tarjeta"/>
          <p:cNvSpPr/>
          <p:nvPr/>
        </p:nvSpPr>
        <p:spPr>
          <a:xfrm>
            <a:off x="548640" y="3621024"/>
            <a:ext cx="11091672" cy="822960"/>
          </a:xfrm>
          <a:prstGeom prst="rect">
            <a:avLst/>
          </a:prstGeom>
          <a:solidFill>
            <a:schemeClr val="bg2"/>
          </a:solidFill>
          <a:ln w="12700">
            <a:solidFill>
              <a:schemeClr val="bg2"/>
            </a:solidFill>
            <a:prstDash val="solid"/>
          </a:ln>
        </p:spPr>
      </p:sp>
      <p:sp>
        <p:nvSpPr>
          <p:cNvPr id="11" name="Número 2"/>
          <p:cNvSpPr txBox="1"/>
          <p:nvPr/>
        </p:nvSpPr>
        <p:spPr>
          <a:xfrm>
            <a:off x="731520" y="3767328"/>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2</a:t>
            </a:r>
            <a:endParaRPr lang="es-PE" sz="1500" dirty="0"/>
          </a:p>
        </p:txBody>
      </p:sp>
      <p:sp>
        <p:nvSpPr>
          <p:cNvPr id="12" name="Text 9"/>
          <p:cNvSpPr txBox="1"/>
          <p:nvPr/>
        </p:nvSpPr>
        <p:spPr>
          <a:xfrm>
            <a:off x="1280160" y="3730752"/>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atributos</a:t>
            </a:r>
            <a:r>
              <a:rPr lang="es-PE" sz="1200" dirty="0">
                <a:solidFill>
                  <a:schemeClr val="accent5"/>
                </a:solidFill>
                <a:latin typeface="Consolas" pitchFamily="34" charset="0"/>
                <a:ea typeface="Consolas" pitchFamily="34" charset="-122"/>
                <a:cs typeface="Consolas" pitchFamily="34" charset="-120"/>
              </a:rPr>
              <a:t>   ejemplo 2.1</a:t>
            </a:r>
            <a:endParaRPr lang="es-PE" sz="1700" dirty="0"/>
          </a:p>
        </p:txBody>
      </p:sp>
      <p:sp>
        <p:nvSpPr>
          <p:cNvPr id="13" name="Text 10"/>
          <p:cNvSpPr txBox="1"/>
          <p:nvPr/>
        </p:nvSpPr>
        <p:spPr>
          <a:xfrm>
            <a:off x="1280160" y="4041648"/>
            <a:ext cx="4297680" cy="365760"/>
          </a:xfrm>
          <a:prstGeom prst="rect">
            <a:avLst/>
          </a:prstGeom>
          <a:noFill/>
          <a:ln/>
        </p:spPr>
        <p:txBody>
          <a:bodyPr wrap="square" lIns="0" tIns="0" rIns="0" bIns="0" rtlCol="0" anchor="t"/>
          <a:lstStyle/>
          <a:p>
            <a:pPr indent="0" marL="0">
              <a:buNone/>
            </a:pPr>
            <a:r>
              <a:rPr lang="es-PE" sz="1300" dirty="0">
                <a:solidFill>
                  <a:schemeClr val="tx2"/>
                </a:solidFill>
              </a:rPr>
              <a:t>Variable del personaje con nombre, tipo y valor inicial.</a:t>
            </a:r>
            <a:endParaRPr lang="es-PE" sz="1300" dirty="0"/>
          </a:p>
        </p:txBody>
      </p:sp>
      <p:sp>
        <p:nvSpPr>
          <p:cNvPr id="14" name="Código"/>
          <p:cNvSpPr txBox="1"/>
          <p:nvPr/>
        </p:nvSpPr>
        <p:spPr>
          <a:xfrm>
            <a:off x="5669280" y="3826193"/>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entero</a:t>
            </a:r>
            <a:r>
              <a:rPr lang="es-PE" sz="1300" dirty="0">
                <a:solidFill>
                  <a:schemeClr val="bg1"/>
                </a:solidFill>
                <a:latin typeface="Consolas" pitchFamily="34" charset="0"/>
                <a:ea typeface="Consolas" pitchFamily="34" charset="-122"/>
                <a:cs typeface="Consolas" pitchFamily="34" charset="-120"/>
              </a:rPr>
              <a:t> = 100;</a:t>
            </a:r>
            <a:endParaRPr lang="es-PE" sz="1300" dirty="0"/>
          </a:p>
        </p:txBody>
      </p:sp>
      <p:sp>
        <p:nvSpPr>
          <p:cNvPr id="15" name="Tarjeta"/>
          <p:cNvSpPr/>
          <p:nvPr/>
        </p:nvSpPr>
        <p:spPr>
          <a:xfrm>
            <a:off x="548640" y="4553712"/>
            <a:ext cx="11091672" cy="822960"/>
          </a:xfrm>
          <a:prstGeom prst="rect">
            <a:avLst/>
          </a:prstGeom>
          <a:solidFill>
            <a:schemeClr val="bg2"/>
          </a:solidFill>
          <a:ln w="12700">
            <a:solidFill>
              <a:schemeClr val="bg2"/>
            </a:solidFill>
            <a:prstDash val="solid"/>
          </a:ln>
        </p:spPr>
      </p:sp>
      <p:sp>
        <p:nvSpPr>
          <p:cNvPr id="16" name="Número 3"/>
          <p:cNvSpPr txBox="1"/>
          <p:nvPr/>
        </p:nvSpPr>
        <p:spPr>
          <a:xfrm>
            <a:off x="731520" y="4700016"/>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3</a:t>
            </a:r>
            <a:endParaRPr lang="es-PE" sz="1500" dirty="0"/>
          </a:p>
        </p:txBody>
      </p:sp>
      <p:sp>
        <p:nvSpPr>
          <p:cNvPr id="17" name="Text 14"/>
          <p:cNvSpPr txBox="1"/>
          <p:nvPr/>
        </p:nvSpPr>
        <p:spPr>
          <a:xfrm>
            <a:off x="1280160" y="4663440"/>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eventos</a:t>
            </a:r>
            <a:r>
              <a:rPr lang="es-PE" sz="1200" dirty="0">
                <a:solidFill>
                  <a:schemeClr val="accent5"/>
                </a:solidFill>
                <a:latin typeface="Consolas" pitchFamily="34" charset="0"/>
                <a:ea typeface="Consolas" pitchFamily="34" charset="-122"/>
                <a:cs typeface="Consolas" pitchFamily="34" charset="-120"/>
              </a:rPr>
              <a:t>   ejemplo 3.2</a:t>
            </a:r>
            <a:endParaRPr lang="es-PE" sz="1700" dirty="0"/>
          </a:p>
        </p:txBody>
      </p:sp>
      <p:sp>
        <p:nvSpPr>
          <p:cNvPr id="18" name="Text 15"/>
          <p:cNvSpPr txBox="1"/>
          <p:nvPr/>
        </p:nvSpPr>
        <p:spPr>
          <a:xfrm>
            <a:off x="1280160" y="4974336"/>
            <a:ext cx="4297680" cy="365760"/>
          </a:xfrm>
          <a:prstGeom prst="rect">
            <a:avLst/>
          </a:prstGeom>
          <a:noFill/>
          <a:ln/>
        </p:spPr>
        <p:txBody>
          <a:bodyPr wrap="square" lIns="0" tIns="0" rIns="0" bIns="0" rtlCol="0" anchor="t"/>
          <a:lstStyle/>
          <a:p>
            <a:pPr indent="0" marL="0">
              <a:buNone/>
            </a:pPr>
            <a:r>
              <a:rPr lang="es-PE" sz="1300" dirty="0">
                <a:solidFill>
                  <a:schemeClr val="tx2"/>
                </a:solidFill>
              </a:rPr>
              <a:t>Lista de los eventos del personaje, que forman su alfabeto.</a:t>
            </a:r>
            <a:endParaRPr lang="es-PE" sz="1300" dirty="0"/>
          </a:p>
        </p:txBody>
      </p:sp>
      <p:sp>
        <p:nvSpPr>
          <p:cNvPr id="19" name="Código"/>
          <p:cNvSpPr txBox="1"/>
          <p:nvPr/>
        </p:nvSpPr>
        <p:spPr>
          <a:xfrm>
            <a:off x="5669280" y="4758881"/>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20" name="Pixel"/>
          <p:cNvSpPr/>
          <p:nvPr/>
        </p:nvSpPr>
        <p:spPr>
          <a:xfrm>
            <a:off x="548640" y="5669280"/>
            <a:ext cx="128016" cy="128016"/>
          </a:xfrm>
          <a:prstGeom prst="rect">
            <a:avLst/>
          </a:prstGeom>
          <a:solidFill>
            <a:schemeClr val="accent1"/>
          </a:solidFill>
          <a:ln w="12700">
            <a:solidFill>
              <a:schemeClr val="accent1"/>
            </a:solidFill>
            <a:prstDash val="solid"/>
          </a:ln>
        </p:spPr>
      </p:sp>
      <p:sp>
        <p:nvSpPr>
          <p:cNvPr id="21" name="Text 18"/>
          <p:cNvSpPr txBox="1"/>
          <p:nvPr/>
        </p:nvSpPr>
        <p:spPr>
          <a:xfrm>
            <a:off x="868680" y="5559552"/>
            <a:ext cx="10771632" cy="594360"/>
          </a:xfrm>
          <a:prstGeom prst="rect">
            <a:avLst/>
          </a:prstGeom>
          <a:noFill/>
          <a:ln/>
        </p:spPr>
        <p:txBody>
          <a:bodyPr wrap="square" lIns="0" tIns="0" rIns="0" bIns="0" rtlCol="0" anchor="t"/>
          <a:lstStyle/>
          <a:p>
            <a:pPr indent="0" marL="0">
              <a:buNone/>
            </a:pPr>
            <a:r>
              <a:rPr lang="es-PE" sz="1500" dirty="0">
                <a:solidFill>
                  <a:schemeClr val="tx1"/>
                </a:solidFill>
              </a:rPr>
              <a:t>Un programa declara uno o más personajes y, al final, cero o más simulaciones. Dentro de un personaje van los atributos, los eventos y los estados, en ese orden.</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6</a:t>
            </a:fld>
            <a:endParaRPr lang="es-P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Construcciones del lenguaje</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Estados, transiciones, acciones y expresiones</a:t>
            </a:r>
            <a:endParaRPr lang="es-PE" sz="2800" dirty="0"/>
          </a:p>
        </p:txBody>
      </p:sp>
      <p:sp>
        <p:nvSpPr>
          <p:cNvPr id="5" name="Tarjeta"/>
          <p:cNvSpPr/>
          <p:nvPr/>
        </p:nvSpPr>
        <p:spPr>
          <a:xfrm>
            <a:off x="548640" y="1554480"/>
            <a:ext cx="11091672" cy="1377315"/>
          </a:xfrm>
          <a:prstGeom prst="rect">
            <a:avLst/>
          </a:prstGeom>
          <a:solidFill>
            <a:schemeClr val="bg2"/>
          </a:solidFill>
          <a:ln w="12700">
            <a:solidFill>
              <a:schemeClr val="bg2"/>
            </a:solidFill>
            <a:prstDash val="solid"/>
          </a:ln>
        </p:spPr>
      </p:sp>
      <p:sp>
        <p:nvSpPr>
          <p:cNvPr id="6" name="Número 4"/>
          <p:cNvSpPr txBox="1"/>
          <p:nvPr/>
        </p:nvSpPr>
        <p:spPr>
          <a:xfrm>
            <a:off x="731520" y="1700784"/>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4</a:t>
            </a:r>
            <a:endParaRPr lang="es-PE" sz="1500" dirty="0"/>
          </a:p>
        </p:txBody>
      </p:sp>
      <p:sp>
        <p:nvSpPr>
          <p:cNvPr id="7" name="Text 4"/>
          <p:cNvSpPr txBox="1"/>
          <p:nvPr/>
        </p:nvSpPr>
        <p:spPr>
          <a:xfrm>
            <a:off x="1280160" y="1664208"/>
            <a:ext cx="4297680" cy="310896"/>
          </a:xfrm>
          <a:prstGeom prst="rect">
            <a:avLst/>
          </a:prstGeom>
          <a:noFill/>
          <a:ln/>
        </p:spPr>
        <p:txBody>
          <a:bodyPr wrap="square" lIns="0" tIns="0" rIns="0" bIns="0" rtlCol="0" anchor="t"/>
          <a:lstStyle/>
          <a:p>
            <a:pPr indent="0" marL="0">
              <a:buNone/>
            </a:pPr>
            <a:r>
              <a:rPr lang="es-PE" sz="1700" b="1" dirty="0">
                <a:solidFill>
                  <a:schemeClr val="tx1"/>
                </a:solidFill>
              </a:rPr>
              <a:t>Declaración de estados</a:t>
            </a:r>
            <a:r>
              <a:rPr lang="es-PE" sz="1200" dirty="0">
                <a:solidFill>
                  <a:schemeClr val="accent5"/>
                </a:solidFill>
                <a:latin typeface="Consolas" pitchFamily="34" charset="0"/>
                <a:ea typeface="Consolas" pitchFamily="34" charset="-122"/>
                <a:cs typeface="Consolas" pitchFamily="34" charset="-120"/>
              </a:rPr>
              <a:t>   ejemplo 4.5</a:t>
            </a:r>
            <a:endParaRPr lang="es-PE" sz="1700" dirty="0"/>
          </a:p>
        </p:txBody>
      </p:sp>
      <p:sp>
        <p:nvSpPr>
          <p:cNvPr id="8" name="Text 5"/>
          <p:cNvSpPr txBox="1"/>
          <p:nvPr/>
        </p:nvSpPr>
        <p:spPr>
          <a:xfrm>
            <a:off x="1280160" y="1975104"/>
            <a:ext cx="4297680" cy="920115"/>
          </a:xfrm>
          <a:prstGeom prst="rect">
            <a:avLst/>
          </a:prstGeom>
          <a:noFill/>
          <a:ln/>
        </p:spPr>
        <p:txBody>
          <a:bodyPr wrap="square" lIns="0" tIns="0" rIns="0" bIns="0" rtlCol="0" anchor="t"/>
          <a:lstStyle/>
          <a:p>
            <a:pPr indent="0" marL="0">
              <a:buNone/>
            </a:pPr>
            <a:r>
              <a:rPr lang="es-PE" sz="1300" dirty="0">
                <a:solidFill>
                  <a:schemeClr val="tx2"/>
                </a:solidFill>
              </a:rPr>
              <a:t>Estado con un modificador opcional (inicial o final), acciones al entrar y transiciones.</a:t>
            </a:r>
            <a:endParaRPr lang="es-PE" sz="1300" dirty="0"/>
          </a:p>
        </p:txBody>
      </p:sp>
      <p:sp>
        <p:nvSpPr>
          <p:cNvPr id="9" name="Código"/>
          <p:cNvSpPr txBox="1"/>
          <p:nvPr/>
        </p:nvSpPr>
        <p:spPr>
          <a:xfrm>
            <a:off x="5669280" y="1650492"/>
            <a:ext cx="5833872" cy="1185291"/>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Saltando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al_entrar</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bg1"/>
                </a:solidFill>
                <a:latin typeface="Consolas" pitchFamily="34" charset="0"/>
                <a:ea typeface="Consolas" pitchFamily="34" charset="-122"/>
                <a:cs typeface="Consolas" pitchFamily="34" charset="-120"/>
              </a:rPr>
              <a:t>y</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bg1"/>
                </a:solidFill>
                <a:latin typeface="Consolas" pitchFamily="34" charset="0"/>
                <a:ea typeface="Consolas" pitchFamily="34" charset="-122"/>
                <a:cs typeface="Consolas" pitchFamily="34" charset="-120"/>
              </a:rPr>
              <a:t>y</a:t>
            </a:r>
            <a:r>
              <a:rPr lang="es-PE" sz="1300" dirty="0">
                <a:solidFill>
                  <a:schemeClr val="bg1"/>
                </a:solidFill>
                <a:latin typeface="Consolas" pitchFamily="34" charset="0"/>
                <a:ea typeface="Consolas" pitchFamily="34" charset="-122"/>
                <a:cs typeface="Consolas" pitchFamily="34" charset="-120"/>
              </a:rPr>
              <a:t> + 2.5; }</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recibir_golpe</a:t>
            </a:r>
            <a:r>
              <a:rPr lang="es-PE" sz="1300" dirty="0">
                <a:solidFill>
                  <a:schemeClr val="bg1"/>
                </a:solidFill>
                <a:latin typeface="Consolas" pitchFamily="34" charset="0"/>
                <a:ea typeface="Consolas" pitchFamily="34" charset="-122"/>
                <a:cs typeface="Consolas" pitchFamily="34" charset="-120"/>
              </a:rPr>
              <a:t> -&gt; Aturdido;</a:t>
            </a:r>
            <a:endParaRPr lang="es-PE" sz="1300" dirty="0"/>
          </a:p>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10" name="Tarjeta"/>
          <p:cNvSpPr/>
          <p:nvPr/>
        </p:nvSpPr>
        <p:spPr>
          <a:xfrm>
            <a:off x="548640" y="3023235"/>
            <a:ext cx="11091672" cy="822960"/>
          </a:xfrm>
          <a:prstGeom prst="rect">
            <a:avLst/>
          </a:prstGeom>
          <a:solidFill>
            <a:schemeClr val="bg2"/>
          </a:solidFill>
          <a:ln w="12700">
            <a:solidFill>
              <a:schemeClr val="bg2"/>
            </a:solidFill>
            <a:prstDash val="solid"/>
          </a:ln>
        </p:spPr>
      </p:sp>
      <p:sp>
        <p:nvSpPr>
          <p:cNvPr id="11" name="Número 5"/>
          <p:cNvSpPr txBox="1"/>
          <p:nvPr/>
        </p:nvSpPr>
        <p:spPr>
          <a:xfrm>
            <a:off x="731520" y="31695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5</a:t>
            </a:r>
            <a:endParaRPr lang="es-PE" sz="1500" dirty="0"/>
          </a:p>
        </p:txBody>
      </p:sp>
      <p:sp>
        <p:nvSpPr>
          <p:cNvPr id="12" name="Text 9"/>
          <p:cNvSpPr txBox="1"/>
          <p:nvPr/>
        </p:nvSpPr>
        <p:spPr>
          <a:xfrm>
            <a:off x="1280160" y="31329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Transiciones</a:t>
            </a:r>
            <a:r>
              <a:rPr lang="es-PE" sz="1200" dirty="0">
                <a:solidFill>
                  <a:schemeClr val="accent5"/>
                </a:solidFill>
                <a:latin typeface="Consolas" pitchFamily="34" charset="0"/>
                <a:ea typeface="Consolas" pitchFamily="34" charset="-122"/>
                <a:cs typeface="Consolas" pitchFamily="34" charset="-120"/>
              </a:rPr>
              <a:t>   ejemplo 5.2</a:t>
            </a:r>
            <a:endParaRPr lang="es-PE" sz="1700" dirty="0"/>
          </a:p>
        </p:txBody>
      </p:sp>
      <p:sp>
        <p:nvSpPr>
          <p:cNvPr id="13" name="Text 10"/>
          <p:cNvSpPr txBox="1"/>
          <p:nvPr/>
        </p:nvSpPr>
        <p:spPr>
          <a:xfrm>
            <a:off x="1280160" y="3443859"/>
            <a:ext cx="4297680" cy="365760"/>
          </a:xfrm>
          <a:prstGeom prst="rect">
            <a:avLst/>
          </a:prstGeom>
          <a:noFill/>
          <a:ln/>
        </p:spPr>
        <p:txBody>
          <a:bodyPr wrap="square" lIns="0" tIns="0" rIns="0" bIns="0" rtlCol="0" anchor="t"/>
          <a:lstStyle/>
          <a:p>
            <a:pPr indent="0" marL="0">
              <a:buNone/>
            </a:pPr>
            <a:r>
              <a:rPr lang="es-PE" sz="1300" dirty="0">
                <a:solidFill>
                  <a:schemeClr val="tx2"/>
                </a:solidFill>
              </a:rPr>
              <a:t>Evento que la dispara, guarda opcional con si y estado destino.</a:t>
            </a:r>
            <a:endParaRPr lang="es-PE" sz="1300" dirty="0"/>
          </a:p>
        </p:txBody>
      </p:sp>
      <p:sp>
        <p:nvSpPr>
          <p:cNvPr id="14" name="Código"/>
          <p:cNvSpPr txBox="1"/>
          <p:nvPr/>
        </p:nvSpPr>
        <p:spPr>
          <a:xfrm>
            <a:off x="5669280" y="32284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fin_aturdimiento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&lt;= 0 -&gt; Derrotado;</a:t>
            </a:r>
            <a:endParaRPr lang="es-PE" sz="1300" dirty="0"/>
          </a:p>
        </p:txBody>
      </p:sp>
      <p:sp>
        <p:nvSpPr>
          <p:cNvPr id="15" name="Tarjeta"/>
          <p:cNvSpPr/>
          <p:nvPr/>
        </p:nvSpPr>
        <p:spPr>
          <a:xfrm>
            <a:off x="548640" y="3937635"/>
            <a:ext cx="11091672" cy="822960"/>
          </a:xfrm>
          <a:prstGeom prst="rect">
            <a:avLst/>
          </a:prstGeom>
          <a:solidFill>
            <a:schemeClr val="bg2"/>
          </a:solidFill>
          <a:ln w="12700">
            <a:solidFill>
              <a:schemeClr val="bg2"/>
            </a:solidFill>
            <a:prstDash val="solid"/>
          </a:ln>
        </p:spPr>
      </p:sp>
      <p:sp>
        <p:nvSpPr>
          <p:cNvPr id="16" name="Número 6"/>
          <p:cNvSpPr txBox="1"/>
          <p:nvPr/>
        </p:nvSpPr>
        <p:spPr>
          <a:xfrm>
            <a:off x="731520" y="40839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6</a:t>
            </a:r>
            <a:endParaRPr lang="es-PE" sz="1500" dirty="0"/>
          </a:p>
        </p:txBody>
      </p:sp>
      <p:sp>
        <p:nvSpPr>
          <p:cNvPr id="17" name="Text 14"/>
          <p:cNvSpPr txBox="1"/>
          <p:nvPr/>
        </p:nvSpPr>
        <p:spPr>
          <a:xfrm>
            <a:off x="1280160" y="40473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Acciones</a:t>
            </a:r>
            <a:r>
              <a:rPr lang="es-PE" sz="1200" dirty="0">
                <a:solidFill>
                  <a:schemeClr val="accent5"/>
                </a:solidFill>
                <a:latin typeface="Consolas" pitchFamily="34" charset="0"/>
                <a:ea typeface="Consolas" pitchFamily="34" charset="-122"/>
                <a:cs typeface="Consolas" pitchFamily="34" charset="-120"/>
              </a:rPr>
              <a:t>   ejemplo 6.3</a:t>
            </a:r>
            <a:endParaRPr lang="es-PE" sz="1700" dirty="0"/>
          </a:p>
        </p:txBody>
      </p:sp>
      <p:sp>
        <p:nvSpPr>
          <p:cNvPr id="18" name="Text 15"/>
          <p:cNvSpPr txBox="1"/>
          <p:nvPr/>
        </p:nvSpPr>
        <p:spPr>
          <a:xfrm>
            <a:off x="1280160" y="4358259"/>
            <a:ext cx="4297680" cy="365760"/>
          </a:xfrm>
          <a:prstGeom prst="rect">
            <a:avLst/>
          </a:prstGeom>
          <a:noFill/>
          <a:ln/>
        </p:spPr>
        <p:txBody>
          <a:bodyPr wrap="square" lIns="0" tIns="0" rIns="0" bIns="0" rtlCol="0" anchor="t"/>
          <a:lstStyle/>
          <a:p>
            <a:pPr indent="0" marL="0">
              <a:buNone/>
            </a:pPr>
            <a:r>
              <a:rPr lang="es-PE" sz="1300" dirty="0">
                <a:solidFill>
                  <a:schemeClr val="tx2"/>
                </a:solidFill>
              </a:rPr>
              <a:t>Asignación a un atributo y selección si con sino opcional.</a:t>
            </a:r>
            <a:endParaRPr lang="es-PE" sz="1300" dirty="0"/>
          </a:p>
        </p:txBody>
      </p:sp>
      <p:sp>
        <p:nvSpPr>
          <p:cNvPr id="19" name="Código"/>
          <p:cNvSpPr txBox="1"/>
          <p:nvPr/>
        </p:nvSpPr>
        <p:spPr>
          <a:xfrm>
            <a:off x="5669280" y="41428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&lt; 50 { </a:t>
            </a:r>
            <a:r>
              <a:rPr lang="es-PE" sz="1300" dirty="0">
                <a:solidFill>
                  <a:schemeClr val="bg1"/>
                </a:solidFill>
                <a:latin typeface="Consolas" pitchFamily="34" charset="0"/>
                <a:ea typeface="Consolas" pitchFamily="34" charset="-122"/>
                <a:cs typeface="Consolas" pitchFamily="34" charset="-120"/>
              </a:rPr>
              <a:t>velocidad</a:t>
            </a:r>
            <a:r>
              <a:rPr lang="es-PE" sz="1300" dirty="0">
                <a:solidFill>
                  <a:schemeClr val="bg1"/>
                </a:solidFill>
                <a:latin typeface="Consolas" pitchFamily="34" charset="0"/>
                <a:ea typeface="Consolas" pitchFamily="34" charset="-122"/>
                <a:cs typeface="Consolas" pitchFamily="34" charset="-120"/>
              </a:rPr>
              <a:t> = 1.0; }</a:t>
            </a:r>
            <a:endParaRPr lang="es-PE" sz="1300" dirty="0"/>
          </a:p>
        </p:txBody>
      </p:sp>
      <p:sp>
        <p:nvSpPr>
          <p:cNvPr id="20" name="Tarjeta"/>
          <p:cNvSpPr/>
          <p:nvPr/>
        </p:nvSpPr>
        <p:spPr>
          <a:xfrm>
            <a:off x="548640" y="4852035"/>
            <a:ext cx="11091672" cy="822960"/>
          </a:xfrm>
          <a:prstGeom prst="rect">
            <a:avLst/>
          </a:prstGeom>
          <a:solidFill>
            <a:schemeClr val="bg2"/>
          </a:solidFill>
          <a:ln w="12700">
            <a:solidFill>
              <a:schemeClr val="bg2"/>
            </a:solidFill>
            <a:prstDash val="solid"/>
          </a:ln>
        </p:spPr>
      </p:sp>
      <p:sp>
        <p:nvSpPr>
          <p:cNvPr id="21" name="Número 7"/>
          <p:cNvSpPr txBox="1"/>
          <p:nvPr/>
        </p:nvSpPr>
        <p:spPr>
          <a:xfrm>
            <a:off x="731520" y="4998339"/>
            <a:ext cx="384048" cy="384048"/>
          </a:xfrm>
          <a:prstGeom prst="rect">
            <a:avLst/>
          </a:prstGeom>
          <a:solidFill>
            <a:schemeClr val="accent1"/>
          </a:solidFill>
          <a:ln/>
        </p:spPr>
        <p:txBody>
          <a:bodyPr wrap="square" lIns="0" tIns="0" rIns="0" bIns="0" rtlCol="0" anchor="ctr"/>
          <a:lstStyle/>
          <a:p>
            <a:pPr algn="ctr" indent="0" marL="0">
              <a:buNone/>
            </a:pPr>
            <a:r>
              <a:rPr lang="es-PE" sz="1500" b="1" dirty="0">
                <a:solidFill>
                  <a:schemeClr val="bg1"/>
                </a:solidFill>
                <a:latin typeface="Consolas" pitchFamily="34" charset="0"/>
                <a:ea typeface="Consolas" pitchFamily="34" charset="-122"/>
                <a:cs typeface="Consolas" pitchFamily="34" charset="-120"/>
              </a:rPr>
              <a:t>7</a:t>
            </a:r>
            <a:endParaRPr lang="es-PE" sz="1500" dirty="0"/>
          </a:p>
        </p:txBody>
      </p:sp>
      <p:sp>
        <p:nvSpPr>
          <p:cNvPr id="22" name="Text 19"/>
          <p:cNvSpPr txBox="1"/>
          <p:nvPr/>
        </p:nvSpPr>
        <p:spPr>
          <a:xfrm>
            <a:off x="1280160" y="4961763"/>
            <a:ext cx="4297680" cy="310896"/>
          </a:xfrm>
          <a:prstGeom prst="rect">
            <a:avLst/>
          </a:prstGeom>
          <a:noFill/>
          <a:ln/>
        </p:spPr>
        <p:txBody>
          <a:bodyPr wrap="square" lIns="0" tIns="0" rIns="0" bIns="0" rtlCol="0" anchor="t"/>
          <a:lstStyle/>
          <a:p>
            <a:pPr indent="0" marL="0">
              <a:buNone/>
            </a:pPr>
            <a:r>
              <a:rPr lang="es-PE" sz="1700" b="1" dirty="0">
                <a:solidFill>
                  <a:schemeClr val="tx1"/>
                </a:solidFill>
              </a:rPr>
              <a:t>Expresiones</a:t>
            </a:r>
            <a:r>
              <a:rPr lang="es-PE" sz="1200" dirty="0">
                <a:solidFill>
                  <a:schemeClr val="accent5"/>
                </a:solidFill>
                <a:latin typeface="Consolas" pitchFamily="34" charset="0"/>
                <a:ea typeface="Consolas" pitchFamily="34" charset="-122"/>
                <a:cs typeface="Consolas" pitchFamily="34" charset="-120"/>
              </a:rPr>
              <a:t>   ejemplo 7.4</a:t>
            </a:r>
            <a:endParaRPr lang="es-PE" sz="1700" dirty="0"/>
          </a:p>
        </p:txBody>
      </p:sp>
      <p:sp>
        <p:nvSpPr>
          <p:cNvPr id="23" name="Text 20"/>
          <p:cNvSpPr txBox="1"/>
          <p:nvPr/>
        </p:nvSpPr>
        <p:spPr>
          <a:xfrm>
            <a:off x="1280160" y="5272659"/>
            <a:ext cx="4297680" cy="365760"/>
          </a:xfrm>
          <a:prstGeom prst="rect">
            <a:avLst/>
          </a:prstGeom>
          <a:noFill/>
          <a:ln/>
        </p:spPr>
        <p:txBody>
          <a:bodyPr wrap="square" lIns="0" tIns="0" rIns="0" bIns="0" rtlCol="0" anchor="t"/>
          <a:lstStyle/>
          <a:p>
            <a:pPr indent="0" marL="0">
              <a:buNone/>
            </a:pPr>
            <a:r>
              <a:rPr lang="es-PE" sz="1300" dirty="0">
                <a:solidFill>
                  <a:schemeClr val="tx2"/>
                </a:solidFill>
              </a:rPr>
              <a:t>Operaciones lógicas, relacionales y aritméticas con precedencia.</a:t>
            </a:r>
            <a:endParaRPr lang="es-PE" sz="1300" dirty="0"/>
          </a:p>
        </p:txBody>
      </p:sp>
      <p:sp>
        <p:nvSpPr>
          <p:cNvPr id="24" name="Código"/>
          <p:cNvSpPr txBox="1"/>
          <p:nvPr/>
        </p:nvSpPr>
        <p:spPr>
          <a:xfrm>
            <a:off x="5669280" y="5057204"/>
            <a:ext cx="5833872" cy="412623"/>
          </a:xfrm>
          <a:prstGeom prst="rect">
            <a:avLst/>
          </a:prstGeom>
          <a:solidFill>
            <a:schemeClr val="accent3"/>
          </a:solidFill>
          <a:ln/>
        </p:spPr>
        <p:txBody>
          <a:bodyPr wrap="square" lIns="76200" tIns="127000" rIns="127000" bIns="76200" rtlCol="0" anchor="ctr"/>
          <a:lstStyle/>
          <a:p>
            <a:pPr indent="0" marL="0">
              <a:lnSpc>
                <a:spcPct val="100000"/>
              </a:lnSpc>
              <a:buNone/>
            </a:pPr>
            <a:r>
              <a:rPr lang="es-PE" sz="1300" dirty="0">
                <a:solidFill>
                  <a:schemeClr val="bg1"/>
                </a:solidFill>
                <a:latin typeface="Consolas" pitchFamily="34" charset="0"/>
                <a:ea typeface="Consolas" pitchFamily="34" charset="-122"/>
                <a:cs typeface="Consolas" pitchFamily="34" charset="-120"/>
              </a:rPr>
              <a:t>municion</a:t>
            </a:r>
            <a:r>
              <a:rPr lang="es-PE" sz="1300" dirty="0">
                <a:solidFill>
                  <a:schemeClr val="bg1"/>
                </a:solidFill>
                <a:latin typeface="Consolas" pitchFamily="34" charset="0"/>
                <a:ea typeface="Consolas" pitchFamily="34" charset="-122"/>
                <a:cs typeface="Consolas" pitchFamily="34" charset="-120"/>
              </a:rPr>
              <a:t> &gt; 0 &amp;&amp; </a:t>
            </a:r>
            <a:r>
              <a:rPr lang="es-PE" sz="1300" dirty="0">
                <a:solidFill>
                  <a:schemeClr val="bg1"/>
                </a:solidFill>
                <a:latin typeface="Consolas" pitchFamily="34" charset="0"/>
                <a:ea typeface="Consolas" pitchFamily="34" charset="-122"/>
                <a:cs typeface="Consolas" pitchFamily="34" charset="-120"/>
              </a:rPr>
              <a:t>escudo</a:t>
            </a:r>
            <a:r>
              <a:rPr lang="es-PE" sz="1300" dirty="0">
                <a:solidFill>
                  <a:schemeClr val="bg1"/>
                </a:solidFill>
                <a:latin typeface="Consolas" pitchFamily="34" charset="0"/>
                <a:ea typeface="Consolas" pitchFamily="34" charset="-122"/>
                <a:cs typeface="Consolas" pitchFamily="34" charset="-120"/>
              </a:rPr>
              <a:t> != </a:t>
            </a:r>
            <a:r>
              <a:rPr lang="es-PE" sz="1300" dirty="0">
                <a:solidFill>
                  <a:schemeClr val="accent4"/>
                </a:solidFill>
                <a:latin typeface="Consolas" pitchFamily="34" charset="0"/>
                <a:ea typeface="Consolas" pitchFamily="34" charset="-122"/>
                <a:cs typeface="Consolas" pitchFamily="34" charset="-120"/>
              </a:rPr>
              <a:t>verdadero</a:t>
            </a:r>
            <a:endParaRPr lang="es-PE" sz="1300" dirty="0"/>
          </a:p>
        </p:txBody>
      </p:sp>
      <p:sp>
        <p:nvSpPr>
          <p:cNvPr id="25" name="Número 35"/>
          <p:cNvSpPr txBox="1"/>
          <p:nvPr/>
        </p:nvSpPr>
        <p:spPr>
          <a:xfrm>
            <a:off x="548640" y="5857875"/>
            <a:ext cx="384048" cy="384048"/>
          </a:xfrm>
          <a:prstGeom prst="rect">
            <a:avLst/>
          </a:prstGeom>
          <a:solidFill>
            <a:schemeClr val="accent4"/>
          </a:solidFill>
          <a:ln/>
        </p:spPr>
        <p:txBody>
          <a:bodyPr wrap="square" lIns="0" tIns="0" rIns="0" bIns="0" rtlCol="0" anchor="ctr"/>
          <a:lstStyle/>
          <a:p>
            <a:pPr algn="ctr" indent="0" marL="0">
              <a:buNone/>
            </a:pPr>
            <a:r>
              <a:rPr lang="es-PE" sz="1500" b="1" dirty="0">
                <a:solidFill>
                  <a:schemeClr val="tx1"/>
                </a:solidFill>
                <a:latin typeface="Consolas" pitchFamily="34" charset="0"/>
                <a:ea typeface="Consolas" pitchFamily="34" charset="-122"/>
                <a:cs typeface="Consolas" pitchFamily="34" charset="-120"/>
              </a:rPr>
              <a:t>35</a:t>
            </a:r>
            <a:endParaRPr lang="es-PE" sz="1500" dirty="0"/>
          </a:p>
        </p:txBody>
      </p:sp>
      <p:sp>
        <p:nvSpPr>
          <p:cNvPr id="26" name="Text 23"/>
          <p:cNvSpPr txBox="1"/>
          <p:nvPr/>
        </p:nvSpPr>
        <p:spPr>
          <a:xfrm>
            <a:off x="1097280" y="5857875"/>
            <a:ext cx="10543032" cy="384048"/>
          </a:xfrm>
          <a:prstGeom prst="rect">
            <a:avLst/>
          </a:prstGeom>
          <a:noFill/>
          <a:ln/>
        </p:spPr>
        <p:txBody>
          <a:bodyPr wrap="square" lIns="0" tIns="0" rIns="0" bIns="0" rtlCol="0" anchor="ctr"/>
          <a:lstStyle/>
          <a:p>
            <a:pPr indent="0" marL="0">
              <a:buNone/>
            </a:pPr>
            <a:r>
              <a:rPr lang="es-PE" sz="1500" dirty="0">
                <a:solidFill>
                  <a:schemeClr val="tx1"/>
                </a:solidFill>
              </a:rPr>
              <a:t>ejemplos en total, cinco por construcción (Apéndice A del informe). El parser los acepta todos.</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7</a:t>
            </a:fld>
            <a:endParaRPr lang="es-P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léxico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43 tokens definidos con expresiones regulares</a:t>
            </a:r>
            <a:endParaRPr lang="es-PE" sz="2800" dirty="0"/>
          </a:p>
        </p:txBody>
      </p:sp>
      <p:sp>
        <p:nvSpPr>
          <p:cNvPr id="5" name="Tarjeta"/>
          <p:cNvSpPr/>
          <p:nvPr/>
        </p:nvSpPr>
        <p:spPr>
          <a:xfrm>
            <a:off x="548640" y="1600200"/>
            <a:ext cx="4069080" cy="640080"/>
          </a:xfrm>
          <a:prstGeom prst="rect">
            <a:avLst/>
          </a:prstGeom>
          <a:solidFill>
            <a:schemeClr val="bg2"/>
          </a:solidFill>
          <a:ln w="12700">
            <a:solidFill>
              <a:schemeClr val="bg2"/>
            </a:solidFill>
            <a:prstDash val="solid"/>
          </a:ln>
        </p:spPr>
      </p:sp>
      <p:sp>
        <p:nvSpPr>
          <p:cNvPr id="6" name="Text 3"/>
          <p:cNvSpPr txBox="1"/>
          <p:nvPr/>
        </p:nvSpPr>
        <p:spPr>
          <a:xfrm>
            <a:off x="731520" y="160020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10</a:t>
            </a:r>
            <a:endParaRPr lang="es-PE" sz="2600" dirty="0"/>
          </a:p>
        </p:txBody>
      </p:sp>
      <p:sp>
        <p:nvSpPr>
          <p:cNvPr id="7" name="Text 4"/>
          <p:cNvSpPr txBox="1"/>
          <p:nvPr/>
        </p:nvSpPr>
        <p:spPr>
          <a:xfrm>
            <a:off x="1508760" y="1600200"/>
            <a:ext cx="3017520" cy="640080"/>
          </a:xfrm>
          <a:prstGeom prst="rect">
            <a:avLst/>
          </a:prstGeom>
          <a:noFill/>
          <a:ln/>
        </p:spPr>
        <p:txBody>
          <a:bodyPr wrap="square" lIns="0" tIns="0" rIns="0" bIns="0" rtlCol="0" anchor="ctr"/>
          <a:lstStyle/>
          <a:p>
            <a:pPr indent="0" marL="0">
              <a:buNone/>
            </a:pPr>
            <a:r>
              <a:rPr lang="es-PE" sz="1500" dirty="0">
                <a:solidFill>
                  <a:schemeClr val="tx1"/>
                </a:solidFill>
              </a:rPr>
              <a:t>palabras reservadas</a:t>
            </a:r>
            <a:endParaRPr lang="es-PE" sz="1500" dirty="0"/>
          </a:p>
        </p:txBody>
      </p:sp>
      <p:sp>
        <p:nvSpPr>
          <p:cNvPr id="8" name="Tarjeta"/>
          <p:cNvSpPr/>
          <p:nvPr/>
        </p:nvSpPr>
        <p:spPr>
          <a:xfrm>
            <a:off x="548640" y="2331720"/>
            <a:ext cx="4069080" cy="640080"/>
          </a:xfrm>
          <a:prstGeom prst="rect">
            <a:avLst/>
          </a:prstGeom>
          <a:solidFill>
            <a:schemeClr val="bg2"/>
          </a:solidFill>
          <a:ln w="12700">
            <a:solidFill>
              <a:schemeClr val="bg2"/>
            </a:solidFill>
            <a:prstDash val="solid"/>
          </a:ln>
        </p:spPr>
      </p:sp>
      <p:sp>
        <p:nvSpPr>
          <p:cNvPr id="9" name="Text 6"/>
          <p:cNvSpPr txBox="1"/>
          <p:nvPr/>
        </p:nvSpPr>
        <p:spPr>
          <a:xfrm>
            <a:off x="731520" y="233172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5</a:t>
            </a:r>
            <a:endParaRPr lang="es-PE" sz="2600" dirty="0"/>
          </a:p>
        </p:txBody>
      </p:sp>
      <p:sp>
        <p:nvSpPr>
          <p:cNvPr id="10" name="Text 7"/>
          <p:cNvSpPr txBox="1"/>
          <p:nvPr/>
        </p:nvSpPr>
        <p:spPr>
          <a:xfrm>
            <a:off x="1508760" y="2331720"/>
            <a:ext cx="3017520" cy="640080"/>
          </a:xfrm>
          <a:prstGeom prst="rect">
            <a:avLst/>
          </a:prstGeom>
          <a:noFill/>
          <a:ln/>
        </p:spPr>
        <p:txBody>
          <a:bodyPr wrap="square" lIns="0" tIns="0" rIns="0" bIns="0" rtlCol="0" anchor="ctr"/>
          <a:lstStyle/>
          <a:p>
            <a:pPr indent="0" marL="0">
              <a:buNone/>
            </a:pPr>
            <a:r>
              <a:rPr lang="es-PE" sz="1500" dirty="0">
                <a:solidFill>
                  <a:schemeClr val="tx1"/>
                </a:solidFill>
              </a:rPr>
              <a:t>tipos y valores lógicos</a:t>
            </a:r>
            <a:endParaRPr lang="es-PE" sz="1500" dirty="0"/>
          </a:p>
        </p:txBody>
      </p:sp>
      <p:sp>
        <p:nvSpPr>
          <p:cNvPr id="11" name="Tarjeta"/>
          <p:cNvSpPr/>
          <p:nvPr/>
        </p:nvSpPr>
        <p:spPr>
          <a:xfrm>
            <a:off x="548640" y="3063240"/>
            <a:ext cx="4069080" cy="640080"/>
          </a:xfrm>
          <a:prstGeom prst="rect">
            <a:avLst/>
          </a:prstGeom>
          <a:solidFill>
            <a:schemeClr val="bg2"/>
          </a:solidFill>
          <a:ln w="12700">
            <a:solidFill>
              <a:schemeClr val="bg2"/>
            </a:solidFill>
            <a:prstDash val="solid"/>
          </a:ln>
        </p:spPr>
      </p:sp>
      <p:sp>
        <p:nvSpPr>
          <p:cNvPr id="12" name="Text 9"/>
          <p:cNvSpPr txBox="1"/>
          <p:nvPr/>
        </p:nvSpPr>
        <p:spPr>
          <a:xfrm>
            <a:off x="731520" y="306324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15</a:t>
            </a:r>
            <a:endParaRPr lang="es-PE" sz="2600" dirty="0"/>
          </a:p>
        </p:txBody>
      </p:sp>
      <p:sp>
        <p:nvSpPr>
          <p:cNvPr id="13" name="Text 10"/>
          <p:cNvSpPr txBox="1"/>
          <p:nvPr/>
        </p:nvSpPr>
        <p:spPr>
          <a:xfrm>
            <a:off x="1508760" y="3063240"/>
            <a:ext cx="3017520" cy="640080"/>
          </a:xfrm>
          <a:prstGeom prst="rect">
            <a:avLst/>
          </a:prstGeom>
          <a:noFill/>
          <a:ln/>
        </p:spPr>
        <p:txBody>
          <a:bodyPr wrap="square" lIns="0" tIns="0" rIns="0" bIns="0" rtlCol="0" anchor="ctr"/>
          <a:lstStyle/>
          <a:p>
            <a:pPr indent="0" marL="0">
              <a:buNone/>
            </a:pPr>
            <a:r>
              <a:rPr lang="es-PE" sz="1500" dirty="0">
                <a:solidFill>
                  <a:schemeClr val="tx1"/>
                </a:solidFill>
              </a:rPr>
              <a:t>operadores</a:t>
            </a:r>
            <a:endParaRPr lang="es-PE" sz="1500" dirty="0"/>
          </a:p>
        </p:txBody>
      </p:sp>
      <p:sp>
        <p:nvSpPr>
          <p:cNvPr id="14" name="Tarjeta"/>
          <p:cNvSpPr/>
          <p:nvPr/>
        </p:nvSpPr>
        <p:spPr>
          <a:xfrm>
            <a:off x="548640" y="3794760"/>
            <a:ext cx="4069080" cy="640080"/>
          </a:xfrm>
          <a:prstGeom prst="rect">
            <a:avLst/>
          </a:prstGeom>
          <a:solidFill>
            <a:schemeClr val="bg2"/>
          </a:solidFill>
          <a:ln w="12700">
            <a:solidFill>
              <a:schemeClr val="bg2"/>
            </a:solidFill>
            <a:prstDash val="solid"/>
          </a:ln>
        </p:spPr>
      </p:sp>
      <p:sp>
        <p:nvSpPr>
          <p:cNvPr id="15" name="Text 12"/>
          <p:cNvSpPr txBox="1"/>
          <p:nvPr/>
        </p:nvSpPr>
        <p:spPr>
          <a:xfrm>
            <a:off x="731520" y="379476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7</a:t>
            </a:r>
            <a:endParaRPr lang="es-PE" sz="2600" dirty="0"/>
          </a:p>
        </p:txBody>
      </p:sp>
      <p:sp>
        <p:nvSpPr>
          <p:cNvPr id="16" name="Text 13"/>
          <p:cNvSpPr txBox="1"/>
          <p:nvPr/>
        </p:nvSpPr>
        <p:spPr>
          <a:xfrm>
            <a:off x="1508760" y="3794760"/>
            <a:ext cx="3017520" cy="640080"/>
          </a:xfrm>
          <a:prstGeom prst="rect">
            <a:avLst/>
          </a:prstGeom>
          <a:noFill/>
          <a:ln/>
        </p:spPr>
        <p:txBody>
          <a:bodyPr wrap="square" lIns="0" tIns="0" rIns="0" bIns="0" rtlCol="0" anchor="ctr"/>
          <a:lstStyle/>
          <a:p>
            <a:pPr indent="0" marL="0">
              <a:buNone/>
            </a:pPr>
            <a:r>
              <a:rPr lang="es-PE" sz="1500" dirty="0">
                <a:solidFill>
                  <a:schemeClr val="tx1"/>
                </a:solidFill>
              </a:rPr>
              <a:t>signos de puntuación</a:t>
            </a:r>
            <a:endParaRPr lang="es-PE" sz="1500" dirty="0"/>
          </a:p>
        </p:txBody>
      </p:sp>
      <p:sp>
        <p:nvSpPr>
          <p:cNvPr id="17" name="Tarjeta"/>
          <p:cNvSpPr/>
          <p:nvPr/>
        </p:nvSpPr>
        <p:spPr>
          <a:xfrm>
            <a:off x="548640" y="4526280"/>
            <a:ext cx="4069080" cy="640080"/>
          </a:xfrm>
          <a:prstGeom prst="rect">
            <a:avLst/>
          </a:prstGeom>
          <a:solidFill>
            <a:schemeClr val="bg2"/>
          </a:solidFill>
          <a:ln w="12700">
            <a:solidFill>
              <a:schemeClr val="bg2"/>
            </a:solidFill>
            <a:prstDash val="solid"/>
          </a:ln>
        </p:spPr>
      </p:sp>
      <p:sp>
        <p:nvSpPr>
          <p:cNvPr id="18" name="Text 15"/>
          <p:cNvSpPr txBox="1"/>
          <p:nvPr/>
        </p:nvSpPr>
        <p:spPr>
          <a:xfrm>
            <a:off x="731520" y="4526280"/>
            <a:ext cx="731520" cy="640080"/>
          </a:xfrm>
          <a:prstGeom prst="rect">
            <a:avLst/>
          </a:prstGeom>
          <a:noFill/>
          <a:ln/>
        </p:spPr>
        <p:txBody>
          <a:bodyPr wrap="square" lIns="0" tIns="0" rIns="0" bIns="0" rtlCol="0" anchor="ctr"/>
          <a:lstStyle/>
          <a:p>
            <a:pPr indent="0" marL="0">
              <a:buNone/>
            </a:pPr>
            <a:r>
              <a:rPr lang="es-PE" sz="2600" b="1" dirty="0">
                <a:solidFill>
                  <a:schemeClr val="accent1"/>
                </a:solidFill>
                <a:latin typeface="Consolas" pitchFamily="34" charset="0"/>
                <a:ea typeface="Consolas" pitchFamily="34" charset="-122"/>
                <a:cs typeface="Consolas" pitchFamily="34" charset="-120"/>
              </a:rPr>
              <a:t>3</a:t>
            </a:r>
            <a:endParaRPr lang="es-PE" sz="2600" dirty="0"/>
          </a:p>
        </p:txBody>
      </p:sp>
      <p:sp>
        <p:nvSpPr>
          <p:cNvPr id="19" name="Text 16"/>
          <p:cNvSpPr txBox="1"/>
          <p:nvPr/>
        </p:nvSpPr>
        <p:spPr>
          <a:xfrm>
            <a:off x="1508760" y="4526280"/>
            <a:ext cx="3017520" cy="640080"/>
          </a:xfrm>
          <a:prstGeom prst="rect">
            <a:avLst/>
          </a:prstGeom>
          <a:noFill/>
          <a:ln/>
        </p:spPr>
        <p:txBody>
          <a:bodyPr wrap="square" lIns="0" tIns="0" rIns="0" bIns="0" rtlCol="0" anchor="ctr"/>
          <a:lstStyle/>
          <a:p>
            <a:pPr indent="0" marL="0">
              <a:buNone/>
            </a:pPr>
            <a:r>
              <a:rPr lang="es-PE" sz="1500" dirty="0">
                <a:solidFill>
                  <a:schemeClr val="tx1"/>
                </a:solidFill>
              </a:rPr>
              <a:t>números e identificadores</a:t>
            </a:r>
            <a:endParaRPr lang="es-PE" sz="1500" dirty="0"/>
          </a:p>
        </p:txBody>
      </p:sp>
      <p:sp>
        <p:nvSpPr>
          <p:cNvPr id="20" name="Tarjeta"/>
          <p:cNvSpPr/>
          <p:nvPr/>
        </p:nvSpPr>
        <p:spPr>
          <a:xfrm>
            <a:off x="548640" y="5257800"/>
            <a:ext cx="4069080" cy="640080"/>
          </a:xfrm>
          <a:prstGeom prst="rect">
            <a:avLst/>
          </a:prstGeom>
          <a:solidFill>
            <a:schemeClr val="bg2"/>
          </a:solidFill>
          <a:ln w="12700">
            <a:solidFill>
              <a:schemeClr val="bg2"/>
            </a:solidFill>
            <a:prstDash val="solid"/>
          </a:ln>
        </p:spPr>
      </p:sp>
      <p:sp>
        <p:nvSpPr>
          <p:cNvPr id="21" name="Text 18"/>
          <p:cNvSpPr txBox="1"/>
          <p:nvPr/>
        </p:nvSpPr>
        <p:spPr>
          <a:xfrm>
            <a:off x="731520" y="5257800"/>
            <a:ext cx="731520" cy="640080"/>
          </a:xfrm>
          <a:prstGeom prst="rect">
            <a:avLst/>
          </a:prstGeom>
          <a:noFill/>
          <a:ln/>
        </p:spPr>
        <p:txBody>
          <a:bodyPr wrap="square" lIns="0" tIns="0" rIns="0" bIns="0" rtlCol="0" anchor="ctr"/>
          <a:lstStyle/>
          <a:p>
            <a:pPr indent="0" marL="0">
              <a:buNone/>
            </a:pPr>
            <a:r>
              <a:rPr lang="es-PE" sz="2600" b="1" dirty="0">
                <a:solidFill>
                  <a:schemeClr val="accent5"/>
                </a:solidFill>
                <a:latin typeface="Consolas" pitchFamily="34" charset="0"/>
                <a:ea typeface="Consolas" pitchFamily="34" charset="-122"/>
                <a:cs typeface="Consolas" pitchFamily="34" charset="-120"/>
              </a:rPr>
              <a:t>3</a:t>
            </a:r>
            <a:endParaRPr lang="es-PE" sz="2600" dirty="0"/>
          </a:p>
        </p:txBody>
      </p:sp>
      <p:sp>
        <p:nvSpPr>
          <p:cNvPr id="22" name="Text 19"/>
          <p:cNvSpPr txBox="1"/>
          <p:nvPr/>
        </p:nvSpPr>
        <p:spPr>
          <a:xfrm>
            <a:off x="1508760" y="5257800"/>
            <a:ext cx="3017520" cy="640080"/>
          </a:xfrm>
          <a:prstGeom prst="rect">
            <a:avLst/>
          </a:prstGeom>
          <a:noFill/>
          <a:ln/>
        </p:spPr>
        <p:txBody>
          <a:bodyPr wrap="square" lIns="0" tIns="0" rIns="0" bIns="0" rtlCol="0" anchor="ctr"/>
          <a:lstStyle/>
          <a:p>
            <a:pPr indent="0" marL="0">
              <a:buNone/>
            </a:pPr>
            <a:r>
              <a:rPr lang="es-PE" sz="1500" dirty="0">
                <a:solidFill>
                  <a:schemeClr val="tx1"/>
                </a:solidFill>
              </a:rPr>
              <a:t>se descartan: comentarios y espacios</a:t>
            </a:r>
            <a:endParaRPr lang="es-PE" sz="1500" dirty="0"/>
          </a:p>
        </p:txBody>
      </p:sp>
      <p:sp>
        <p:nvSpPr>
          <p:cNvPr id="23" name="Text 20"/>
          <p:cNvSpPr txBox="1"/>
          <p:nvPr/>
        </p:nvSpPr>
        <p:spPr>
          <a:xfrm>
            <a:off x="4937760" y="1536192"/>
            <a:ext cx="6702552" cy="274320"/>
          </a:xfrm>
          <a:prstGeom prst="rect">
            <a:avLst/>
          </a:prstGeom>
          <a:noFill/>
          <a:ln/>
        </p:spPr>
        <p:txBody>
          <a:bodyPr wrap="square" lIns="0" tIns="0" rIns="0" bIns="0" rtlCol="0" anchor="t"/>
          <a:lstStyle/>
          <a:p>
            <a:pPr indent="0" marL="0">
              <a:buNone/>
            </a:pPr>
            <a:r>
              <a:rPr lang="es-PE" sz="1200" b="1" dirty="0">
                <a:solidFill>
                  <a:schemeClr val="accent5"/>
                </a:solidFill>
              </a:rPr>
              <a:t>Extracto en la forma token: lista de lexemas</a:t>
            </a:r>
            <a:endParaRPr lang="es-PE" sz="1200" dirty="0"/>
          </a:p>
        </p:txBody>
      </p:sp>
      <p:sp>
        <p:nvSpPr>
          <p:cNvPr id="24" name="Código"/>
          <p:cNvSpPr txBox="1"/>
          <p:nvPr/>
        </p:nvSpPr>
        <p:spPr>
          <a:xfrm>
            <a:off x="4937760" y="1810512"/>
            <a:ext cx="6702552" cy="1024128"/>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cuando      </a:t>
            </a:r>
            <a:r>
              <a:rPr lang="es-PE" sz="1300" b="1" dirty="0">
                <a:solidFill>
                  <a:schemeClr val="accent4"/>
                </a:solidFill>
                <a:latin typeface="Consolas" pitchFamily="34" charset="0"/>
                <a:ea typeface="Consolas" pitchFamily="34" charset="-122"/>
                <a:cs typeface="Consolas" pitchFamily="34" charset="-120"/>
              </a:rPr>
              <a:t>SI</a:t>
            </a:r>
            <a:r>
              <a:rPr lang="es-PE" sz="1300" dirty="0">
                <a:solidFill>
                  <a:schemeClr val="bg1"/>
                </a:solidFill>
                <a:latin typeface="Consolas" pitchFamily="34" charset="0"/>
                <a:ea typeface="Consolas" pitchFamily="34" charset="-122"/>
                <a:cs typeface="Consolas" pitchFamily="34" charset="-120"/>
              </a:rPr>
              <a:t>: si      </a:t>
            </a:r>
            <a:r>
              <a:rPr lang="es-PE" sz="1300" b="1" dirty="0">
                <a:solidFill>
                  <a:schemeClr val="accent4"/>
                </a:solidFill>
                <a:latin typeface="Consolas" pitchFamily="34" charset="0"/>
                <a:ea typeface="Consolas" pitchFamily="34" charset="-122"/>
                <a:cs typeface="Consolas" pitchFamily="34" charset="-120"/>
              </a:rPr>
              <a:t>FLECHA</a:t>
            </a:r>
            <a:r>
              <a:rPr lang="es-PE" sz="1300" dirty="0">
                <a:solidFill>
                  <a:schemeClr val="bg1"/>
                </a:solidFill>
                <a:latin typeface="Consolas" pitchFamily="34" charset="0"/>
                <a:ea typeface="Consolas" pitchFamily="34" charset="-122"/>
                <a:cs typeface="Consolas" pitchFamily="34" charset="-120"/>
              </a:rPr>
              <a:t>: -&gt;</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LOGICO</a:t>
            </a:r>
            <a:r>
              <a:rPr lang="es-PE" sz="1300" dirty="0">
                <a:solidFill>
                  <a:schemeClr val="bg1"/>
                </a:solidFill>
                <a:latin typeface="Consolas" pitchFamily="34" charset="0"/>
                <a:ea typeface="Consolas" pitchFamily="34" charset="-122"/>
                <a:cs typeface="Consolas" pitchFamily="34" charset="-120"/>
              </a:rPr>
              <a:t>: logico, lógico       </a:t>
            </a:r>
            <a:r>
              <a:rPr lang="es-PE" sz="1300" b="1" dirty="0">
                <a:solidFill>
                  <a:schemeClr val="accent4"/>
                </a:solidFill>
                <a:latin typeface="Consolas" pitchFamily="34" charset="0"/>
                <a:ea typeface="Consolas" pitchFamily="34" charset="-122"/>
                <a:cs typeface="Consolas" pitchFamily="34" charset="-120"/>
              </a:rPr>
              <a:t>MENOR_IGUAL</a:t>
            </a:r>
            <a:r>
              <a:rPr lang="es-PE" sz="1300" dirty="0">
                <a:solidFill>
                  <a:schemeClr val="bg1"/>
                </a:solidFill>
                <a:latin typeface="Consolas" pitchFamily="34" charset="0"/>
                <a:ea typeface="Consolas" pitchFamily="34" charset="-122"/>
                <a:cs typeface="Consolas" pitchFamily="34" charset="-120"/>
              </a:rPr>
              <a:t>: &lt;=</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NUM_REAL</a:t>
            </a:r>
            <a:r>
              <a:rPr lang="es-PE" sz="1300" dirty="0">
                <a:solidFill>
                  <a:schemeClr val="bg1"/>
                </a:solidFill>
                <a:latin typeface="Consolas" pitchFamily="34" charset="0"/>
                <a:ea typeface="Consolas" pitchFamily="34" charset="-122"/>
                <a:cs typeface="Consolas" pitchFamily="34" charset="-120"/>
              </a:rPr>
              <a:t>: [0-9]+ '.' [0-9]+</a:t>
            </a:r>
            <a:endParaRPr lang="es-PE" sz="1300" dirty="0"/>
          </a:p>
          <a:p>
            <a:pPr indent="0" marL="0">
              <a:lnSpc>
                <a:spcPct val="100000"/>
              </a:lnSpc>
              <a:buNone/>
            </a:pPr>
            <a:r>
              <a:rPr lang="es-PE" sz="1300" b="1" dirty="0">
                <a:solidFill>
                  <a:schemeClr val="accent4"/>
                </a:solidFill>
                <a:latin typeface="Consolas" pitchFamily="34" charset="0"/>
                <a:ea typeface="Consolas" pitchFamily="34" charset="-122"/>
                <a:cs typeface="Consolas" pitchFamily="34" charset="-120"/>
              </a:rPr>
              <a:t>ID</a:t>
            </a:r>
            <a:r>
              <a:rPr lang="es-PE" sz="1300" dirty="0">
                <a:solidFill>
                  <a:schemeClr val="bg1"/>
                </a:solidFill>
                <a:latin typeface="Consolas" pitchFamily="34" charset="0"/>
                <a:ea typeface="Consolas" pitchFamily="34" charset="-122"/>
                <a:cs typeface="Consolas" pitchFamily="34" charset="-120"/>
              </a:rPr>
              <a:t>: LETRA (LETRA | DIGITO)*</a:t>
            </a:r>
            <a:endParaRPr lang="es-PE" sz="1300" dirty="0"/>
          </a:p>
        </p:txBody>
      </p:sp>
      <p:sp>
        <p:nvSpPr>
          <p:cNvPr id="25" name="Text 22"/>
          <p:cNvSpPr txBox="1"/>
          <p:nvPr/>
        </p:nvSpPr>
        <p:spPr>
          <a:xfrm>
            <a:off x="4937760" y="3017520"/>
            <a:ext cx="6702552" cy="274320"/>
          </a:xfrm>
          <a:prstGeom prst="rect">
            <a:avLst/>
          </a:prstGeom>
          <a:noFill/>
          <a:ln/>
        </p:spPr>
        <p:txBody>
          <a:bodyPr wrap="square" lIns="0" tIns="0" rIns="0" bIns="0" rtlCol="0" anchor="t"/>
          <a:lstStyle/>
          <a:p>
            <a:pPr indent="0" marL="0">
              <a:buNone/>
            </a:pPr>
            <a:r>
              <a:rPr lang="es-PE" sz="1200" b="1" dirty="0">
                <a:solidFill>
                  <a:schemeClr val="accent5"/>
                </a:solidFill>
              </a:rPr>
              <a:t>Entrada y tokens</a:t>
            </a:r>
            <a:endParaRPr lang="es-PE" sz="1200" dirty="0"/>
          </a:p>
        </p:txBody>
      </p:sp>
      <p:sp>
        <p:nvSpPr>
          <p:cNvPr id="26" name="Código"/>
          <p:cNvSpPr txBox="1"/>
          <p:nvPr/>
        </p:nvSpPr>
        <p:spPr>
          <a:xfrm>
            <a:off x="4937760" y="3291840"/>
            <a:ext cx="6702552" cy="1115568"/>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daño_golpe</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entero</a:t>
            </a:r>
            <a:r>
              <a:rPr lang="es-PE" sz="1200" dirty="0">
                <a:solidFill>
                  <a:schemeClr val="bg1"/>
                </a:solidFill>
                <a:latin typeface="Consolas" pitchFamily="34" charset="0"/>
                <a:ea typeface="Consolas" pitchFamily="34" charset="-122"/>
                <a:cs typeface="Consolas" pitchFamily="34" charset="-120"/>
              </a:rPr>
              <a:t> = 25;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fin_aturdimiento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si</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vida</a:t>
            </a:r>
            <a:r>
              <a:rPr lang="es-PE" sz="1200" dirty="0">
                <a:solidFill>
                  <a:schemeClr val="bg1"/>
                </a:solidFill>
                <a:latin typeface="Consolas" pitchFamily="34" charset="0"/>
                <a:ea typeface="Consolas" pitchFamily="34" charset="-122"/>
                <a:cs typeface="Consolas" pitchFamily="34" charset="-120"/>
              </a:rPr>
              <a:t> &lt;= 0 -&gt; Derrotado; // </a:t>
            </a:r>
            <a:r>
              <a:rPr lang="es-PE" sz="1200" dirty="0">
                <a:solidFill>
                  <a:schemeClr val="bg1"/>
                </a:solidFill>
                <a:latin typeface="Consolas" pitchFamily="34" charset="0"/>
                <a:ea typeface="Consolas" pitchFamily="34" charset="-122"/>
                <a:cs typeface="Consolas" pitchFamily="34" charset="-120"/>
              </a:rPr>
              <a:t>comentario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ID DOS_PUNTOS ENTERO ASIGNA NUM_ENTERO PUNTO_COMA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CUANDO ID SI ID MENOR_IGUAL NUM_ENTERO FLECHA ID PUNTO_COMA</a:t>
            </a:r>
            <a:endParaRPr lang="es-PE" sz="1200" dirty="0"/>
          </a:p>
        </p:txBody>
      </p:sp>
      <p:sp>
        <p:nvSpPr>
          <p:cNvPr id="27" name="Regla"/>
          <p:cNvSpPr/>
          <p:nvPr/>
        </p:nvSpPr>
        <p:spPr>
          <a:xfrm>
            <a:off x="4937760" y="4617720"/>
            <a:ext cx="3214116" cy="1280160"/>
          </a:xfrm>
          <a:prstGeom prst="rect">
            <a:avLst/>
          </a:prstGeom>
          <a:solidFill>
            <a:schemeClr val="bg1"/>
          </a:solidFill>
          <a:ln w="12700">
            <a:solidFill>
              <a:schemeClr val="accent6"/>
            </a:solidFill>
            <a:prstDash val="solid"/>
          </a:ln>
        </p:spPr>
      </p:sp>
      <p:sp>
        <p:nvSpPr>
          <p:cNvPr id="28" name="Número 1"/>
          <p:cNvSpPr txBox="1"/>
          <p:nvPr/>
        </p:nvSpPr>
        <p:spPr>
          <a:xfrm>
            <a:off x="5120640" y="4782312"/>
            <a:ext cx="329184" cy="329184"/>
          </a:xfrm>
          <a:prstGeom prst="rect">
            <a:avLst/>
          </a:prstGeom>
          <a:solidFill>
            <a:schemeClr val="accent1"/>
          </a:solidFill>
          <a:ln/>
        </p:spPr>
        <p:txBody>
          <a:bodyPr wrap="square" lIns="0" tIns="0" rIns="0" bIns="0" rtlCol="0" anchor="ctr"/>
          <a:lstStyle/>
          <a:p>
            <a:pPr algn="ctr" indent="0" marL="0">
              <a:buNone/>
            </a:pPr>
            <a:r>
              <a:rPr lang="es-PE" sz="1300" b="1" dirty="0">
                <a:solidFill>
                  <a:schemeClr val="bg1"/>
                </a:solidFill>
                <a:latin typeface="Consolas" pitchFamily="34" charset="0"/>
                <a:ea typeface="Consolas" pitchFamily="34" charset="-122"/>
                <a:cs typeface="Consolas" pitchFamily="34" charset="-120"/>
              </a:rPr>
              <a:t>1</a:t>
            </a:r>
            <a:endParaRPr lang="es-PE" sz="1300" dirty="0"/>
          </a:p>
        </p:txBody>
      </p:sp>
      <p:sp>
        <p:nvSpPr>
          <p:cNvPr id="29" name="Text 26"/>
          <p:cNvSpPr txBox="1"/>
          <p:nvPr/>
        </p:nvSpPr>
        <p:spPr>
          <a:xfrm>
            <a:off x="5577840" y="4736592"/>
            <a:ext cx="2436876" cy="548640"/>
          </a:xfrm>
          <a:prstGeom prst="rect">
            <a:avLst/>
          </a:prstGeom>
          <a:noFill/>
          <a:ln/>
        </p:spPr>
        <p:txBody>
          <a:bodyPr wrap="square" lIns="0" tIns="0" rIns="0" bIns="0" rtlCol="0" anchor="t"/>
          <a:lstStyle/>
          <a:p>
            <a:pPr indent="0" marL="0">
              <a:buNone/>
            </a:pPr>
            <a:r>
              <a:rPr lang="es-PE" sz="1500" b="1" dirty="0">
                <a:solidFill>
                  <a:schemeClr val="tx1"/>
                </a:solidFill>
              </a:rPr>
              <a:t>A igual longitud, gana la primera regla</a:t>
            </a:r>
            <a:endParaRPr lang="es-PE" sz="1500" dirty="0"/>
          </a:p>
        </p:txBody>
      </p:sp>
      <p:sp>
        <p:nvSpPr>
          <p:cNvPr id="30" name="Text 27"/>
          <p:cNvSpPr txBox="1"/>
          <p:nvPr/>
        </p:nvSpPr>
        <p:spPr>
          <a:xfrm>
            <a:off x="5577840" y="5285232"/>
            <a:ext cx="2436876" cy="548640"/>
          </a:xfrm>
          <a:prstGeom prst="rect">
            <a:avLst/>
          </a:prstGeom>
          <a:noFill/>
          <a:ln/>
        </p:spPr>
        <p:txBody>
          <a:bodyPr wrap="square" lIns="0" tIns="0" rIns="0" bIns="0" rtlCol="0" anchor="t"/>
          <a:lstStyle/>
          <a:p>
            <a:pPr indent="0" marL="0">
              <a:buNone/>
            </a:pPr>
            <a:r>
              <a:rPr lang="es-PE" sz="1400" dirty="0">
                <a:solidFill>
                  <a:schemeClr val="tx2"/>
                </a:solidFill>
              </a:rPr>
              <a:t>Por eso las palabras reservadas van antes que ID.</a:t>
            </a:r>
            <a:endParaRPr lang="es-PE" sz="1400" dirty="0"/>
          </a:p>
        </p:txBody>
      </p:sp>
      <p:sp>
        <p:nvSpPr>
          <p:cNvPr id="31" name="Regla"/>
          <p:cNvSpPr/>
          <p:nvPr/>
        </p:nvSpPr>
        <p:spPr>
          <a:xfrm>
            <a:off x="8426196" y="4617720"/>
            <a:ext cx="3214116" cy="1280160"/>
          </a:xfrm>
          <a:prstGeom prst="rect">
            <a:avLst/>
          </a:prstGeom>
          <a:solidFill>
            <a:schemeClr val="bg1"/>
          </a:solidFill>
          <a:ln w="12700">
            <a:solidFill>
              <a:schemeClr val="accent6"/>
            </a:solidFill>
            <a:prstDash val="solid"/>
          </a:ln>
        </p:spPr>
      </p:sp>
      <p:sp>
        <p:nvSpPr>
          <p:cNvPr id="32" name="Número 2"/>
          <p:cNvSpPr txBox="1"/>
          <p:nvPr/>
        </p:nvSpPr>
        <p:spPr>
          <a:xfrm>
            <a:off x="8609076" y="4782312"/>
            <a:ext cx="329184" cy="329184"/>
          </a:xfrm>
          <a:prstGeom prst="rect">
            <a:avLst/>
          </a:prstGeom>
          <a:solidFill>
            <a:schemeClr val="accent1"/>
          </a:solidFill>
          <a:ln/>
        </p:spPr>
        <p:txBody>
          <a:bodyPr wrap="square" lIns="0" tIns="0" rIns="0" bIns="0" rtlCol="0" anchor="ctr"/>
          <a:lstStyle/>
          <a:p>
            <a:pPr algn="ctr" indent="0" marL="0">
              <a:buNone/>
            </a:pPr>
            <a:r>
              <a:rPr lang="es-PE" sz="1300" b="1" dirty="0">
                <a:solidFill>
                  <a:schemeClr val="bg1"/>
                </a:solidFill>
                <a:latin typeface="Consolas" pitchFamily="34" charset="0"/>
                <a:ea typeface="Consolas" pitchFamily="34" charset="-122"/>
                <a:cs typeface="Consolas" pitchFamily="34" charset="-120"/>
              </a:rPr>
              <a:t>2</a:t>
            </a:r>
            <a:endParaRPr lang="es-PE" sz="1300" dirty="0"/>
          </a:p>
        </p:txBody>
      </p:sp>
      <p:sp>
        <p:nvSpPr>
          <p:cNvPr id="33" name="Text 30"/>
          <p:cNvSpPr txBox="1"/>
          <p:nvPr/>
        </p:nvSpPr>
        <p:spPr>
          <a:xfrm>
            <a:off x="9066276" y="4736592"/>
            <a:ext cx="2436876" cy="548640"/>
          </a:xfrm>
          <a:prstGeom prst="rect">
            <a:avLst/>
          </a:prstGeom>
          <a:noFill/>
          <a:ln/>
        </p:spPr>
        <p:txBody>
          <a:bodyPr wrap="square" lIns="0" tIns="0" rIns="0" bIns="0" rtlCol="0" anchor="t"/>
          <a:lstStyle/>
          <a:p>
            <a:pPr indent="0" marL="0">
              <a:buNone/>
            </a:pPr>
            <a:r>
              <a:rPr lang="es-PE" sz="1500" b="1" dirty="0">
                <a:solidFill>
                  <a:schemeClr val="tx1"/>
                </a:solidFill>
              </a:rPr>
              <a:t>Siempre gana el lexema más largo</a:t>
            </a:r>
            <a:endParaRPr lang="es-PE" sz="1500" dirty="0"/>
          </a:p>
        </p:txBody>
      </p:sp>
      <p:sp>
        <p:nvSpPr>
          <p:cNvPr id="34" name="Text 31"/>
          <p:cNvSpPr txBox="1"/>
          <p:nvPr/>
        </p:nvSpPr>
        <p:spPr>
          <a:xfrm>
            <a:off x="9066276" y="5285232"/>
            <a:ext cx="2436876" cy="548640"/>
          </a:xfrm>
          <a:prstGeom prst="rect">
            <a:avLst/>
          </a:prstGeom>
          <a:noFill/>
          <a:ln/>
        </p:spPr>
        <p:txBody>
          <a:bodyPr wrap="square" lIns="0" tIns="0" rIns="0" bIns="0" rtlCol="0" anchor="t"/>
          <a:lstStyle/>
          <a:p>
            <a:pPr indent="0" marL="0">
              <a:buNone/>
            </a:pPr>
            <a:r>
              <a:rPr lang="es-PE" sz="1400" dirty="0">
                <a:solidFill>
                  <a:schemeClr val="tx2"/>
                </a:solidFill>
              </a:rPr>
              <a:t>siguiente es un ID y &lt;= es un solo token.</a:t>
            </a:r>
            <a:endParaRPr lang="es-PE" sz="1400" dirty="0"/>
          </a:p>
        </p:txBody>
      </p:sp>
      <p:sp>
        <p:nvSpPr>
          <p:cNvPr id="35" name="Text 32"/>
          <p:cNvSpPr txBox="1"/>
          <p:nvPr/>
        </p:nvSpPr>
        <p:spPr>
          <a:xfrm>
            <a:off x="4937760" y="5989320"/>
            <a:ext cx="6702552" cy="274320"/>
          </a:xfrm>
          <a:prstGeom prst="rect">
            <a:avLst/>
          </a:prstGeom>
          <a:noFill/>
          <a:ln/>
        </p:spPr>
        <p:txBody>
          <a:bodyPr wrap="square" lIns="0" tIns="0" rIns="0" bIns="0" rtlCol="0" anchor="t"/>
          <a:lstStyle/>
          <a:p>
            <a:pPr indent="0" marL="0">
              <a:buNone/>
            </a:pPr>
            <a:r>
              <a:rPr lang="es-PE" sz="1200" dirty="0">
                <a:solidFill>
                  <a:schemeClr val="accent5"/>
                </a:solidFill>
              </a:rPr>
              <a:t>Implementado en ANTLR4 (Parr, 2013).</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8</a:t>
            </a:fld>
            <a:endParaRPr lang="es-P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sintáctico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Una gramática libre de contexto por construcción</a:t>
            </a:r>
            <a:endParaRPr lang="es-PE" sz="2800" dirty="0"/>
          </a:p>
        </p:txBody>
      </p:sp>
      <p:sp>
        <p:nvSpPr>
          <p:cNvPr id="5" name="Tarjeta"/>
          <p:cNvSpPr/>
          <p:nvPr/>
        </p:nvSpPr>
        <p:spPr>
          <a:xfrm>
            <a:off x="548640" y="1600200"/>
            <a:ext cx="4983480" cy="2514600"/>
          </a:xfrm>
          <a:prstGeom prst="rect">
            <a:avLst/>
          </a:prstGeom>
          <a:solidFill>
            <a:schemeClr val="bg2"/>
          </a:solidFill>
          <a:ln w="12700">
            <a:solidFill>
              <a:schemeClr val="bg2"/>
            </a:solidFill>
            <a:prstDash val="solid"/>
          </a:ln>
        </p:spPr>
      </p:sp>
      <p:sp>
        <p:nvSpPr>
          <p:cNvPr id="6" name="Text 3"/>
          <p:cNvSpPr txBox="1"/>
          <p:nvPr/>
        </p:nvSpPr>
        <p:spPr>
          <a:xfrm>
            <a:off x="777240" y="1755648"/>
            <a:ext cx="4572000" cy="1051560"/>
          </a:xfrm>
          <a:prstGeom prst="rect">
            <a:avLst/>
          </a:prstGeom>
          <a:noFill/>
          <a:ln/>
        </p:spPr>
        <p:txBody>
          <a:bodyPr wrap="square" lIns="0" tIns="0" rIns="0" bIns="0" rtlCol="0" anchor="t"/>
          <a:lstStyle/>
          <a:p>
            <a:pPr indent="0" marL="0">
              <a:spcAft>
                <a:spcPts val="500"/>
              </a:spcAft>
              <a:buNone/>
            </a:pPr>
            <a:r>
              <a:rPr lang="es-PE" sz="1400" b="1" dirty="0">
                <a:solidFill>
                  <a:schemeClr val="accent1"/>
                </a:solidFill>
              </a:rPr>
              <a:t>G5. Transiciones</a:t>
            </a:r>
            <a:endParaRPr lang="es-PE" sz="1400" dirty="0"/>
          </a:p>
          <a:p>
            <a:pPr indent="0" marL="0">
              <a:spcAft>
                <a:spcPts val="500"/>
              </a:spcAft>
              <a:buNone/>
            </a:pPr>
            <a:r>
              <a:rPr lang="es-PE" sz="1700" i="1" dirty="0">
                <a:solidFill>
                  <a:schemeClr val="tx1"/>
                </a:solidFill>
              </a:rPr>
              <a:t>transicion</a:t>
            </a:r>
            <a:r>
              <a:rPr lang="es-PE" sz="1700" dirty="0">
                <a:solidFill>
                  <a:schemeClr val="tx1"/>
                </a:solidFill>
              </a:rPr>
              <a:t> → </a:t>
            </a:r>
            <a:r>
              <a:rPr lang="es-PE" sz="1700" b="1" dirty="0">
                <a:solidFill>
                  <a:schemeClr val="tx1"/>
                </a:solidFill>
              </a:rPr>
              <a:t>cuando</a:t>
            </a:r>
            <a:r>
              <a:rPr lang="es-PE" sz="1700" dirty="0">
                <a:solidFill>
                  <a:schemeClr val="tx1"/>
                </a:solidFill>
              </a:rPr>
              <a:t> </a:t>
            </a:r>
            <a:r>
              <a:rPr lang="es-PE" sz="1700" b="1" dirty="0">
                <a:solidFill>
                  <a:schemeClr val="tx1"/>
                </a:solidFill>
              </a:rPr>
              <a:t>id</a:t>
            </a:r>
            <a:r>
              <a:rPr lang="es-PE" sz="1700" dirty="0">
                <a:solidFill>
                  <a:schemeClr val="tx1"/>
                </a:solidFill>
              </a:rPr>
              <a:t> </a:t>
            </a:r>
            <a:r>
              <a:rPr lang="es-PE" sz="1700" i="1" dirty="0">
                <a:solidFill>
                  <a:schemeClr val="tx1"/>
                </a:solidFill>
              </a:rPr>
              <a:t>guarda</a:t>
            </a:r>
            <a:r>
              <a:rPr lang="es-PE" sz="1700" dirty="0">
                <a:solidFill>
                  <a:schemeClr val="tx1"/>
                </a:solidFill>
              </a:rPr>
              <a:t> </a:t>
            </a:r>
            <a:r>
              <a:rPr lang="es-PE" sz="1700" b="1" dirty="0">
                <a:solidFill>
                  <a:schemeClr val="tx1"/>
                </a:solidFill>
              </a:rPr>
              <a:t>-&gt;</a:t>
            </a:r>
            <a:r>
              <a:rPr lang="es-PE" sz="1700" dirty="0">
                <a:solidFill>
                  <a:schemeClr val="tx1"/>
                </a:solidFill>
              </a:rPr>
              <a:t> </a:t>
            </a:r>
            <a:r>
              <a:rPr lang="es-PE" sz="1700" b="1" dirty="0">
                <a:solidFill>
                  <a:schemeClr val="tx1"/>
                </a:solidFill>
              </a:rPr>
              <a:t>id</a:t>
            </a:r>
            <a:r>
              <a:rPr lang="es-PE" sz="1700" dirty="0">
                <a:solidFill>
                  <a:schemeClr val="tx1"/>
                </a:solidFill>
              </a:rPr>
              <a:t> </a:t>
            </a:r>
            <a:r>
              <a:rPr lang="es-PE" sz="1700" b="1" dirty="0">
                <a:solidFill>
                  <a:schemeClr val="tx1"/>
                </a:solidFill>
              </a:rPr>
              <a:t>;</a:t>
            </a:r>
            <a:endParaRPr lang="es-PE" sz="1400" dirty="0"/>
          </a:p>
          <a:p>
            <a:pPr indent="0" marL="0">
              <a:spcAft>
                <a:spcPts val="500"/>
              </a:spcAft>
              <a:buNone/>
            </a:pPr>
            <a:r>
              <a:rPr lang="es-PE" sz="1700" i="1" dirty="0">
                <a:solidFill>
                  <a:schemeClr val="tx1"/>
                </a:solidFill>
              </a:rPr>
              <a:t>guarda</a:t>
            </a:r>
            <a:r>
              <a:rPr lang="es-PE" sz="1700" dirty="0">
                <a:solidFill>
                  <a:schemeClr val="tx1"/>
                </a:solidFill>
              </a:rPr>
              <a:t> → </a:t>
            </a:r>
            <a:r>
              <a:rPr lang="es-PE" sz="1700" b="1" dirty="0">
                <a:solidFill>
                  <a:schemeClr val="tx1"/>
                </a:solidFill>
              </a:rPr>
              <a:t>si</a:t>
            </a:r>
            <a:r>
              <a:rPr lang="es-PE" sz="1700" dirty="0">
                <a:solidFill>
                  <a:schemeClr val="tx1"/>
                </a:solidFill>
              </a:rPr>
              <a:t> </a:t>
            </a:r>
            <a:r>
              <a:rPr lang="es-PE" sz="1700" i="1" dirty="0">
                <a:solidFill>
                  <a:schemeClr val="tx1"/>
                </a:solidFill>
              </a:rPr>
              <a:t>expr</a:t>
            </a:r>
            <a:r>
              <a:rPr lang="es-PE" sz="1700" dirty="0">
                <a:solidFill>
                  <a:schemeClr val="tx1"/>
                </a:solidFill>
              </a:rPr>
              <a:t> | </a:t>
            </a:r>
            <a:r>
              <a:rPr lang="es-PE" sz="1700" dirty="0">
                <a:solidFill>
                  <a:schemeClr val="tx1"/>
                </a:solidFill>
              </a:rPr>
              <a:t>ε</a:t>
            </a:r>
            <a:endParaRPr lang="es-PE" sz="1400" dirty="0"/>
          </a:p>
        </p:txBody>
      </p:sp>
      <p:sp>
        <p:nvSpPr>
          <p:cNvPr id="7" name="Text 4"/>
          <p:cNvSpPr txBox="1"/>
          <p:nvPr/>
        </p:nvSpPr>
        <p:spPr>
          <a:xfrm>
            <a:off x="777240" y="2926080"/>
            <a:ext cx="4572000" cy="1051560"/>
          </a:xfrm>
          <a:prstGeom prst="rect">
            <a:avLst/>
          </a:prstGeom>
          <a:noFill/>
          <a:ln/>
        </p:spPr>
        <p:txBody>
          <a:bodyPr wrap="square" lIns="0" tIns="0" rIns="0" bIns="0" rtlCol="0" anchor="t"/>
          <a:lstStyle/>
          <a:p>
            <a:pPr indent="0" marL="0">
              <a:spcAft>
                <a:spcPts val="500"/>
              </a:spcAft>
              <a:buNone/>
            </a:pPr>
            <a:r>
              <a:rPr lang="es-PE" sz="1400" b="1" dirty="0">
                <a:solidFill>
                  <a:schemeClr val="accent1"/>
                </a:solidFill>
              </a:rPr>
              <a:t>G3. Eventos</a:t>
            </a:r>
            <a:endParaRPr lang="es-PE" sz="1400" dirty="0"/>
          </a:p>
          <a:p>
            <a:pPr indent="0" marL="0">
              <a:spcAft>
                <a:spcPts val="500"/>
              </a:spcAft>
              <a:buNone/>
            </a:pPr>
            <a:r>
              <a:rPr lang="es-PE" sz="1700" i="1" dirty="0">
                <a:solidFill>
                  <a:schemeClr val="tx1"/>
                </a:solidFill>
              </a:rPr>
              <a:t>decl_evs</a:t>
            </a:r>
            <a:r>
              <a:rPr lang="es-PE" sz="1700" dirty="0">
                <a:solidFill>
                  <a:schemeClr val="tx1"/>
                </a:solidFill>
              </a:rPr>
              <a:t> → </a:t>
            </a:r>
            <a:r>
              <a:rPr lang="es-PE" sz="1700" b="1" dirty="0">
                <a:solidFill>
                  <a:schemeClr val="tx1"/>
                </a:solidFill>
              </a:rPr>
              <a:t>eventos</a:t>
            </a:r>
            <a:r>
              <a:rPr lang="es-PE" sz="1700" dirty="0">
                <a:solidFill>
                  <a:schemeClr val="tx1"/>
                </a:solidFill>
              </a:rPr>
              <a:t> </a:t>
            </a:r>
            <a:r>
              <a:rPr lang="es-PE" sz="1700" i="1" dirty="0">
                <a:solidFill>
                  <a:schemeClr val="tx1"/>
                </a:solidFill>
              </a:rPr>
              <a:t>lista_ids</a:t>
            </a:r>
            <a:r>
              <a:rPr lang="es-PE" sz="1700" dirty="0">
                <a:solidFill>
                  <a:schemeClr val="tx1"/>
                </a:solidFill>
              </a:rPr>
              <a:t> </a:t>
            </a:r>
            <a:r>
              <a:rPr lang="es-PE" sz="1700" b="1" dirty="0">
                <a:solidFill>
                  <a:schemeClr val="tx1"/>
                </a:solidFill>
              </a:rPr>
              <a:t>;</a:t>
            </a:r>
            <a:endParaRPr lang="es-PE" sz="1400" dirty="0"/>
          </a:p>
          <a:p>
            <a:pPr indent="0" marL="0">
              <a:spcAft>
                <a:spcPts val="500"/>
              </a:spcAft>
              <a:buNone/>
            </a:pPr>
            <a:r>
              <a:rPr lang="es-PE" sz="1700" i="1" dirty="0">
                <a:solidFill>
                  <a:schemeClr val="tx1"/>
                </a:solidFill>
              </a:rPr>
              <a:t>lista_ids</a:t>
            </a:r>
            <a:r>
              <a:rPr lang="es-PE" sz="1700" dirty="0">
                <a:solidFill>
                  <a:schemeClr val="tx1"/>
                </a:solidFill>
              </a:rPr>
              <a:t> → </a:t>
            </a:r>
            <a:r>
              <a:rPr lang="es-PE" sz="1700" i="1" dirty="0">
                <a:solidFill>
                  <a:schemeClr val="tx1"/>
                </a:solidFill>
              </a:rPr>
              <a:t>lista_ids</a:t>
            </a:r>
            <a:r>
              <a:rPr lang="es-PE" sz="1700" dirty="0">
                <a:solidFill>
                  <a:schemeClr val="tx1"/>
                </a:solidFill>
              </a:rPr>
              <a:t> </a:t>
            </a:r>
            <a:r>
              <a:rPr lang="es-PE" sz="1700" b="1" dirty="0">
                <a:solidFill>
                  <a:schemeClr val="tx1"/>
                </a:solidFill>
              </a:rPr>
              <a:t>,</a:t>
            </a:r>
            <a:r>
              <a:rPr lang="es-PE" sz="1700" dirty="0">
                <a:solidFill>
                  <a:schemeClr val="tx1"/>
                </a:solidFill>
              </a:rPr>
              <a:t> </a:t>
            </a:r>
            <a:r>
              <a:rPr lang="es-PE" sz="1700" b="1" dirty="0">
                <a:solidFill>
                  <a:schemeClr val="tx1"/>
                </a:solidFill>
              </a:rPr>
              <a:t>id</a:t>
            </a:r>
            <a:r>
              <a:rPr lang="es-PE" sz="1700" dirty="0">
                <a:solidFill>
                  <a:schemeClr val="tx1"/>
                </a:solidFill>
              </a:rPr>
              <a:t> | </a:t>
            </a:r>
            <a:r>
              <a:rPr lang="es-PE" sz="1700" b="1" dirty="0">
                <a:solidFill>
                  <a:schemeClr val="tx1"/>
                </a:solidFill>
              </a:rPr>
              <a:t>id</a:t>
            </a:r>
            <a:endParaRPr lang="es-PE" sz="1400" dirty="0"/>
          </a:p>
        </p:txBody>
      </p:sp>
      <p:sp>
        <p:nvSpPr>
          <p:cNvPr id="8" name="Pixel"/>
          <p:cNvSpPr/>
          <p:nvPr/>
        </p:nvSpPr>
        <p:spPr>
          <a:xfrm>
            <a:off x="548640" y="4389120"/>
            <a:ext cx="128016" cy="128016"/>
          </a:xfrm>
          <a:prstGeom prst="rect">
            <a:avLst/>
          </a:prstGeom>
          <a:solidFill>
            <a:schemeClr val="accent1"/>
          </a:solidFill>
          <a:ln w="12700">
            <a:solidFill>
              <a:schemeClr val="accent1"/>
            </a:solidFill>
            <a:prstDash val="solid"/>
          </a:ln>
        </p:spPr>
      </p:sp>
      <p:sp>
        <p:nvSpPr>
          <p:cNvPr id="9" name="Text 6"/>
          <p:cNvSpPr txBox="1"/>
          <p:nvPr/>
        </p:nvSpPr>
        <p:spPr>
          <a:xfrm>
            <a:off x="868680" y="4315968"/>
            <a:ext cx="4663440" cy="731520"/>
          </a:xfrm>
          <a:prstGeom prst="rect">
            <a:avLst/>
          </a:prstGeom>
          <a:noFill/>
          <a:ln/>
        </p:spPr>
        <p:txBody>
          <a:bodyPr wrap="square" lIns="0" tIns="0" rIns="0" bIns="0" rtlCol="0" anchor="t"/>
          <a:lstStyle/>
          <a:p>
            <a:pPr indent="0" marL="0">
              <a:buNone/>
            </a:pPr>
            <a:r>
              <a:rPr lang="es-PE" sz="1500" dirty="0">
                <a:solidFill>
                  <a:schemeClr val="tx1"/>
                </a:solidFill>
              </a:rPr>
              <a:t>Notación de clase (Aho et al., 2006): no terminales en </a:t>
            </a:r>
            <a:r>
              <a:rPr lang="es-PE" sz="1500" i="1" dirty="0">
                <a:solidFill>
                  <a:schemeClr val="tx1"/>
                </a:solidFill>
              </a:rPr>
              <a:t>cursiva</a:t>
            </a:r>
            <a:r>
              <a:rPr lang="es-PE" sz="1500" dirty="0">
                <a:solidFill>
                  <a:schemeClr val="tx1"/>
                </a:solidFill>
              </a:rPr>
              <a:t>, terminales en </a:t>
            </a:r>
            <a:r>
              <a:rPr lang="es-PE" sz="1500" b="1" dirty="0">
                <a:solidFill>
                  <a:schemeClr val="tx1"/>
                </a:solidFill>
              </a:rPr>
              <a:t>negrita</a:t>
            </a:r>
            <a:r>
              <a:rPr lang="es-PE" sz="1500" dirty="0">
                <a:solidFill>
                  <a:schemeClr val="tx1"/>
                </a:solidFill>
              </a:rPr>
              <a:t>, | separa alternativas y ε es la cadena vacía.</a:t>
            </a:r>
            <a:endParaRPr lang="es-PE" sz="1500" dirty="0"/>
          </a:p>
        </p:txBody>
      </p:sp>
      <p:sp>
        <p:nvSpPr>
          <p:cNvPr id="10" name="Pixel"/>
          <p:cNvSpPr/>
          <p:nvPr/>
        </p:nvSpPr>
        <p:spPr>
          <a:xfrm>
            <a:off x="548640" y="5193792"/>
            <a:ext cx="128016" cy="128016"/>
          </a:xfrm>
          <a:prstGeom prst="rect">
            <a:avLst/>
          </a:prstGeom>
          <a:solidFill>
            <a:schemeClr val="accent1"/>
          </a:solidFill>
          <a:ln w="12700">
            <a:solidFill>
              <a:schemeClr val="accent1"/>
            </a:solidFill>
            <a:prstDash val="solid"/>
          </a:ln>
        </p:spPr>
      </p:sp>
      <p:sp>
        <p:nvSpPr>
          <p:cNvPr id="11" name="Text 8"/>
          <p:cNvSpPr txBox="1"/>
          <p:nvPr/>
        </p:nvSpPr>
        <p:spPr>
          <a:xfrm>
            <a:off x="868680" y="5120640"/>
            <a:ext cx="4663440" cy="475488"/>
          </a:xfrm>
          <a:prstGeom prst="rect">
            <a:avLst/>
          </a:prstGeom>
          <a:noFill/>
          <a:ln/>
        </p:spPr>
        <p:txBody>
          <a:bodyPr wrap="square" lIns="0" tIns="0" rIns="0" bIns="0" rtlCol="0" anchor="t"/>
          <a:lstStyle/>
          <a:p>
            <a:pPr indent="0" marL="0">
              <a:buNone/>
            </a:pPr>
            <a:r>
              <a:rPr lang="es-PE" sz="1500" b="1" dirty="0">
                <a:solidFill>
                  <a:schemeClr val="tx1"/>
                </a:solidFill>
              </a:rPr>
              <a:t>id</a:t>
            </a:r>
            <a:r>
              <a:rPr lang="es-PE" sz="1500" dirty="0">
                <a:solidFill>
                  <a:schemeClr val="tx1"/>
                </a:solidFill>
              </a:rPr>
              <a:t>, </a:t>
            </a:r>
            <a:r>
              <a:rPr lang="es-PE" sz="1500" b="1" dirty="0">
                <a:solidFill>
                  <a:schemeClr val="tx1"/>
                </a:solidFill>
              </a:rPr>
              <a:t>num</a:t>
            </a:r>
            <a:r>
              <a:rPr lang="es-PE" sz="1500" dirty="0">
                <a:solidFill>
                  <a:schemeClr val="tx1"/>
                </a:solidFill>
              </a:rPr>
              <a:t> y </a:t>
            </a:r>
            <a:r>
              <a:rPr lang="es-PE" sz="1500" b="1" dirty="0">
                <a:solidFill>
                  <a:schemeClr val="tx1"/>
                </a:solidFill>
              </a:rPr>
              <a:t>dec</a:t>
            </a:r>
            <a:r>
              <a:rPr lang="es-PE" sz="1500" dirty="0">
                <a:solidFill>
                  <a:schemeClr val="tx1"/>
                </a:solidFill>
              </a:rPr>
              <a:t> representan los tokens ID, NUM_ENTERO y NUM_REAL.</a:t>
            </a:r>
            <a:endParaRPr lang="es-PE" sz="1500" dirty="0"/>
          </a:p>
        </p:txBody>
      </p:sp>
      <p:sp>
        <p:nvSpPr>
          <p:cNvPr id="12" name="Pixel"/>
          <p:cNvSpPr/>
          <p:nvPr/>
        </p:nvSpPr>
        <p:spPr>
          <a:xfrm>
            <a:off x="548640" y="5742432"/>
            <a:ext cx="128016" cy="128016"/>
          </a:xfrm>
          <a:prstGeom prst="rect">
            <a:avLst/>
          </a:prstGeom>
          <a:solidFill>
            <a:schemeClr val="accent1"/>
          </a:solidFill>
          <a:ln w="12700">
            <a:solidFill>
              <a:schemeClr val="accent1"/>
            </a:solidFill>
            <a:prstDash val="solid"/>
          </a:ln>
        </p:spPr>
      </p:sp>
      <p:sp>
        <p:nvSpPr>
          <p:cNvPr id="13" name="Text 10"/>
          <p:cNvSpPr txBox="1"/>
          <p:nvPr/>
        </p:nvSpPr>
        <p:spPr>
          <a:xfrm>
            <a:off x="868680" y="5669280"/>
            <a:ext cx="4663440" cy="274320"/>
          </a:xfrm>
          <a:prstGeom prst="rect">
            <a:avLst/>
          </a:prstGeom>
          <a:noFill/>
          <a:ln/>
        </p:spPr>
        <p:txBody>
          <a:bodyPr wrap="square" lIns="0" tIns="0" rIns="0" bIns="0" rtlCol="0" anchor="t"/>
          <a:lstStyle/>
          <a:p>
            <a:pPr indent="0" marL="0">
              <a:buNone/>
            </a:pPr>
            <a:r>
              <a:rPr lang="es-PE" sz="1500" dirty="0">
                <a:solidFill>
                  <a:schemeClr val="tx1"/>
                </a:solidFill>
              </a:rPr>
              <a:t>Las listas usan recursión por la izquierda.</a:t>
            </a:r>
            <a:endParaRPr lang="es-PE" sz="1500" dirty="0"/>
          </a:p>
        </p:txBody>
      </p:sp>
      <p:sp>
        <p:nvSpPr>
          <p:cNvPr id="14" name="Tarjeta"/>
          <p:cNvSpPr/>
          <p:nvPr/>
        </p:nvSpPr>
        <p:spPr>
          <a:xfrm>
            <a:off x="5806440" y="1600200"/>
            <a:ext cx="5833872" cy="4343400"/>
          </a:xfrm>
          <a:prstGeom prst="rect">
            <a:avLst/>
          </a:prstGeom>
          <a:solidFill>
            <a:schemeClr val="bg2"/>
          </a:solidFill>
          <a:ln w="12700">
            <a:solidFill>
              <a:schemeClr val="bg2"/>
            </a:solidFill>
            <a:prstDash val="solid"/>
          </a:ln>
        </p:spPr>
      </p:sp>
      <p:sp>
        <p:nvSpPr>
          <p:cNvPr id="15" name="Text 12"/>
          <p:cNvSpPr txBox="1"/>
          <p:nvPr/>
        </p:nvSpPr>
        <p:spPr>
          <a:xfrm>
            <a:off x="6035040" y="1755648"/>
            <a:ext cx="5468112" cy="3291840"/>
          </a:xfrm>
          <a:prstGeom prst="rect">
            <a:avLst/>
          </a:prstGeom>
          <a:noFill/>
          <a:ln/>
        </p:spPr>
        <p:txBody>
          <a:bodyPr wrap="square" lIns="0" tIns="0" rIns="0" bIns="0" rtlCol="0" anchor="t"/>
          <a:lstStyle/>
          <a:p>
            <a:pPr indent="0" marL="0">
              <a:spcAft>
                <a:spcPts val="600"/>
              </a:spcAft>
              <a:buNone/>
            </a:pPr>
            <a:r>
              <a:rPr lang="es-PE" sz="1400" b="1" dirty="0">
                <a:solidFill>
                  <a:schemeClr val="accent1"/>
                </a:solidFill>
              </a:rPr>
              <a:t>G7. Expresiones</a:t>
            </a:r>
            <a:endParaRPr lang="es-PE" sz="1400" dirty="0"/>
          </a:p>
          <a:p>
            <a:pPr indent="0" marL="0">
              <a:spcAft>
                <a:spcPts val="600"/>
              </a:spcAft>
              <a:buNone/>
            </a:pPr>
            <a:r>
              <a:rPr lang="es-PE" sz="1500" i="1" dirty="0">
                <a:solidFill>
                  <a:schemeClr val="tx1"/>
                </a:solidFill>
              </a:rPr>
              <a:t>expr</a:t>
            </a:r>
            <a:r>
              <a:rPr lang="es-PE" sz="1500" dirty="0">
                <a:solidFill>
                  <a:schemeClr val="tx1"/>
                </a:solidFill>
              </a:rPr>
              <a:t> → </a:t>
            </a:r>
            <a:r>
              <a:rPr lang="es-PE" sz="1500" i="1" dirty="0">
                <a:solidFill>
                  <a:schemeClr val="tx1"/>
                </a:solidFill>
              </a:rPr>
              <a:t>expr</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conj</a:t>
            </a:r>
            <a:r>
              <a:rPr lang="es-PE" sz="1500" dirty="0">
                <a:solidFill>
                  <a:schemeClr val="tx1"/>
                </a:solidFill>
              </a:rPr>
              <a:t> | </a:t>
            </a:r>
            <a:r>
              <a:rPr lang="es-PE" sz="1500" i="1" dirty="0">
                <a:solidFill>
                  <a:schemeClr val="tx1"/>
                </a:solidFill>
              </a:rPr>
              <a:t>conj</a:t>
            </a:r>
            <a:endParaRPr lang="es-PE" sz="1400" dirty="0"/>
          </a:p>
          <a:p>
            <a:pPr indent="0" marL="0">
              <a:spcAft>
                <a:spcPts val="600"/>
              </a:spcAft>
              <a:buNone/>
            </a:pPr>
            <a:r>
              <a:rPr lang="es-PE" sz="1500" i="1" dirty="0">
                <a:solidFill>
                  <a:schemeClr val="tx1"/>
                </a:solidFill>
              </a:rPr>
              <a:t>conj</a:t>
            </a:r>
            <a:r>
              <a:rPr lang="es-PE" sz="1500" dirty="0">
                <a:solidFill>
                  <a:schemeClr val="tx1"/>
                </a:solidFill>
              </a:rPr>
              <a:t> → </a:t>
            </a:r>
            <a:r>
              <a:rPr lang="es-PE" sz="1500" i="1" dirty="0">
                <a:solidFill>
                  <a:schemeClr val="tx1"/>
                </a:solidFill>
              </a:rPr>
              <a:t>conj</a:t>
            </a:r>
            <a:r>
              <a:rPr lang="es-PE" sz="1500" dirty="0">
                <a:solidFill>
                  <a:schemeClr val="tx1"/>
                </a:solidFill>
              </a:rPr>
              <a:t> </a:t>
            </a:r>
            <a:r>
              <a:rPr lang="es-PE" sz="1500" b="1" dirty="0">
                <a:solidFill>
                  <a:schemeClr val="tx1"/>
                </a:solidFill>
              </a:rPr>
              <a:t>&amp;&amp;</a:t>
            </a:r>
            <a:r>
              <a:rPr lang="es-PE" sz="1500" dirty="0">
                <a:solidFill>
                  <a:schemeClr val="tx1"/>
                </a:solidFill>
              </a:rPr>
              <a:t> </a:t>
            </a:r>
            <a:r>
              <a:rPr lang="es-PE" sz="1500" i="1" dirty="0">
                <a:solidFill>
                  <a:schemeClr val="tx1"/>
                </a:solidFill>
              </a:rPr>
              <a:t>rel</a:t>
            </a:r>
            <a:r>
              <a:rPr lang="es-PE" sz="1500" dirty="0">
                <a:solidFill>
                  <a:schemeClr val="tx1"/>
                </a:solidFill>
              </a:rPr>
              <a:t> | </a:t>
            </a:r>
            <a:r>
              <a:rPr lang="es-PE" sz="1500" i="1" dirty="0">
                <a:solidFill>
                  <a:schemeClr val="tx1"/>
                </a:solidFill>
              </a:rPr>
              <a:t>rel</a:t>
            </a:r>
            <a:endParaRPr lang="es-PE" sz="1400" dirty="0"/>
          </a:p>
          <a:p>
            <a:pPr indent="0" marL="0">
              <a:spcAft>
                <a:spcPts val="600"/>
              </a:spcAft>
              <a:buNone/>
            </a:pPr>
            <a:r>
              <a:rPr lang="es-PE" sz="1500" i="1" dirty="0">
                <a:solidFill>
                  <a:schemeClr val="tx1"/>
                </a:solidFill>
              </a:rPr>
              <a:t>rel</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i="1" dirty="0">
                <a:solidFill>
                  <a:schemeClr val="tx1"/>
                </a:solidFill>
              </a:rPr>
              <a:t>oprel</a:t>
            </a:r>
            <a:r>
              <a:rPr lang="es-PE" sz="1500" dirty="0">
                <a:solidFill>
                  <a:schemeClr val="tx1"/>
                </a:solidFill>
              </a:rPr>
              <a:t> </a:t>
            </a:r>
            <a:r>
              <a:rPr lang="es-PE" sz="1500" i="1" dirty="0">
                <a:solidFill>
                  <a:schemeClr val="tx1"/>
                </a:solidFill>
              </a:rPr>
              <a:t>arit</a:t>
            </a:r>
            <a:r>
              <a:rPr lang="es-PE" sz="1500" dirty="0">
                <a:solidFill>
                  <a:schemeClr val="tx1"/>
                </a:solidFill>
              </a:rPr>
              <a:t> | </a:t>
            </a:r>
            <a:r>
              <a:rPr lang="es-PE" sz="1500" i="1" dirty="0">
                <a:solidFill>
                  <a:schemeClr val="tx1"/>
                </a:solidFill>
              </a:rPr>
              <a:t>arit</a:t>
            </a:r>
            <a:endParaRPr lang="es-PE" sz="1400" dirty="0"/>
          </a:p>
          <a:p>
            <a:pPr indent="0" marL="0">
              <a:spcAft>
                <a:spcPts val="600"/>
              </a:spcAft>
              <a:buNone/>
            </a:pPr>
            <a:r>
              <a:rPr lang="es-PE" sz="1500" i="1" dirty="0">
                <a:solidFill>
                  <a:schemeClr val="tx1"/>
                </a:solidFill>
              </a:rPr>
              <a:t>oprel</a:t>
            </a:r>
            <a:r>
              <a:rPr lang="es-PE" sz="1500" dirty="0">
                <a:solidFill>
                  <a:schemeClr val="tx1"/>
                </a:solidFill>
              </a:rPr>
              <a:t> → </a:t>
            </a:r>
            <a:r>
              <a:rPr lang="es-PE" sz="1500" b="1" dirty="0">
                <a:solidFill>
                  <a:schemeClr val="tx1"/>
                </a:solidFill>
              </a:rPr>
              <a:t>&lt;</a:t>
            </a:r>
            <a:r>
              <a:rPr lang="es-PE" sz="1500" dirty="0">
                <a:solidFill>
                  <a:schemeClr val="tx1"/>
                </a:solidFill>
              </a:rPr>
              <a:t> | </a:t>
            </a:r>
            <a:r>
              <a:rPr lang="es-PE" sz="1500" b="1" dirty="0">
                <a:solidFill>
                  <a:schemeClr val="tx1"/>
                </a:solidFill>
              </a:rPr>
              <a:t>&gt;</a:t>
            </a:r>
            <a:r>
              <a:rPr lang="es-PE" sz="1500" dirty="0">
                <a:solidFill>
                  <a:schemeClr val="tx1"/>
                </a:solidFill>
              </a:rPr>
              <a:t> | </a:t>
            </a:r>
            <a:r>
              <a:rPr lang="es-PE" sz="1500" b="1" dirty="0">
                <a:solidFill>
                  <a:schemeClr val="tx1"/>
                </a:solidFill>
              </a:rPr>
              <a:t>&lt;=</a:t>
            </a:r>
            <a:r>
              <a:rPr lang="es-PE" sz="1500" dirty="0">
                <a:solidFill>
                  <a:schemeClr val="tx1"/>
                </a:solidFill>
              </a:rPr>
              <a:t> | </a:t>
            </a:r>
            <a:r>
              <a:rPr lang="es-PE" sz="1500" b="1" dirty="0">
                <a:solidFill>
                  <a:schemeClr val="tx1"/>
                </a:solidFill>
              </a:rPr>
              <a:t>&gt;=</a:t>
            </a:r>
            <a:r>
              <a:rPr lang="es-PE" sz="1500" dirty="0">
                <a:solidFill>
                  <a:schemeClr val="tx1"/>
                </a:solidFill>
              </a:rPr>
              <a:t> | </a:t>
            </a:r>
            <a:r>
              <a:rPr lang="es-PE" sz="1500" b="1" dirty="0">
                <a:solidFill>
                  <a:schemeClr val="tx1"/>
                </a:solidFill>
              </a:rPr>
              <a:t>==</a:t>
            </a:r>
            <a:r>
              <a:rPr lang="es-PE" sz="1500" dirty="0">
                <a:solidFill>
                  <a:schemeClr val="tx1"/>
                </a:solidFill>
              </a:rPr>
              <a:t> | </a:t>
            </a:r>
            <a:r>
              <a:rPr lang="es-PE" sz="1500" b="1" dirty="0">
                <a:solidFill>
                  <a:schemeClr val="tx1"/>
                </a:solidFill>
              </a:rPr>
              <a:t>!=</a:t>
            </a:r>
            <a:endParaRPr lang="es-PE" sz="1400" dirty="0"/>
          </a:p>
          <a:p>
            <a:pPr indent="0" marL="0">
              <a:spcAft>
                <a:spcPts val="600"/>
              </a:spcAft>
              <a:buNone/>
            </a:pPr>
            <a:r>
              <a:rPr lang="es-PE" sz="1500" i="1" dirty="0">
                <a:solidFill>
                  <a:schemeClr val="tx1"/>
                </a:solidFill>
              </a:rPr>
              <a:t>arit</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term</a:t>
            </a:r>
            <a:r>
              <a:rPr lang="es-PE" sz="1500" dirty="0">
                <a:solidFill>
                  <a:schemeClr val="tx1"/>
                </a:solidFill>
              </a:rPr>
              <a:t> | </a:t>
            </a:r>
            <a:r>
              <a:rPr lang="es-PE" sz="1500" i="1" dirty="0">
                <a:solidFill>
                  <a:schemeClr val="tx1"/>
                </a:solidFill>
              </a:rPr>
              <a:t>arit</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term</a:t>
            </a:r>
            <a:r>
              <a:rPr lang="es-PE" sz="1500" dirty="0">
                <a:solidFill>
                  <a:schemeClr val="tx1"/>
                </a:solidFill>
              </a:rPr>
              <a:t> | </a:t>
            </a:r>
            <a:r>
              <a:rPr lang="es-PE" sz="1500" i="1" dirty="0">
                <a:solidFill>
                  <a:schemeClr val="tx1"/>
                </a:solidFill>
              </a:rPr>
              <a:t>term</a:t>
            </a:r>
            <a:endParaRPr lang="es-PE" sz="1400" dirty="0"/>
          </a:p>
          <a:p>
            <a:pPr indent="0" marL="0">
              <a:spcAft>
                <a:spcPts val="600"/>
              </a:spcAft>
              <a:buNone/>
            </a:pPr>
            <a:r>
              <a:rPr lang="es-PE" sz="1500" i="1" dirty="0">
                <a:solidFill>
                  <a:schemeClr val="tx1"/>
                </a:solidFill>
              </a:rPr>
              <a:t>term</a:t>
            </a:r>
            <a:r>
              <a:rPr lang="es-PE" sz="1500" dirty="0">
                <a:solidFill>
                  <a:schemeClr val="tx1"/>
                </a:solidFill>
              </a:rPr>
              <a:t> → </a:t>
            </a:r>
            <a:r>
              <a:rPr lang="es-PE" sz="1500" i="1" dirty="0">
                <a:solidFill>
                  <a:schemeClr val="tx1"/>
                </a:solidFill>
              </a:rPr>
              <a:t>term</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term</a:t>
            </a:r>
            <a:r>
              <a:rPr lang="es-PE" sz="1500" dirty="0">
                <a:solidFill>
                  <a:schemeClr val="tx1"/>
                </a:solidFill>
              </a:rPr>
              <a:t>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unario</a:t>
            </a:r>
            <a:endParaRPr lang="es-PE" sz="1400" dirty="0"/>
          </a:p>
          <a:p>
            <a:pPr indent="0" marL="0">
              <a:spcAft>
                <a:spcPts val="600"/>
              </a:spcAft>
              <a:buNone/>
            </a:pPr>
            <a:r>
              <a:rPr lang="es-PE" sz="1500" i="1" dirty="0">
                <a:solidFill>
                  <a:schemeClr val="tx1"/>
                </a:solidFill>
              </a:rPr>
              <a:t>unario</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unario</a:t>
            </a:r>
            <a:r>
              <a:rPr lang="es-PE" sz="1500" dirty="0">
                <a:solidFill>
                  <a:schemeClr val="tx1"/>
                </a:solidFill>
              </a:rPr>
              <a:t> | </a:t>
            </a:r>
            <a:r>
              <a:rPr lang="es-PE" sz="1500" i="1" dirty="0">
                <a:solidFill>
                  <a:schemeClr val="tx1"/>
                </a:solidFill>
              </a:rPr>
              <a:t>factor</a:t>
            </a:r>
            <a:endParaRPr lang="es-PE" sz="1400" dirty="0"/>
          </a:p>
          <a:p>
            <a:pPr indent="0" marL="0">
              <a:spcAft>
                <a:spcPts val="600"/>
              </a:spcAft>
              <a:buNone/>
            </a:pPr>
            <a:r>
              <a:rPr lang="es-PE" sz="1500" i="1" dirty="0">
                <a:solidFill>
                  <a:schemeClr val="tx1"/>
                </a:solidFill>
              </a:rPr>
              <a:t>factor</a:t>
            </a:r>
            <a:r>
              <a:rPr lang="es-PE" sz="1500" dirty="0">
                <a:solidFill>
                  <a:schemeClr val="tx1"/>
                </a:solidFill>
              </a:rPr>
              <a:t> → </a:t>
            </a:r>
            <a:r>
              <a:rPr lang="es-PE" sz="1500" b="1" dirty="0">
                <a:solidFill>
                  <a:schemeClr val="tx1"/>
                </a:solidFill>
              </a:rPr>
              <a:t>(</a:t>
            </a:r>
            <a:r>
              <a:rPr lang="es-PE" sz="1500" dirty="0">
                <a:solidFill>
                  <a:schemeClr val="tx1"/>
                </a:solidFill>
              </a:rPr>
              <a:t> </a:t>
            </a:r>
            <a:r>
              <a:rPr lang="es-PE" sz="1500" i="1" dirty="0">
                <a:solidFill>
                  <a:schemeClr val="tx1"/>
                </a:solidFill>
              </a:rPr>
              <a:t>expr</a:t>
            </a:r>
            <a:r>
              <a:rPr lang="es-PE" sz="1500" dirty="0">
                <a:solidFill>
                  <a:schemeClr val="tx1"/>
                </a:solidFill>
              </a:rPr>
              <a:t> </a:t>
            </a:r>
            <a:r>
              <a:rPr lang="es-PE" sz="1500" b="1" dirty="0">
                <a:solidFill>
                  <a:schemeClr val="tx1"/>
                </a:solidFill>
              </a:rPr>
              <a:t>)</a:t>
            </a:r>
            <a:r>
              <a:rPr lang="es-PE" sz="1500" dirty="0">
                <a:solidFill>
                  <a:schemeClr val="tx1"/>
                </a:solidFill>
              </a:rPr>
              <a:t> | </a:t>
            </a:r>
            <a:r>
              <a:rPr lang="es-PE" sz="1500" b="1" dirty="0">
                <a:solidFill>
                  <a:schemeClr val="tx1"/>
                </a:solidFill>
              </a:rPr>
              <a:t>num</a:t>
            </a:r>
            <a:r>
              <a:rPr lang="es-PE" sz="1500" dirty="0">
                <a:solidFill>
                  <a:schemeClr val="tx1"/>
                </a:solidFill>
              </a:rPr>
              <a:t> | </a:t>
            </a:r>
            <a:r>
              <a:rPr lang="es-PE" sz="1500" b="1" dirty="0">
                <a:solidFill>
                  <a:schemeClr val="tx1"/>
                </a:solidFill>
              </a:rPr>
              <a:t>dec</a:t>
            </a:r>
            <a:r>
              <a:rPr lang="es-PE" sz="1500" dirty="0">
                <a:solidFill>
                  <a:schemeClr val="tx1"/>
                </a:solidFill>
              </a:rPr>
              <a:t> | </a:t>
            </a:r>
            <a:r>
              <a:rPr lang="es-PE" sz="1500" b="1" dirty="0">
                <a:solidFill>
                  <a:schemeClr val="tx1"/>
                </a:solidFill>
              </a:rPr>
              <a:t>verdadero</a:t>
            </a:r>
            <a:r>
              <a:rPr lang="es-PE" sz="1500" dirty="0">
                <a:solidFill>
                  <a:schemeClr val="tx1"/>
                </a:solidFill>
              </a:rPr>
              <a:t> | </a:t>
            </a:r>
            <a:r>
              <a:rPr lang="es-PE" sz="1500" b="1" dirty="0">
                <a:solidFill>
                  <a:schemeClr val="tx1"/>
                </a:solidFill>
              </a:rPr>
              <a:t>falso</a:t>
            </a:r>
            <a:r>
              <a:rPr lang="es-PE" sz="1500" dirty="0">
                <a:solidFill>
                  <a:schemeClr val="tx1"/>
                </a:solidFill>
              </a:rPr>
              <a:t> | </a:t>
            </a:r>
            <a:r>
              <a:rPr lang="es-PE" sz="1500" b="1" dirty="0">
                <a:solidFill>
                  <a:schemeClr val="tx1"/>
                </a:solidFill>
              </a:rPr>
              <a:t>id</a:t>
            </a:r>
            <a:endParaRPr lang="es-PE" sz="1400" dirty="0"/>
          </a:p>
        </p:txBody>
      </p:sp>
      <p:sp>
        <p:nvSpPr>
          <p:cNvPr id="16" name="Text 13"/>
          <p:cNvSpPr txBox="1"/>
          <p:nvPr/>
        </p:nvSpPr>
        <p:spPr>
          <a:xfrm>
            <a:off x="6035040" y="5074920"/>
            <a:ext cx="5422392" cy="685800"/>
          </a:xfrm>
          <a:prstGeom prst="rect">
            <a:avLst/>
          </a:prstGeom>
          <a:noFill/>
          <a:ln/>
        </p:spPr>
        <p:txBody>
          <a:bodyPr wrap="square" lIns="0" tIns="0" rIns="0" bIns="0" rtlCol="0" anchor="t"/>
          <a:lstStyle/>
          <a:p>
            <a:pPr indent="0" marL="0">
              <a:buNone/>
            </a:pPr>
            <a:r>
              <a:rPr lang="es-PE" sz="1500" b="1" dirty="0">
                <a:solidFill>
                  <a:schemeClr val="tx1"/>
                </a:solidFill>
              </a:rPr>
              <a:t>Un no terminal por nivel de precedencia, de menor a mayor: la gramática no es ambigua.</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9</a:t>
            </a:fld>
            <a:endParaRPr lang="es-P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sintáctico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Derivación más a la izquierda del ejemplo 5.2</a:t>
            </a:r>
            <a:endParaRPr lang="es-PE" sz="2800" dirty="0"/>
          </a:p>
        </p:txBody>
      </p:sp>
      <p:sp>
        <p:nvSpPr>
          <p:cNvPr id="5" name="Código"/>
          <p:cNvSpPr txBox="1"/>
          <p:nvPr/>
        </p:nvSpPr>
        <p:spPr>
          <a:xfrm>
            <a:off x="548640" y="1554480"/>
            <a:ext cx="6766560" cy="457200"/>
          </a:xfrm>
          <a:prstGeom prst="rect">
            <a:avLst/>
          </a:prstGeom>
          <a:solidFill>
            <a:schemeClr val="accent3"/>
          </a:solidFill>
          <a:ln/>
        </p:spPr>
        <p:txBody>
          <a:bodyPr wrap="square" lIns="127000" tIns="101600" rIns="127000" bIns="101600" rtlCol="0" anchor="ctr"/>
          <a:lstStyle/>
          <a:p>
            <a:pPr indent="0" marL="0">
              <a:lnSpc>
                <a:spcPct val="100000"/>
              </a:lnSpc>
              <a:buNone/>
            </a:pPr>
            <a:r>
              <a:rPr lang="es-PE" sz="1500" dirty="0">
                <a:solidFill>
                  <a:schemeClr val="accent4"/>
                </a:solidFill>
                <a:latin typeface="Consolas" pitchFamily="34" charset="0"/>
                <a:ea typeface="Consolas" pitchFamily="34" charset="-122"/>
                <a:cs typeface="Consolas" pitchFamily="34" charset="-120"/>
              </a:rPr>
              <a:t>cuando</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bg1"/>
                </a:solidFill>
                <a:latin typeface="Consolas" pitchFamily="34" charset="0"/>
                <a:ea typeface="Consolas" pitchFamily="34" charset="-122"/>
                <a:cs typeface="Consolas" pitchFamily="34" charset="-120"/>
              </a:rPr>
              <a:t>fin_aturdimiento</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accent4"/>
                </a:solidFill>
                <a:latin typeface="Consolas" pitchFamily="34" charset="0"/>
                <a:ea typeface="Consolas" pitchFamily="34" charset="-122"/>
                <a:cs typeface="Consolas" pitchFamily="34" charset="-120"/>
              </a:rPr>
              <a:t>si</a:t>
            </a:r>
            <a:r>
              <a:rPr lang="es-PE" sz="1500" dirty="0">
                <a:solidFill>
                  <a:schemeClr val="bg1"/>
                </a:solidFill>
                <a:latin typeface="Consolas" pitchFamily="34" charset="0"/>
                <a:ea typeface="Consolas" pitchFamily="34" charset="-122"/>
                <a:cs typeface="Consolas" pitchFamily="34" charset="-120"/>
              </a:rPr>
              <a:t> </a:t>
            </a:r>
            <a:r>
              <a:rPr lang="es-PE" sz="1500" dirty="0">
                <a:solidFill>
                  <a:schemeClr val="bg1"/>
                </a:solidFill>
                <a:latin typeface="Consolas" pitchFamily="34" charset="0"/>
                <a:ea typeface="Consolas" pitchFamily="34" charset="-122"/>
                <a:cs typeface="Consolas" pitchFamily="34" charset="-120"/>
              </a:rPr>
              <a:t>vida</a:t>
            </a:r>
            <a:r>
              <a:rPr lang="es-PE" sz="1500" dirty="0">
                <a:solidFill>
                  <a:schemeClr val="bg1"/>
                </a:solidFill>
                <a:latin typeface="Consolas" pitchFamily="34" charset="0"/>
                <a:ea typeface="Consolas" pitchFamily="34" charset="-122"/>
                <a:cs typeface="Consolas" pitchFamily="34" charset="-120"/>
              </a:rPr>
              <a:t> &lt;= 0 -&gt; Derrotado;</a:t>
            </a:r>
            <a:endParaRPr lang="es-PE" sz="15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914400"/>
        </p:xfrm>
        <a:graphic>
          <a:graphicData uri="http://schemas.openxmlformats.org/drawingml/2006/table">
            <a:tbl>
              <a:tblPr/>
              <a:tblGrid>
                <a:gridCol w="822960"/>
                <a:gridCol w="5212080"/>
                <a:gridCol w="5056632"/>
              </a:tblGrid>
              <a:tr h="512064">
                <a:tc>
                  <a:txBody>
                    <a:bodyPr/>
                    <a:lstStyle/>
                    <a:p>
                      <a:pPr algn="ctr" indent="0" marL="0">
                        <a:buNone/>
                      </a:pPr>
                      <a:r>
                        <a:rPr lang="es-PE" sz="1500" b="1" dirty="0">
                          <a:solidFill>
                            <a:schemeClr val="bg1"/>
                          </a:solidFill>
                        </a:rPr>
                        <a:t>Paso</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500" b="1" dirty="0">
                          <a:solidFill>
                            <a:schemeClr val="bg1"/>
                          </a:solidFill>
                        </a:rPr>
                        <a:t>Forma sentencial</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indent="0" marL="0">
                        <a:buNone/>
                      </a:pPr>
                      <a:r>
                        <a:rPr lang="es-PE" sz="1500" b="1" dirty="0">
                          <a:solidFill>
                            <a:schemeClr val="bg1"/>
                          </a:solidFill>
                        </a:rPr>
                        <a:t>Producción aplicada</a:t>
                      </a:r>
                      <a:endParaRPr lang="es-PE" sz="15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512064">
                <a:tc>
                  <a:txBody>
                    <a:bodyPr/>
                    <a:lstStyle/>
                    <a:p>
                      <a:pPr algn="ctr" indent="0" marL="0">
                        <a:buNone/>
                      </a:pPr>
                      <a:r>
                        <a:rPr lang="es-PE" sz="1600" b="1" dirty="0">
                          <a:solidFill>
                            <a:schemeClr val="accent1"/>
                          </a:solidFill>
                        </a:rPr>
                        <a:t>0</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transicion</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transicion</a:t>
                      </a:r>
                      <a:r>
                        <a:rPr lang="es-PE" sz="1600" dirty="0">
                          <a:solidFill>
                            <a:schemeClr val="tx1"/>
                          </a:solidFill>
                        </a:rPr>
                        <a:t> → </a:t>
                      </a: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i="1" dirty="0">
                          <a:solidFill>
                            <a:schemeClr val="tx1"/>
                          </a:solidFill>
                        </a:rPr>
                        <a:t>guarda</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2064">
                <a:tc>
                  <a:txBody>
                    <a:bodyPr/>
                    <a:lstStyle/>
                    <a:p>
                      <a:pPr algn="ctr" indent="0" marL="0">
                        <a:buNone/>
                      </a:pPr>
                      <a:r>
                        <a:rPr lang="es-PE" sz="1600" b="1" dirty="0">
                          <a:solidFill>
                            <a:schemeClr val="accent1"/>
                          </a:solidFill>
                        </a:rPr>
                        <a:t>1</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i="1" dirty="0">
                          <a:solidFill>
                            <a:schemeClr val="tx1"/>
                          </a:solidFill>
                        </a:rPr>
                        <a:t>guarda</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i="1" dirty="0">
                          <a:solidFill>
                            <a:schemeClr val="tx1"/>
                          </a:solidFill>
                        </a:rPr>
                        <a:t>guarda</a:t>
                      </a:r>
                      <a:r>
                        <a:rPr lang="es-PE" sz="1600" dirty="0">
                          <a:solidFill>
                            <a:schemeClr val="tx1"/>
                          </a:solidFill>
                        </a:rPr>
                        <a:t> → </a:t>
                      </a:r>
                      <a:r>
                        <a:rPr lang="es-PE" sz="1600" b="1" dirty="0">
                          <a:solidFill>
                            <a:schemeClr val="tx1"/>
                          </a:solidFill>
                        </a:rPr>
                        <a:t>si</a:t>
                      </a:r>
                      <a:r>
                        <a:rPr lang="es-PE" sz="1600" dirty="0">
                          <a:solidFill>
                            <a:schemeClr val="tx1"/>
                          </a:solidFill>
                        </a:rPr>
                        <a:t> </a:t>
                      </a:r>
                      <a:r>
                        <a:rPr lang="es-PE" sz="1600" i="1" dirty="0">
                          <a:solidFill>
                            <a:schemeClr val="tx1"/>
                          </a:solidFill>
                        </a:rPr>
                        <a:t>expr</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12064">
                <a:tc>
                  <a:txBody>
                    <a:bodyPr/>
                    <a:lstStyle/>
                    <a:p>
                      <a:pPr algn="ctr" indent="0" marL="0">
                        <a:buNone/>
                      </a:pPr>
                      <a:r>
                        <a:rPr lang="es-PE" sz="1600" b="1" dirty="0">
                          <a:solidFill>
                            <a:schemeClr val="accent1"/>
                          </a:solidFill>
                        </a:rPr>
                        <a:t>2</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si</a:t>
                      </a:r>
                      <a:r>
                        <a:rPr lang="es-PE" sz="1600" dirty="0">
                          <a:solidFill>
                            <a:schemeClr val="tx1"/>
                          </a:solidFill>
                        </a:rPr>
                        <a:t> </a:t>
                      </a:r>
                      <a:r>
                        <a:rPr lang="es-PE" sz="1600" i="1" dirty="0">
                          <a:solidFill>
                            <a:schemeClr val="tx1"/>
                          </a:solidFill>
                        </a:rPr>
                        <a:t>expr</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indent="0" marL="0">
                        <a:buNone/>
                      </a:pPr>
                      <a:r>
                        <a:rPr lang="es-PE" sz="1600" i="1" dirty="0">
                          <a:solidFill>
                            <a:schemeClr val="tx1"/>
                          </a:solidFill>
                        </a:rPr>
                        <a:t>expr</a:t>
                      </a:r>
                      <a:r>
                        <a:rPr lang="es-PE" sz="1600" b="1" dirty="0">
                          <a:solidFill>
                            <a:schemeClr val="accent1"/>
                          </a:solidFill>
                        </a:rPr>
                        <a:t> ⇒* </a:t>
                      </a:r>
                      <a:r>
                        <a:rPr lang="es-PE" sz="1600" b="1" dirty="0">
                          <a:solidFill>
                            <a:schemeClr val="tx1"/>
                          </a:solidFill>
                        </a:rPr>
                        <a:t>id</a:t>
                      </a:r>
                      <a:r>
                        <a:rPr lang="es-PE" sz="1600" dirty="0">
                          <a:solidFill>
                            <a:schemeClr val="tx1"/>
                          </a:solidFill>
                        </a:rPr>
                        <a:t> </a:t>
                      </a:r>
                      <a:r>
                        <a:rPr lang="es-PE" sz="1600" b="1" dirty="0">
                          <a:solidFill>
                            <a:schemeClr val="tx1"/>
                          </a:solidFill>
                        </a:rPr>
                        <a:t>&lt;=</a:t>
                      </a:r>
                      <a:r>
                        <a:rPr lang="es-PE" sz="1600" dirty="0">
                          <a:solidFill>
                            <a:schemeClr val="tx1"/>
                          </a:solidFill>
                        </a:rPr>
                        <a:t> </a:t>
                      </a:r>
                      <a:r>
                        <a:rPr lang="es-PE" sz="1600" b="1" dirty="0">
                          <a:solidFill>
                            <a:schemeClr val="tx1"/>
                          </a:solidFill>
                        </a:rPr>
                        <a:t>num</a:t>
                      </a:r>
                      <a:r>
                        <a:rPr lang="es-PE" sz="1400" dirty="0">
                          <a:solidFill>
                            <a:schemeClr val="tx2"/>
                          </a:solidFill>
                        </a:rPr>
                        <a:t>  (G7)</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12064">
                <a:tc>
                  <a:txBody>
                    <a:bodyPr/>
                    <a:lstStyle/>
                    <a:p>
                      <a:pPr algn="ctr" indent="0" marL="0">
                        <a:buNone/>
                      </a:pPr>
                      <a:r>
                        <a:rPr lang="es-PE" sz="1600" b="1" dirty="0">
                          <a:solidFill>
                            <a:schemeClr val="accent1"/>
                          </a:solidFill>
                        </a:rPr>
                        <a:t>3</a:t>
                      </a:r>
                      <a:endParaRPr lang="es-PE" sz="16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b="1" dirty="0">
                          <a:solidFill>
                            <a:schemeClr val="tx1"/>
                          </a:solidFill>
                        </a:rPr>
                        <a:t>cuando</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si</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&lt;=</a:t>
                      </a:r>
                      <a:r>
                        <a:rPr lang="es-PE" sz="1600" dirty="0">
                          <a:solidFill>
                            <a:schemeClr val="tx1"/>
                          </a:solidFill>
                        </a:rPr>
                        <a:t> </a:t>
                      </a:r>
                      <a:r>
                        <a:rPr lang="es-PE" sz="1600" b="1" dirty="0">
                          <a:solidFill>
                            <a:schemeClr val="tx1"/>
                          </a:solidFill>
                        </a:rPr>
                        <a:t>num</a:t>
                      </a:r>
                      <a:r>
                        <a:rPr lang="es-PE" sz="1600" dirty="0">
                          <a:solidFill>
                            <a:schemeClr val="tx1"/>
                          </a:solidFill>
                        </a:rPr>
                        <a:t> </a:t>
                      </a:r>
                      <a:r>
                        <a:rPr lang="es-PE" sz="1600" b="1" dirty="0">
                          <a:solidFill>
                            <a:schemeClr val="tx1"/>
                          </a:solidFill>
                        </a:rPr>
                        <a:t>-&gt;</a:t>
                      </a:r>
                      <a:r>
                        <a:rPr lang="es-PE" sz="1600" dirty="0">
                          <a:solidFill>
                            <a:schemeClr val="tx1"/>
                          </a:solidFill>
                        </a:rPr>
                        <a:t> </a:t>
                      </a:r>
                      <a:r>
                        <a:rPr lang="es-PE" sz="1600" b="1" dirty="0">
                          <a:solidFill>
                            <a:schemeClr val="tx1"/>
                          </a:solidFill>
                        </a:rPr>
                        <a:t>id</a:t>
                      </a:r>
                      <a:r>
                        <a:rPr lang="es-PE" sz="1600" dirty="0">
                          <a:solidFill>
                            <a:schemeClr val="tx1"/>
                          </a:solidFill>
                        </a:rPr>
                        <a:t> </a:t>
                      </a:r>
                      <a:r>
                        <a:rPr lang="es-PE" sz="1600" b="1" dirty="0">
                          <a:solidFill>
                            <a:schemeClr val="tx1"/>
                          </a:solidFill>
                        </a:rPr>
                        <a:t>;</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indent="0" marL="0">
                        <a:buNone/>
                      </a:pPr>
                      <a:r>
                        <a:rPr lang="es-PE" sz="1600" i="1" dirty="0">
                          <a:solidFill>
                            <a:schemeClr val="tx2"/>
                          </a:solidFill>
                        </a:rPr>
                        <a:t>fin</a:t>
                      </a:r>
                      <a:endParaRPr lang="es-PE" sz="12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7" name="Tarjeta"/>
          <p:cNvSpPr/>
          <p:nvPr/>
        </p:nvSpPr>
        <p:spPr>
          <a:xfrm>
            <a:off x="548640" y="5029200"/>
            <a:ext cx="5408676" cy="1005840"/>
          </a:xfrm>
          <a:prstGeom prst="rect">
            <a:avLst/>
          </a:prstGeom>
          <a:solidFill>
            <a:schemeClr val="bg2"/>
          </a:solidFill>
          <a:ln w="12700">
            <a:solidFill>
              <a:schemeClr val="bg2"/>
            </a:solidFill>
            <a:prstDash val="solid"/>
          </a:ln>
        </p:spPr>
      </p:sp>
      <p:sp>
        <p:nvSpPr>
          <p:cNvPr id="8" name="Text 4"/>
          <p:cNvSpPr txBox="1"/>
          <p:nvPr/>
        </p:nvSpPr>
        <p:spPr>
          <a:xfrm>
            <a:off x="777240" y="5029200"/>
            <a:ext cx="1005840" cy="1005840"/>
          </a:xfrm>
          <a:prstGeom prst="rect">
            <a:avLst/>
          </a:prstGeom>
          <a:noFill/>
          <a:ln/>
        </p:spPr>
        <p:txBody>
          <a:bodyPr wrap="square" lIns="0" tIns="0" rIns="0" bIns="0" rtlCol="0" anchor="ctr"/>
          <a:lstStyle/>
          <a:p>
            <a:pPr indent="0" marL="0">
              <a:buNone/>
            </a:pPr>
            <a:r>
              <a:rPr lang="es-PE" sz="3000" b="1" dirty="0">
                <a:solidFill>
                  <a:schemeClr val="accent1"/>
                </a:solidFill>
                <a:latin typeface="Consolas" pitchFamily="34" charset="0"/>
                <a:ea typeface="Consolas" pitchFamily="34" charset="-122"/>
                <a:cs typeface="Consolas" pitchFamily="34" charset="-120"/>
              </a:rPr>
              <a:t>28</a:t>
            </a:r>
            <a:endParaRPr lang="es-PE" sz="3000" dirty="0"/>
          </a:p>
        </p:txBody>
      </p:sp>
      <p:sp>
        <p:nvSpPr>
          <p:cNvPr id="9" name="Text 5"/>
          <p:cNvSpPr txBox="1"/>
          <p:nvPr/>
        </p:nvSpPr>
        <p:spPr>
          <a:xfrm>
            <a:off x="1828800" y="5029200"/>
            <a:ext cx="3945636" cy="1005840"/>
          </a:xfrm>
          <a:prstGeom prst="rect">
            <a:avLst/>
          </a:prstGeom>
          <a:noFill/>
          <a:ln/>
        </p:spPr>
        <p:txBody>
          <a:bodyPr wrap="square" lIns="0" tIns="0" rIns="0" bIns="0" rtlCol="0" anchor="ctr"/>
          <a:lstStyle/>
          <a:p>
            <a:pPr indent="0" marL="0">
              <a:buNone/>
            </a:pPr>
            <a:r>
              <a:rPr lang="es-PE" sz="1500" dirty="0">
                <a:solidFill>
                  <a:schemeClr val="tx1"/>
                </a:solidFill>
              </a:rPr>
              <a:t>derivaciones más a la izquierda, cuatro por gramática (Apéndice B del informe)</a:t>
            </a:r>
            <a:endParaRPr lang="es-PE" sz="1500" dirty="0"/>
          </a:p>
        </p:txBody>
      </p:sp>
      <p:sp>
        <p:nvSpPr>
          <p:cNvPr id="10" name="Tarjeta"/>
          <p:cNvSpPr/>
          <p:nvPr/>
        </p:nvSpPr>
        <p:spPr>
          <a:xfrm>
            <a:off x="6231636" y="5029200"/>
            <a:ext cx="5408676" cy="1005840"/>
          </a:xfrm>
          <a:prstGeom prst="rect">
            <a:avLst/>
          </a:prstGeom>
          <a:solidFill>
            <a:schemeClr val="bg2"/>
          </a:solidFill>
          <a:ln w="12700">
            <a:solidFill>
              <a:schemeClr val="bg2"/>
            </a:solidFill>
            <a:prstDash val="solid"/>
          </a:ln>
        </p:spPr>
      </p:sp>
      <p:sp>
        <p:nvSpPr>
          <p:cNvPr id="11" name="Text 7"/>
          <p:cNvSpPr txBox="1"/>
          <p:nvPr/>
        </p:nvSpPr>
        <p:spPr>
          <a:xfrm>
            <a:off x="6460236" y="5029200"/>
            <a:ext cx="1005840" cy="1005840"/>
          </a:xfrm>
          <a:prstGeom prst="rect">
            <a:avLst/>
          </a:prstGeom>
          <a:noFill/>
          <a:ln/>
        </p:spPr>
        <p:txBody>
          <a:bodyPr wrap="square" lIns="0" tIns="0" rIns="0" bIns="0" rtlCol="0" anchor="ctr"/>
          <a:lstStyle/>
          <a:p>
            <a:pPr indent="0" marL="0">
              <a:buNone/>
            </a:pPr>
            <a:r>
              <a:rPr lang="es-PE" sz="3000" b="1" dirty="0">
                <a:solidFill>
                  <a:schemeClr val="accent1"/>
                </a:solidFill>
                <a:latin typeface="Consolas" pitchFamily="34" charset="0"/>
                <a:ea typeface="Consolas" pitchFamily="34" charset="-122"/>
                <a:cs typeface="Consolas" pitchFamily="34" charset="-120"/>
              </a:rPr>
              <a:t>⇒*</a:t>
            </a:r>
            <a:endParaRPr lang="es-PE" sz="3000" dirty="0"/>
          </a:p>
        </p:txBody>
      </p:sp>
      <p:sp>
        <p:nvSpPr>
          <p:cNvPr id="12" name="Text 8"/>
          <p:cNvSpPr txBox="1"/>
          <p:nvPr/>
        </p:nvSpPr>
        <p:spPr>
          <a:xfrm>
            <a:off x="7511796" y="5029200"/>
            <a:ext cx="3945636" cy="1005840"/>
          </a:xfrm>
          <a:prstGeom prst="rect">
            <a:avLst/>
          </a:prstGeom>
          <a:noFill/>
          <a:ln/>
        </p:spPr>
        <p:txBody>
          <a:bodyPr wrap="square" lIns="0" tIns="0" rIns="0" bIns="0" rtlCol="0" anchor="ctr"/>
          <a:lstStyle/>
          <a:p>
            <a:pPr indent="0" marL="0">
              <a:buNone/>
            </a:pPr>
            <a:r>
              <a:rPr lang="es-PE" sz="1500" dirty="0">
                <a:solidFill>
                  <a:schemeClr val="tx1"/>
                </a:solidFill>
              </a:rPr>
              <a:t>resume en un paso la subderivación que pertenece a otra gramática: aquí, expr en G7</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10</a:t>
            </a:fld>
            <a:endParaRPr lang="es-P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semántico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Una tabla de símbolos por personaje</a:t>
            </a:r>
            <a:endParaRPr lang="es-PE" sz="2800" dirty="0"/>
          </a:p>
        </p:txBody>
      </p:sp>
      <p:sp>
        <p:nvSpPr>
          <p:cNvPr id="5" name="Text 2"/>
          <p:cNvSpPr txBox="1"/>
          <p:nvPr/>
        </p:nvSpPr>
        <p:spPr>
          <a:xfrm>
            <a:off x="548640" y="1536192"/>
            <a:ext cx="2743200" cy="274320"/>
          </a:xfrm>
          <a:prstGeom prst="rect">
            <a:avLst/>
          </a:prstGeom>
          <a:noFill/>
          <a:ln/>
        </p:spPr>
        <p:txBody>
          <a:bodyPr wrap="square" lIns="0" tIns="0" rIns="0" bIns="0" rtlCol="0" anchor="t"/>
          <a:lstStyle/>
          <a:p>
            <a:pPr indent="0" marL="0">
              <a:buNone/>
            </a:pPr>
            <a:r>
              <a:rPr lang="es-PE" sz="1200" b="1" dirty="0">
                <a:solidFill>
                  <a:schemeClr val="accent5"/>
                </a:solidFill>
              </a:rPr>
              <a:t>Programa</a:t>
            </a:r>
            <a:endParaRPr lang="es-PE" sz="1200" dirty="0"/>
          </a:p>
        </p:txBody>
      </p:sp>
      <p:sp>
        <p:nvSpPr>
          <p:cNvPr id="6" name="Código"/>
          <p:cNvSpPr txBox="1"/>
          <p:nvPr/>
        </p:nvSpPr>
        <p:spPr>
          <a:xfrm>
            <a:off x="548640" y="1810512"/>
            <a:ext cx="5074920" cy="28803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1  </a:t>
            </a:r>
            <a:r>
              <a:rPr lang="es-PE" sz="1300" dirty="0">
                <a:solidFill>
                  <a:schemeClr val="accent4"/>
                </a:solidFill>
                <a:latin typeface="Consolas" pitchFamily="34" charset="0"/>
                <a:ea typeface="Consolas" pitchFamily="34" charset="-122"/>
                <a:cs typeface="Consolas" pitchFamily="34" charset="-120"/>
              </a:rPr>
              <a:t>personaje</a:t>
            </a:r>
            <a:r>
              <a:rPr lang="es-PE" sz="1300" dirty="0">
                <a:solidFill>
                  <a:schemeClr val="bg1"/>
                </a:solidFill>
                <a:latin typeface="Consolas" pitchFamily="34" charset="0"/>
                <a:ea typeface="Consolas" pitchFamily="34" charset="-122"/>
                <a:cs typeface="Consolas" pitchFamily="34" charset="-120"/>
              </a:rPr>
              <a:t> Caballero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2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vida</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entero</a:t>
            </a:r>
            <a:r>
              <a:rPr lang="es-PE" sz="1300" dirty="0">
                <a:solidFill>
                  <a:schemeClr val="bg1"/>
                </a:solidFill>
                <a:latin typeface="Consolas" pitchFamily="34" charset="0"/>
                <a:ea typeface="Consolas" pitchFamily="34" charset="-122"/>
                <a:cs typeface="Consolas" pitchFamily="34" charset="-120"/>
              </a:rPr>
              <a:t> = 100;</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3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eventos</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4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inicial</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Reposo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5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-&gt; Saltando;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6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saltar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7  </a:t>
            </a: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8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estado</a:t>
            </a:r>
            <a:r>
              <a:rPr lang="es-PE" sz="1300" dirty="0">
                <a:solidFill>
                  <a:schemeClr val="bg1"/>
                </a:solidFill>
                <a:latin typeface="Consolas" pitchFamily="34" charset="0"/>
                <a:ea typeface="Consolas" pitchFamily="34" charset="-122"/>
                <a:cs typeface="Consolas" pitchFamily="34" charset="-120"/>
              </a:rPr>
              <a:t> Saltando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 9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aterrizar</a:t>
            </a:r>
            <a:r>
              <a:rPr lang="es-PE" sz="1300" dirty="0">
                <a:solidFill>
                  <a:schemeClr val="bg1"/>
                </a:solidFill>
                <a:latin typeface="Consolas" pitchFamily="34" charset="0"/>
                <a:ea typeface="Consolas" pitchFamily="34" charset="-122"/>
                <a:cs typeface="Consolas" pitchFamily="34" charset="-120"/>
              </a:rPr>
              <a:t> -&gt; Reposo;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10  </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accent4"/>
                </a:solidFill>
                <a:latin typeface="Consolas" pitchFamily="34" charset="0"/>
                <a:ea typeface="Consolas" pitchFamily="34" charset="-122"/>
                <a:cs typeface="Consolas" pitchFamily="34" charset="-120"/>
              </a:rPr>
              <a:t>cuando</a:t>
            </a:r>
            <a:r>
              <a:rPr lang="es-PE" sz="1300" dirty="0">
                <a:solidFill>
                  <a:schemeClr val="bg1"/>
                </a:solidFill>
                <a:latin typeface="Consolas" pitchFamily="34" charset="0"/>
                <a:ea typeface="Consolas" pitchFamily="34" charset="-122"/>
                <a:cs typeface="Consolas" pitchFamily="34" charset="-120"/>
              </a:rPr>
              <a:t> </a:t>
            </a:r>
            <a:r>
              <a:rPr lang="es-PE" sz="1300" dirty="0">
                <a:solidFill>
                  <a:schemeClr val="bg1"/>
                </a:solidFill>
                <a:latin typeface="Consolas" pitchFamily="34" charset="0"/>
                <a:ea typeface="Consolas" pitchFamily="34" charset="-122"/>
                <a:cs typeface="Consolas" pitchFamily="34" charset="-120"/>
              </a:rPr>
              <a:t>atacar</a:t>
            </a:r>
            <a:r>
              <a:rPr lang="es-PE" sz="1300" dirty="0">
                <a:solidFill>
                  <a:schemeClr val="bg1"/>
                </a:solidFill>
                <a:latin typeface="Consolas" pitchFamily="34" charset="0"/>
                <a:ea typeface="Consolas" pitchFamily="34" charset="-122"/>
                <a:cs typeface="Consolas" pitchFamily="34" charset="-120"/>
              </a:rPr>
              <a:t> -&gt; Volando;</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11  </a:t>
            </a:r>
            <a:r>
              <a:rPr lang="es-PE" sz="1300" dirty="0">
                <a:solidFill>
                  <a:schemeClr val="bg1"/>
                </a:solidFill>
                <a:latin typeface="Consolas" pitchFamily="34" charset="0"/>
                <a:ea typeface="Consolas" pitchFamily="34" charset="-122"/>
                <a:cs typeface="Consolas" pitchFamily="34" charset="-120"/>
              </a:rPr>
              <a:t>    }</a:t>
            </a:r>
            <a:endParaRPr lang="es-PE" sz="1300" dirty="0"/>
          </a:p>
          <a:p>
            <a:pPr indent="0" marL="0">
              <a:lnSpc>
                <a:spcPct val="100000"/>
              </a:lnSpc>
              <a:buNone/>
            </a:pPr>
            <a:r>
              <a:rPr lang="es-PE" sz="1300" dirty="0">
                <a:solidFill>
                  <a:schemeClr val="accent5"/>
                </a:solidFill>
                <a:latin typeface="Consolas" pitchFamily="34" charset="0"/>
                <a:ea typeface="Consolas" pitchFamily="34" charset="-122"/>
                <a:cs typeface="Consolas" pitchFamily="34" charset="-120"/>
              </a:rPr>
              <a:t>12  </a:t>
            </a:r>
            <a:r>
              <a:rPr lang="es-PE" sz="1300" dirty="0">
                <a:solidFill>
                  <a:schemeClr val="bg1"/>
                </a:solidFill>
                <a:latin typeface="Consolas" pitchFamily="34" charset="0"/>
                <a:ea typeface="Consolas" pitchFamily="34" charset="-122"/>
                <a:cs typeface="Consolas" pitchFamily="34" charset="-120"/>
              </a:rPr>
              <a:t>}</a:t>
            </a:r>
            <a:endParaRPr lang="es-PE" sz="1300" dirty="0"/>
          </a:p>
        </p:txBody>
      </p:sp>
      <p:sp>
        <p:nvSpPr>
          <p:cNvPr id="7" name="Text 4"/>
          <p:cNvSpPr txBox="1"/>
          <p:nvPr/>
        </p:nvSpPr>
        <p:spPr>
          <a:xfrm>
            <a:off x="5989320" y="1536192"/>
            <a:ext cx="4572000" cy="274320"/>
          </a:xfrm>
          <a:prstGeom prst="rect">
            <a:avLst/>
          </a:prstGeom>
          <a:noFill/>
          <a:ln/>
        </p:spPr>
        <p:txBody>
          <a:bodyPr wrap="square" lIns="0" tIns="0" rIns="0" bIns="0" rtlCol="0" anchor="t"/>
          <a:lstStyle/>
          <a:p>
            <a:pPr indent="0" marL="0">
              <a:buNone/>
            </a:pPr>
            <a:r>
              <a:rPr lang="es-PE" sz="1200" b="1" dirty="0">
                <a:solidFill>
                  <a:schemeClr val="accent5"/>
                </a:solidFill>
              </a:rPr>
              <a:t>Tabla de símbolos de Caballero</a:t>
            </a:r>
            <a:endParaRPr lang="es-PE"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989320" y="1810512"/>
          <a:ext cx="5650992" cy="914400"/>
        </p:xfrm>
        <a:graphic>
          <a:graphicData uri="http://schemas.openxmlformats.org/drawingml/2006/table">
            <a:tbl>
              <a:tblPr/>
              <a:tblGrid>
                <a:gridCol w="1554480"/>
                <a:gridCol w="1325880"/>
                <a:gridCol w="1874520"/>
                <a:gridCol w="896112"/>
              </a:tblGrid>
              <a:tr h="411480">
                <a:tc>
                  <a:txBody>
                    <a:bodyPr/>
                    <a:lstStyle/>
                    <a:p>
                      <a:pPr algn="l" indent="0" marL="0">
                        <a:buNone/>
                      </a:pPr>
                      <a:r>
                        <a:rPr lang="es-PE" sz="1400" b="1" dirty="0">
                          <a:solidFill>
                            <a:schemeClr val="bg1"/>
                          </a:solidFill>
                        </a:rPr>
                        <a:t>Nombre</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l" indent="0" marL="0">
                        <a:buNone/>
                      </a:pPr>
                      <a:r>
                        <a:rPr lang="es-PE" sz="1400" b="1" dirty="0">
                          <a:solidFill>
                            <a:schemeClr val="bg1"/>
                          </a:solidFill>
                        </a:rPr>
                        <a:t>Categoría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l" indent="0" marL="0">
                        <a:buNone/>
                      </a:pPr>
                      <a:r>
                        <a:rPr lang="es-PE" sz="1400" b="1" dirty="0">
                          <a:solidFill>
                            <a:schemeClr val="bg1"/>
                          </a:solidFill>
                        </a:rPr>
                        <a:t>Tipo o modificador</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c>
                  <a:txBody>
                    <a:bodyPr/>
                    <a:lstStyle/>
                    <a:p>
                      <a:pPr algn="ctr" indent="0" marL="0">
                        <a:buNone/>
                      </a:pPr>
                      <a:r>
                        <a:rPr lang="es-PE" sz="1400" b="1" dirty="0">
                          <a:solidFill>
                            <a:schemeClr val="bg1"/>
                          </a:solidFill>
                        </a:rPr>
                        <a:t>Línea</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vida</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atributo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entero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2</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saltar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atacar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aterrizar</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evento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3</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Reposo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estado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s-PE" sz="1400" dirty="0">
                          <a:solidFill>
                            <a:schemeClr val="tx1"/>
                          </a:solidFill>
                        </a:rPr>
                        <a:t>inicial</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ctr" indent="0" marL="0">
                        <a:buNone/>
                      </a:pPr>
                      <a:r>
                        <a:rPr lang="es-PE" sz="1400" dirty="0">
                          <a:solidFill>
                            <a:schemeClr val="tx1"/>
                          </a:solidFill>
                        </a:rPr>
                        <a:t>4</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411480">
                <a:tc>
                  <a:txBody>
                    <a:bodyPr/>
                    <a:lstStyle/>
                    <a:p>
                      <a:pPr algn="l" indent="0" marL="0">
                        <a:buNone/>
                      </a:pPr>
                      <a:r>
                        <a:rPr lang="es-PE" sz="1400" dirty="0">
                          <a:solidFill>
                            <a:schemeClr val="tx1"/>
                          </a:solidFill>
                          <a:latin typeface="Consolas" pitchFamily="34" charset="0"/>
                          <a:ea typeface="Consolas" pitchFamily="34" charset="-122"/>
                          <a:cs typeface="Consolas" pitchFamily="34" charset="-120"/>
                        </a:rPr>
                        <a:t>Saltando</a:t>
                      </a:r>
                      <a:endParaRPr lang="es-PE" sz="1400" dirty="0">
                        <a:latin typeface="Consolas" charset="0"/>
                        <a:ea typeface="Consolas" charset="0"/>
                        <a:cs typeface="Consolas" charset="0"/>
                      </a:endParaRPr>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s-PE" sz="1400" dirty="0">
                          <a:solidFill>
                            <a:schemeClr val="tx1"/>
                          </a:solidFill>
                        </a:rPr>
                        <a:t>estado</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ctr" indent="0" marL="0">
                        <a:buNone/>
                      </a:pPr>
                      <a:r>
                        <a:rPr lang="es-PE" sz="1400" dirty="0">
                          <a:solidFill>
                            <a:schemeClr val="tx1"/>
                          </a:solidFill>
                        </a:rPr>
                        <a:t>8</a:t>
                      </a:r>
                      <a:endParaRPr lang="es-PE" sz="1400" dirty="0"/>
                    </a:p>
                  </a:txBody>
                  <a:tcPr marL="91440" marR="91440" marT="36576" marB="36576"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9" name="Text 5"/>
          <p:cNvSpPr txBox="1"/>
          <p:nvPr/>
        </p:nvSpPr>
        <p:spPr>
          <a:xfrm>
            <a:off x="548640" y="4919472"/>
            <a:ext cx="5486400" cy="274320"/>
          </a:xfrm>
          <a:prstGeom prst="rect">
            <a:avLst/>
          </a:prstGeom>
          <a:noFill/>
          <a:ln/>
        </p:spPr>
        <p:txBody>
          <a:bodyPr wrap="square" lIns="0" tIns="0" rIns="0" bIns="0" rtlCol="0" anchor="t"/>
          <a:lstStyle/>
          <a:p>
            <a:pPr indent="0" marL="0">
              <a:buNone/>
            </a:pPr>
            <a:r>
              <a:rPr lang="es-PE" sz="1200" b="1" dirty="0">
                <a:solidFill>
                  <a:schemeClr val="accent5"/>
                </a:solidFill>
              </a:rPr>
              <a:t>Lo que la tabla dice del autómata</a:t>
            </a:r>
            <a:endParaRPr lang="es-PE" sz="1200" dirty="0"/>
          </a:p>
        </p:txBody>
      </p:sp>
      <p:sp>
        <p:nvSpPr>
          <p:cNvPr id="10" name="Tarjeta"/>
          <p:cNvSpPr/>
          <p:nvPr/>
        </p:nvSpPr>
        <p:spPr>
          <a:xfrm>
            <a:off x="548640" y="5212080"/>
            <a:ext cx="4069080" cy="731520"/>
          </a:xfrm>
          <a:prstGeom prst="rect">
            <a:avLst/>
          </a:prstGeom>
          <a:solidFill>
            <a:schemeClr val="bg2"/>
          </a:solidFill>
          <a:ln w="12700">
            <a:solidFill>
              <a:schemeClr val="bg2"/>
            </a:solidFill>
            <a:prstDash val="solid"/>
          </a:ln>
        </p:spPr>
      </p:sp>
      <p:sp>
        <p:nvSpPr>
          <p:cNvPr id="11" name="Text 7"/>
          <p:cNvSpPr txBox="1"/>
          <p:nvPr/>
        </p:nvSpPr>
        <p:spPr>
          <a:xfrm>
            <a:off x="731520" y="5212080"/>
            <a:ext cx="379476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Σ</a:t>
            </a:r>
            <a:r>
              <a:rPr lang="es-PE" sz="1600" dirty="0">
                <a:solidFill>
                  <a:schemeClr val="tx1"/>
                </a:solidFill>
                <a:latin typeface="Consolas" pitchFamily="34" charset="0"/>
                <a:ea typeface="Consolas" pitchFamily="34" charset="-122"/>
                <a:cs typeface="Consolas" pitchFamily="34" charset="-120"/>
              </a:rPr>
              <a:t> = {saltar, atacar, aterrizar}</a:t>
            </a:r>
            <a:endParaRPr lang="es-PE" sz="1800" dirty="0"/>
          </a:p>
        </p:txBody>
      </p:sp>
      <p:sp>
        <p:nvSpPr>
          <p:cNvPr id="12" name="Tarjeta"/>
          <p:cNvSpPr/>
          <p:nvPr/>
        </p:nvSpPr>
        <p:spPr>
          <a:xfrm>
            <a:off x="4892040" y="5212080"/>
            <a:ext cx="3017520" cy="731520"/>
          </a:xfrm>
          <a:prstGeom prst="rect">
            <a:avLst/>
          </a:prstGeom>
          <a:solidFill>
            <a:schemeClr val="bg2"/>
          </a:solidFill>
          <a:ln w="12700">
            <a:solidFill>
              <a:schemeClr val="bg2"/>
            </a:solidFill>
            <a:prstDash val="solid"/>
          </a:ln>
        </p:spPr>
      </p:sp>
      <p:sp>
        <p:nvSpPr>
          <p:cNvPr id="13" name="Text 9"/>
          <p:cNvSpPr txBox="1"/>
          <p:nvPr/>
        </p:nvSpPr>
        <p:spPr>
          <a:xfrm>
            <a:off x="5074920" y="5212080"/>
            <a:ext cx="274320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Q</a:t>
            </a:r>
            <a:r>
              <a:rPr lang="es-PE" sz="1600" dirty="0">
                <a:solidFill>
                  <a:schemeClr val="tx1"/>
                </a:solidFill>
                <a:latin typeface="Consolas" pitchFamily="34" charset="0"/>
                <a:ea typeface="Consolas" pitchFamily="34" charset="-122"/>
                <a:cs typeface="Consolas" pitchFamily="34" charset="-120"/>
              </a:rPr>
              <a:t> = {Reposo, Saltando}</a:t>
            </a:r>
            <a:endParaRPr lang="es-PE" sz="1800" dirty="0"/>
          </a:p>
        </p:txBody>
      </p:sp>
      <p:sp>
        <p:nvSpPr>
          <p:cNvPr id="14" name="Tarjeta"/>
          <p:cNvSpPr/>
          <p:nvPr/>
        </p:nvSpPr>
        <p:spPr>
          <a:xfrm>
            <a:off x="8183880" y="5212080"/>
            <a:ext cx="1920240" cy="731520"/>
          </a:xfrm>
          <a:prstGeom prst="rect">
            <a:avLst/>
          </a:prstGeom>
          <a:solidFill>
            <a:schemeClr val="bg2"/>
          </a:solidFill>
          <a:ln w="12700">
            <a:solidFill>
              <a:schemeClr val="bg2"/>
            </a:solidFill>
            <a:prstDash val="solid"/>
          </a:ln>
        </p:spPr>
      </p:sp>
      <p:sp>
        <p:nvSpPr>
          <p:cNvPr id="15" name="Text 11"/>
          <p:cNvSpPr txBox="1"/>
          <p:nvPr/>
        </p:nvSpPr>
        <p:spPr>
          <a:xfrm>
            <a:off x="8366760" y="5212080"/>
            <a:ext cx="1645920"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q0</a:t>
            </a:r>
            <a:r>
              <a:rPr lang="es-PE" sz="1600" dirty="0">
                <a:solidFill>
                  <a:schemeClr val="tx1"/>
                </a:solidFill>
                <a:latin typeface="Consolas" pitchFamily="34" charset="0"/>
                <a:ea typeface="Consolas" pitchFamily="34" charset="-122"/>
                <a:cs typeface="Consolas" pitchFamily="34" charset="-120"/>
              </a:rPr>
              <a:t> = Reposo</a:t>
            </a:r>
            <a:endParaRPr lang="es-PE" sz="1800" dirty="0"/>
          </a:p>
        </p:txBody>
      </p:sp>
      <p:sp>
        <p:nvSpPr>
          <p:cNvPr id="16" name="Tarjeta"/>
          <p:cNvSpPr/>
          <p:nvPr/>
        </p:nvSpPr>
        <p:spPr>
          <a:xfrm>
            <a:off x="10378440" y="5212080"/>
            <a:ext cx="1261872" cy="731520"/>
          </a:xfrm>
          <a:prstGeom prst="rect">
            <a:avLst/>
          </a:prstGeom>
          <a:solidFill>
            <a:schemeClr val="bg2"/>
          </a:solidFill>
          <a:ln w="12700">
            <a:solidFill>
              <a:schemeClr val="bg2"/>
            </a:solidFill>
            <a:prstDash val="solid"/>
          </a:ln>
        </p:spPr>
      </p:sp>
      <p:sp>
        <p:nvSpPr>
          <p:cNvPr id="17" name="Text 13"/>
          <p:cNvSpPr txBox="1"/>
          <p:nvPr/>
        </p:nvSpPr>
        <p:spPr>
          <a:xfrm>
            <a:off x="10561320" y="5212080"/>
            <a:ext cx="987552" cy="731520"/>
          </a:xfrm>
          <a:prstGeom prst="rect">
            <a:avLst/>
          </a:prstGeom>
          <a:noFill/>
          <a:ln/>
        </p:spPr>
        <p:txBody>
          <a:bodyPr wrap="square" lIns="0" tIns="0" rIns="0" bIns="0" rtlCol="0" anchor="ctr"/>
          <a:lstStyle/>
          <a:p>
            <a:pPr indent="0" marL="0">
              <a:buNone/>
            </a:pPr>
            <a:r>
              <a:rPr lang="es-PE" sz="1800" b="1" dirty="0">
                <a:solidFill>
                  <a:schemeClr val="accent1"/>
                </a:solidFill>
                <a:latin typeface="Consolas" pitchFamily="34" charset="0"/>
                <a:ea typeface="Consolas" pitchFamily="34" charset="-122"/>
                <a:cs typeface="Consolas" pitchFamily="34" charset="-120"/>
              </a:rPr>
              <a:t>F</a:t>
            </a:r>
            <a:r>
              <a:rPr lang="es-PE" sz="1600" dirty="0">
                <a:solidFill>
                  <a:schemeClr val="tx1"/>
                </a:solidFill>
                <a:latin typeface="Consolas" pitchFamily="34" charset="0"/>
                <a:ea typeface="Consolas" pitchFamily="34" charset="-122"/>
                <a:cs typeface="Consolas" pitchFamily="34" charset="-120"/>
              </a:rPr>
              <a:t> = ∅</a:t>
            </a:r>
            <a:endParaRPr lang="es-PE" sz="18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11</a:t>
            </a:fld>
            <a:endParaRPr lang="es-P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Analizador semántico</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Dos errores del autómata: E01 y E03</a:t>
            </a:r>
            <a:endParaRPr lang="es-PE" sz="2800" dirty="0"/>
          </a:p>
        </p:txBody>
      </p:sp>
      <p:sp>
        <p:nvSpPr>
          <p:cNvPr id="5" name="Encabezado del error"/>
          <p:cNvSpPr/>
          <p:nvPr/>
        </p:nvSpPr>
        <p:spPr>
          <a:xfrm>
            <a:off x="548640" y="1600200"/>
            <a:ext cx="5408676" cy="777240"/>
          </a:xfrm>
          <a:prstGeom prst="rect">
            <a:avLst/>
          </a:prstGeom>
          <a:solidFill>
            <a:schemeClr val="accent1"/>
          </a:solidFill>
          <a:ln w="12700">
            <a:solidFill>
              <a:schemeClr val="accent1"/>
            </a:solidFill>
            <a:prstDash val="solid"/>
          </a:ln>
        </p:spPr>
      </p:sp>
      <p:sp>
        <p:nvSpPr>
          <p:cNvPr id="6" name="Text 3"/>
          <p:cNvSpPr txBox="1"/>
          <p:nvPr/>
        </p:nvSpPr>
        <p:spPr>
          <a:xfrm>
            <a:off x="777240" y="1600200"/>
            <a:ext cx="914400" cy="777240"/>
          </a:xfrm>
          <a:prstGeom prst="rect">
            <a:avLst/>
          </a:prstGeom>
          <a:noFill/>
          <a:ln/>
        </p:spPr>
        <p:txBody>
          <a:bodyPr wrap="square" lIns="0" tIns="0" rIns="0" bIns="0" rtlCol="0" anchor="ctr"/>
          <a:lstStyle/>
          <a:p>
            <a:pPr indent="0" marL="0">
              <a:buNone/>
            </a:pPr>
            <a:r>
              <a:rPr lang="es-PE" sz="2400" b="1" dirty="0">
                <a:solidFill>
                  <a:schemeClr val="bg1"/>
                </a:solidFill>
                <a:latin typeface="Consolas" pitchFamily="34" charset="0"/>
                <a:ea typeface="Consolas" pitchFamily="34" charset="-122"/>
                <a:cs typeface="Consolas" pitchFamily="34" charset="-120"/>
              </a:rPr>
              <a:t>E01</a:t>
            </a:r>
            <a:endParaRPr lang="es-PE" sz="2400" dirty="0"/>
          </a:p>
        </p:txBody>
      </p:sp>
      <p:sp>
        <p:nvSpPr>
          <p:cNvPr id="7" name="Text 4"/>
          <p:cNvSpPr txBox="1"/>
          <p:nvPr/>
        </p:nvSpPr>
        <p:spPr>
          <a:xfrm>
            <a:off x="1691640" y="1600200"/>
            <a:ext cx="4082796" cy="777240"/>
          </a:xfrm>
          <a:prstGeom prst="rect">
            <a:avLst/>
          </a:prstGeom>
          <a:noFill/>
          <a:ln/>
        </p:spPr>
        <p:txBody>
          <a:bodyPr wrap="square" lIns="0" tIns="0" rIns="0" bIns="0" rtlCol="0" anchor="ctr"/>
          <a:lstStyle/>
          <a:p>
            <a:pPr indent="0" marL="0">
              <a:buNone/>
            </a:pPr>
            <a:r>
              <a:rPr lang="es-PE" sz="1700" b="1" dirty="0">
                <a:solidFill>
                  <a:schemeClr val="bg1"/>
                </a:solidFill>
              </a:rPr>
              <a:t>Transición hacia un estado no declarado</a:t>
            </a:r>
            <a:endParaRPr lang="es-PE" sz="1700" dirty="0"/>
          </a:p>
        </p:txBody>
      </p:sp>
      <p:sp>
        <p:nvSpPr>
          <p:cNvPr id="8" name="Tarjeta"/>
          <p:cNvSpPr/>
          <p:nvPr/>
        </p:nvSpPr>
        <p:spPr>
          <a:xfrm>
            <a:off x="548640" y="2377440"/>
            <a:ext cx="5408676" cy="2743200"/>
          </a:xfrm>
          <a:prstGeom prst="rect">
            <a:avLst/>
          </a:prstGeom>
          <a:solidFill>
            <a:schemeClr val="bg2"/>
          </a:solidFill>
          <a:ln w="12700">
            <a:solidFill>
              <a:schemeClr val="bg2"/>
            </a:solidFill>
            <a:prstDash val="solid"/>
          </a:ln>
        </p:spPr>
      </p:sp>
      <p:sp>
        <p:nvSpPr>
          <p:cNvPr id="9" name="Text 6"/>
          <p:cNvSpPr txBox="1"/>
          <p:nvPr/>
        </p:nvSpPr>
        <p:spPr>
          <a:xfrm>
            <a:off x="777240" y="2514600"/>
            <a:ext cx="4951476" cy="365760"/>
          </a:xfrm>
          <a:prstGeom prst="rect">
            <a:avLst/>
          </a:prstGeom>
          <a:noFill/>
          <a:ln/>
        </p:spPr>
        <p:txBody>
          <a:bodyPr wrap="square" lIns="0" tIns="0" rIns="0" bIns="0" rtlCol="0" anchor="t"/>
          <a:lstStyle/>
          <a:p>
            <a:pPr indent="0" marL="0">
              <a:buNone/>
            </a:pPr>
            <a:r>
              <a:rPr lang="es-PE" sz="1500" b="1" dirty="0">
                <a:solidFill>
                  <a:schemeClr val="tx1"/>
                </a:solidFill>
              </a:rPr>
              <a:t>Regla: </a:t>
            </a:r>
            <a:r>
              <a:rPr lang="es-PE" sz="1500" dirty="0">
                <a:solidFill>
                  <a:schemeClr val="tx1"/>
                </a:solidFill>
              </a:rPr>
              <a:t>δ solo puede llevar a estados de Q</a:t>
            </a:r>
            <a:endParaRPr lang="es-PE" sz="1500" dirty="0"/>
          </a:p>
        </p:txBody>
      </p:sp>
      <p:sp>
        <p:nvSpPr>
          <p:cNvPr id="10" name="Código"/>
          <p:cNvSpPr txBox="1"/>
          <p:nvPr/>
        </p:nvSpPr>
        <p:spPr>
          <a:xfrm>
            <a:off x="731520" y="2971800"/>
            <a:ext cx="5042916" cy="19659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8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estado</a:t>
            </a:r>
            <a:r>
              <a:rPr lang="es-PE" sz="1200" dirty="0">
                <a:solidFill>
                  <a:schemeClr val="bg1"/>
                </a:solidFill>
                <a:latin typeface="Consolas" pitchFamily="34" charset="0"/>
                <a:ea typeface="Consolas" pitchFamily="34" charset="-122"/>
                <a:cs typeface="Consolas" pitchFamily="34" charset="-120"/>
              </a:rPr>
              <a:t> Saltando {</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9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aterrizar</a:t>
            </a:r>
            <a:r>
              <a:rPr lang="es-PE" sz="1200" dirty="0">
                <a:solidFill>
                  <a:schemeClr val="bg1"/>
                </a:solidFill>
                <a:latin typeface="Consolas" pitchFamily="34" charset="0"/>
                <a:ea typeface="Consolas" pitchFamily="34" charset="-122"/>
                <a:cs typeface="Consolas" pitchFamily="34" charset="-120"/>
              </a:rPr>
              <a:t> -&gt; Reposo;</a:t>
            </a:r>
            <a:endParaRPr lang="es-PE" sz="1200" dirty="0"/>
          </a:p>
          <a:p>
            <a:pPr indent="0" marL="0">
              <a:lnSpc>
                <a:spcPct val="100000"/>
              </a:lnSpc>
              <a:buNone/>
            </a:pPr>
            <a:r>
              <a:rPr lang="es-PE" sz="1200" b="1" dirty="0">
                <a:solidFill>
                  <a:schemeClr val="accent1"/>
                </a:solidFill>
                <a:latin typeface="Consolas" pitchFamily="34" charset="0"/>
                <a:ea typeface="Consolas" pitchFamily="34" charset="-122"/>
                <a:cs typeface="Consolas" pitchFamily="34" charset="-120"/>
              </a:rPr>
              <a:t>10  </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accent4"/>
                </a:solidFill>
                <a:latin typeface="Consolas" pitchFamily="34" charset="0"/>
                <a:ea typeface="Consolas" pitchFamily="34" charset="-122"/>
                <a:cs typeface="Consolas" pitchFamily="34" charset="-120"/>
              </a:rPr>
              <a:t>cuando</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bg1"/>
                </a:solidFill>
                <a:latin typeface="Consolas" pitchFamily="34" charset="0"/>
                <a:ea typeface="Consolas" pitchFamily="34" charset="-122"/>
                <a:cs typeface="Consolas" pitchFamily="34" charset="-120"/>
              </a:rPr>
              <a:t>atacar</a:t>
            </a:r>
            <a:r>
              <a:rPr lang="es-PE" sz="1200" b="1" dirty="0">
                <a:solidFill>
                  <a:schemeClr val="bg1"/>
                </a:solidFill>
                <a:latin typeface="Consolas" pitchFamily="34" charset="0"/>
                <a:ea typeface="Consolas" pitchFamily="34" charset="-122"/>
                <a:cs typeface="Consolas" pitchFamily="34" charset="-120"/>
              </a:rPr>
              <a:t> -&gt; Volando;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11  </a:t>
            </a: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b="1" dirty="0">
                <a:solidFill>
                  <a:schemeClr val="accent4"/>
                </a:solidFill>
                <a:latin typeface="Consolas" pitchFamily="34" charset="0"/>
                <a:ea typeface="Consolas" pitchFamily="34" charset="-122"/>
                <a:cs typeface="Consolas" pitchFamily="34" charset="-120"/>
              </a:rPr>
              <a:t>Error semántico E01 en la línea 10:</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la transición de 'Saltando' con 'atacar' va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hacia 'Volando', que no es un estado declarado</a:t>
            </a:r>
            <a:endParaRPr lang="es-PE" sz="1200" dirty="0"/>
          </a:p>
        </p:txBody>
      </p:sp>
      <p:sp>
        <p:nvSpPr>
          <p:cNvPr id="11" name="Encabezado del error"/>
          <p:cNvSpPr/>
          <p:nvPr/>
        </p:nvSpPr>
        <p:spPr>
          <a:xfrm>
            <a:off x="6231636" y="1600200"/>
            <a:ext cx="5408676" cy="777240"/>
          </a:xfrm>
          <a:prstGeom prst="rect">
            <a:avLst/>
          </a:prstGeom>
          <a:solidFill>
            <a:schemeClr val="accent1"/>
          </a:solidFill>
          <a:ln w="12700">
            <a:solidFill>
              <a:schemeClr val="accent1"/>
            </a:solidFill>
            <a:prstDash val="solid"/>
          </a:ln>
        </p:spPr>
      </p:sp>
      <p:sp>
        <p:nvSpPr>
          <p:cNvPr id="12" name="Text 9"/>
          <p:cNvSpPr txBox="1"/>
          <p:nvPr/>
        </p:nvSpPr>
        <p:spPr>
          <a:xfrm>
            <a:off x="6460236" y="1600200"/>
            <a:ext cx="914400" cy="777240"/>
          </a:xfrm>
          <a:prstGeom prst="rect">
            <a:avLst/>
          </a:prstGeom>
          <a:noFill/>
          <a:ln/>
        </p:spPr>
        <p:txBody>
          <a:bodyPr wrap="square" lIns="0" tIns="0" rIns="0" bIns="0" rtlCol="0" anchor="ctr"/>
          <a:lstStyle/>
          <a:p>
            <a:pPr indent="0" marL="0">
              <a:buNone/>
            </a:pPr>
            <a:r>
              <a:rPr lang="es-PE" sz="2400" b="1" dirty="0">
                <a:solidFill>
                  <a:schemeClr val="bg1"/>
                </a:solidFill>
                <a:latin typeface="Consolas" pitchFamily="34" charset="0"/>
                <a:ea typeface="Consolas" pitchFamily="34" charset="-122"/>
                <a:cs typeface="Consolas" pitchFamily="34" charset="-120"/>
              </a:rPr>
              <a:t>E03</a:t>
            </a:r>
            <a:endParaRPr lang="es-PE" sz="2400" dirty="0"/>
          </a:p>
        </p:txBody>
      </p:sp>
      <p:sp>
        <p:nvSpPr>
          <p:cNvPr id="13" name="Text 10"/>
          <p:cNvSpPr txBox="1"/>
          <p:nvPr/>
        </p:nvSpPr>
        <p:spPr>
          <a:xfrm>
            <a:off x="7374636" y="1600200"/>
            <a:ext cx="4082796" cy="777240"/>
          </a:xfrm>
          <a:prstGeom prst="rect">
            <a:avLst/>
          </a:prstGeom>
          <a:noFill/>
          <a:ln/>
        </p:spPr>
        <p:txBody>
          <a:bodyPr wrap="square" lIns="0" tIns="0" rIns="0" bIns="0" rtlCol="0" anchor="ctr"/>
          <a:lstStyle/>
          <a:p>
            <a:pPr indent="0" marL="0">
              <a:buNone/>
            </a:pPr>
            <a:r>
              <a:rPr lang="es-PE" sz="1700" b="1" dirty="0">
                <a:solidFill>
                  <a:schemeClr val="bg1"/>
                </a:solidFill>
              </a:rPr>
              <a:t>Transiciones no deterministas</a:t>
            </a:r>
            <a:endParaRPr lang="es-PE" sz="1700" dirty="0"/>
          </a:p>
        </p:txBody>
      </p:sp>
      <p:sp>
        <p:nvSpPr>
          <p:cNvPr id="14" name="Tarjeta"/>
          <p:cNvSpPr/>
          <p:nvPr/>
        </p:nvSpPr>
        <p:spPr>
          <a:xfrm>
            <a:off x="6231636" y="2377440"/>
            <a:ext cx="5408676" cy="2743200"/>
          </a:xfrm>
          <a:prstGeom prst="rect">
            <a:avLst/>
          </a:prstGeom>
          <a:solidFill>
            <a:schemeClr val="bg2"/>
          </a:solidFill>
          <a:ln w="12700">
            <a:solidFill>
              <a:schemeClr val="bg2"/>
            </a:solidFill>
            <a:prstDash val="solid"/>
          </a:ln>
        </p:spPr>
      </p:sp>
      <p:sp>
        <p:nvSpPr>
          <p:cNvPr id="15" name="Text 12"/>
          <p:cNvSpPr txBox="1"/>
          <p:nvPr/>
        </p:nvSpPr>
        <p:spPr>
          <a:xfrm>
            <a:off x="6460236" y="2514600"/>
            <a:ext cx="4951476" cy="365760"/>
          </a:xfrm>
          <a:prstGeom prst="rect">
            <a:avLst/>
          </a:prstGeom>
          <a:noFill/>
          <a:ln/>
        </p:spPr>
        <p:txBody>
          <a:bodyPr wrap="square" lIns="0" tIns="0" rIns="0" bIns="0" rtlCol="0" anchor="t"/>
          <a:lstStyle/>
          <a:p>
            <a:pPr indent="0" marL="0">
              <a:buNone/>
            </a:pPr>
            <a:r>
              <a:rPr lang="es-PE" sz="1500" b="1" dirty="0">
                <a:solidFill>
                  <a:schemeClr val="tx1"/>
                </a:solidFill>
              </a:rPr>
              <a:t>Regla: </a:t>
            </a:r>
            <a:r>
              <a:rPr lang="es-PE" sz="1500" dirty="0">
                <a:solidFill>
                  <a:schemeClr val="tx1"/>
                </a:solidFill>
              </a:rPr>
              <a:t>δ(q, e) tiene un único destino</a:t>
            </a:r>
            <a:endParaRPr lang="es-PE" sz="1500" dirty="0"/>
          </a:p>
        </p:txBody>
      </p:sp>
      <p:sp>
        <p:nvSpPr>
          <p:cNvPr id="16" name="Código"/>
          <p:cNvSpPr txBox="1"/>
          <p:nvPr/>
        </p:nvSpPr>
        <p:spPr>
          <a:xfrm>
            <a:off x="6414516" y="2971800"/>
            <a:ext cx="5042916" cy="1965960"/>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4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inicial</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estado</a:t>
            </a:r>
            <a:r>
              <a:rPr lang="es-PE" sz="1200" dirty="0">
                <a:solidFill>
                  <a:schemeClr val="bg1"/>
                </a:solidFill>
                <a:latin typeface="Consolas" pitchFamily="34" charset="0"/>
                <a:ea typeface="Consolas" pitchFamily="34" charset="-122"/>
                <a:cs typeface="Consolas" pitchFamily="34" charset="-120"/>
              </a:rPr>
              <a:t> Reposo {</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5  </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accent4"/>
                </a:solidFill>
                <a:latin typeface="Consolas" pitchFamily="34" charset="0"/>
                <a:ea typeface="Consolas" pitchFamily="34" charset="-122"/>
                <a:cs typeface="Consolas" pitchFamily="34" charset="-120"/>
              </a:rPr>
              <a:t>cuando</a:t>
            </a:r>
            <a:r>
              <a:rPr lang="es-PE" sz="1200" dirty="0">
                <a:solidFill>
                  <a:schemeClr val="bg1"/>
                </a:solidFill>
                <a:latin typeface="Consolas" pitchFamily="34" charset="0"/>
                <a:ea typeface="Consolas" pitchFamily="34" charset="-122"/>
                <a:cs typeface="Consolas" pitchFamily="34" charset="-120"/>
              </a:rPr>
              <a:t> </a:t>
            </a:r>
            <a:r>
              <a:rPr lang="es-PE" sz="1200" dirty="0">
                <a:solidFill>
                  <a:schemeClr val="bg1"/>
                </a:solidFill>
                <a:latin typeface="Consolas" pitchFamily="34" charset="0"/>
                <a:ea typeface="Consolas" pitchFamily="34" charset="-122"/>
                <a:cs typeface="Consolas" pitchFamily="34" charset="-120"/>
              </a:rPr>
              <a:t>saltar</a:t>
            </a:r>
            <a:r>
              <a:rPr lang="es-PE" sz="1200" dirty="0">
                <a:solidFill>
                  <a:schemeClr val="bg1"/>
                </a:solidFill>
                <a:latin typeface="Consolas" pitchFamily="34" charset="0"/>
                <a:ea typeface="Consolas" pitchFamily="34" charset="-122"/>
                <a:cs typeface="Consolas" pitchFamily="34" charset="-120"/>
              </a:rPr>
              <a:t> -&gt; Saltando;</a:t>
            </a:r>
            <a:endParaRPr lang="es-PE" sz="1200" dirty="0"/>
          </a:p>
          <a:p>
            <a:pPr indent="0" marL="0">
              <a:lnSpc>
                <a:spcPct val="100000"/>
              </a:lnSpc>
              <a:buNone/>
            </a:pPr>
            <a:r>
              <a:rPr lang="es-PE" sz="1200" b="1" dirty="0">
                <a:solidFill>
                  <a:schemeClr val="accent1"/>
                </a:solidFill>
                <a:latin typeface="Consolas" pitchFamily="34" charset="0"/>
                <a:ea typeface="Consolas" pitchFamily="34" charset="-122"/>
                <a:cs typeface="Consolas" pitchFamily="34" charset="-120"/>
              </a:rPr>
              <a:t> 6  </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accent4"/>
                </a:solidFill>
                <a:latin typeface="Consolas" pitchFamily="34" charset="0"/>
                <a:ea typeface="Consolas" pitchFamily="34" charset="-122"/>
                <a:cs typeface="Consolas" pitchFamily="34" charset="-120"/>
              </a:rPr>
              <a:t>cuando</a:t>
            </a:r>
            <a:r>
              <a:rPr lang="es-PE" sz="1200" b="1" dirty="0">
                <a:solidFill>
                  <a:schemeClr val="bg1"/>
                </a:solidFill>
                <a:latin typeface="Consolas" pitchFamily="34" charset="0"/>
                <a:ea typeface="Consolas" pitchFamily="34" charset="-122"/>
                <a:cs typeface="Consolas" pitchFamily="34" charset="-120"/>
              </a:rPr>
              <a:t> </a:t>
            </a:r>
            <a:r>
              <a:rPr lang="es-PE" sz="1200" b="1" dirty="0">
                <a:solidFill>
                  <a:schemeClr val="bg1"/>
                </a:solidFill>
                <a:latin typeface="Consolas" pitchFamily="34" charset="0"/>
                <a:ea typeface="Consolas" pitchFamily="34" charset="-122"/>
                <a:cs typeface="Consolas" pitchFamily="34" charset="-120"/>
              </a:rPr>
              <a:t>saltar</a:t>
            </a:r>
            <a:r>
              <a:rPr lang="es-PE" sz="1200" b="1" dirty="0">
                <a:solidFill>
                  <a:schemeClr val="bg1"/>
                </a:solidFill>
                <a:latin typeface="Consolas" pitchFamily="34" charset="0"/>
                <a:ea typeface="Consolas" pitchFamily="34" charset="-122"/>
                <a:cs typeface="Consolas" pitchFamily="34" charset="-120"/>
              </a:rPr>
              <a:t> -&gt; Reposo;</a:t>
            </a:r>
            <a:endParaRPr lang="es-PE" sz="1200" dirty="0"/>
          </a:p>
          <a:p>
            <a:pPr indent="0" marL="0">
              <a:lnSpc>
                <a:spcPct val="100000"/>
              </a:lnSpc>
              <a:buNone/>
            </a:pPr>
            <a:r>
              <a:rPr lang="es-PE" sz="1200" dirty="0">
                <a:solidFill>
                  <a:schemeClr val="accent5"/>
                </a:solidFill>
                <a:latin typeface="Consolas" pitchFamily="34" charset="0"/>
                <a:ea typeface="Consolas" pitchFamily="34" charset="-122"/>
                <a:cs typeface="Consolas" pitchFamily="34" charset="-120"/>
              </a:rPr>
              <a:t> 7  </a:t>
            </a: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dirty="0">
                <a:solidFill>
                  <a:schemeClr val="bg1"/>
                </a:solidFill>
                <a:latin typeface="Consolas" pitchFamily="34" charset="0"/>
                <a:ea typeface="Consolas" pitchFamily="34" charset="-122"/>
                <a:cs typeface="Consolas" pitchFamily="34" charset="-120"/>
              </a:rPr>
              <a:t> </a:t>
            </a:r>
            <a:endParaRPr lang="es-PE" sz="1200" dirty="0"/>
          </a:p>
          <a:p>
            <a:pPr indent="0" marL="0">
              <a:lnSpc>
                <a:spcPct val="100000"/>
              </a:lnSpc>
              <a:buNone/>
            </a:pPr>
            <a:r>
              <a:rPr lang="es-PE" sz="1200" b="1" dirty="0">
                <a:solidFill>
                  <a:schemeClr val="accent4"/>
                </a:solidFill>
                <a:latin typeface="Consolas" pitchFamily="34" charset="0"/>
                <a:ea typeface="Consolas" pitchFamily="34" charset="-122"/>
                <a:cs typeface="Consolas" pitchFamily="34" charset="-120"/>
              </a:rPr>
              <a:t>Error semántico E03 en la línea 6:</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en 'Reposo', la transición con 'saltar' de la</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línea 6 nunca se toma: la de la línea 5</a:t>
            </a:r>
            <a:endParaRPr lang="es-PE" sz="1200" dirty="0"/>
          </a:p>
          <a:p>
            <a:pPr indent="0" marL="0">
              <a:lnSpc>
                <a:spcPct val="100000"/>
              </a:lnSpc>
              <a:buNone/>
            </a:pPr>
            <a:r>
              <a:rPr lang="es-PE" sz="1200" dirty="0">
                <a:solidFill>
                  <a:schemeClr val="accent4"/>
                </a:solidFill>
                <a:latin typeface="Consolas" pitchFamily="34" charset="0"/>
                <a:ea typeface="Consolas" pitchFamily="34" charset="-122"/>
                <a:cs typeface="Consolas" pitchFamily="34" charset="-120"/>
              </a:rPr>
              <a:t>  responde al mismo evento sin guarda</a:t>
            </a:r>
            <a:endParaRPr lang="es-PE" sz="1200" dirty="0"/>
          </a:p>
        </p:txBody>
      </p:sp>
      <p:sp>
        <p:nvSpPr>
          <p:cNvPr id="17" name="Pixel"/>
          <p:cNvSpPr/>
          <p:nvPr/>
        </p:nvSpPr>
        <p:spPr>
          <a:xfrm>
            <a:off x="548640" y="5468112"/>
            <a:ext cx="128016" cy="128016"/>
          </a:xfrm>
          <a:prstGeom prst="rect">
            <a:avLst/>
          </a:prstGeom>
          <a:solidFill>
            <a:schemeClr val="accent1"/>
          </a:solidFill>
          <a:ln w="12700">
            <a:solidFill>
              <a:schemeClr val="accent1"/>
            </a:solidFill>
            <a:prstDash val="solid"/>
          </a:ln>
        </p:spPr>
      </p:sp>
      <p:sp>
        <p:nvSpPr>
          <p:cNvPr id="18" name="Text 15"/>
          <p:cNvSpPr txBox="1"/>
          <p:nvPr/>
        </p:nvSpPr>
        <p:spPr>
          <a:xfrm>
            <a:off x="868680" y="5376672"/>
            <a:ext cx="10771632" cy="365760"/>
          </a:xfrm>
          <a:prstGeom prst="rect">
            <a:avLst/>
          </a:prstGeom>
          <a:noFill/>
          <a:ln/>
        </p:spPr>
        <p:txBody>
          <a:bodyPr wrap="square" lIns="0" tIns="0" rIns="0" bIns="0" rtlCol="0" anchor="t"/>
          <a:lstStyle/>
          <a:p>
            <a:pPr indent="0" marL="0">
              <a:buNone/>
            </a:pPr>
            <a:r>
              <a:rPr lang="es-PE" sz="1500" dirty="0">
                <a:solidFill>
                  <a:schemeClr val="tx1"/>
                </a:solidFill>
              </a:rPr>
              <a:t>El compilador verifica otros ocho errores semánticos (Apéndice C del informe); cada uno tiene su programa de prueba.</a:t>
            </a:r>
            <a:endParaRPr lang="es-PE" sz="15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12</a:t>
            </a:fld>
            <a:endParaRPr lang="es-PE"/>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Repositorio y pruebas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Lexer y parser en ANTLR4, probados con varias entradas</a:t>
            </a:r>
            <a:endParaRPr lang="es-PE" sz="2800" dirty="0"/>
          </a:p>
        </p:txBody>
      </p:sp>
      <p:sp>
        <p:nvSpPr>
          <p:cNvPr id="5" name="Text 2"/>
          <p:cNvSpPr txBox="1"/>
          <p:nvPr/>
        </p:nvSpPr>
        <p:spPr>
          <a:xfrm>
            <a:off x="548640" y="1554480"/>
            <a:ext cx="5669280" cy="292608"/>
          </a:xfrm>
          <a:prstGeom prst="rect">
            <a:avLst/>
          </a:prstGeom>
          <a:noFill/>
          <a:ln/>
        </p:spPr>
        <p:txBody>
          <a:bodyPr wrap="square" lIns="0" tIns="0" rIns="0" bIns="0" rtlCol="0" anchor="t"/>
          <a:lstStyle/>
          <a:p>
            <a:pPr indent="0" marL="0">
              <a:buNone/>
            </a:pPr>
            <a:r>
              <a:rPr lang="es-PE" sz="1200" b="1" dirty="0">
                <a:solidFill>
                  <a:schemeClr val="accent5"/>
                </a:solidFill>
              </a:rPr>
              <a:t>Repositorio  </a:t>
            </a:r>
            <a:r>
              <a:rPr lang="es-PE" sz="1500" b="1" u="sng" dirty="0">
                <a:solidFill>
                  <a:schemeClr val="accent1"/>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github.com/DavidRamPari/pixellang</a:t>
            </a:r>
            <a:endParaRPr lang="es-PE" sz="1200" dirty="0"/>
          </a:p>
        </p:txBody>
      </p:sp>
      <p:sp>
        <p:nvSpPr>
          <p:cNvPr id="6" name="Código"/>
          <p:cNvSpPr txBox="1"/>
          <p:nvPr/>
        </p:nvSpPr>
        <p:spPr>
          <a:xfrm>
            <a:off x="548640" y="1920240"/>
            <a:ext cx="5669280" cy="1627632"/>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gramatica/PixelLang.g4  </a:t>
            </a:r>
            <a:r>
              <a:rPr lang="es-PE" sz="1250" dirty="0">
                <a:solidFill>
                  <a:schemeClr val="accent6"/>
                </a:solidFill>
                <a:latin typeface="Consolas" pitchFamily="34" charset="0"/>
                <a:ea typeface="Consolas" pitchFamily="34" charset="-122"/>
                <a:cs typeface="Consolas" pitchFamily="34" charset="-120"/>
              </a:rPr>
              <a:t>léxico y sintaxis</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src/main.py             </a:t>
            </a:r>
            <a:r>
              <a:rPr lang="es-PE" sz="1250" dirty="0">
                <a:solidFill>
                  <a:schemeClr val="accent6"/>
                </a:solidFill>
                <a:latin typeface="Consolas" pitchFamily="34" charset="0"/>
                <a:ea typeface="Consolas" pitchFamily="34" charset="-122"/>
                <a:cs typeface="Consolas" pitchFamily="34" charset="-120"/>
              </a:rPr>
              <a:t>driver</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src/frontend.py         </a:t>
            </a:r>
            <a:r>
              <a:rPr lang="es-PE" sz="1250" dirty="0">
                <a:solidFill>
                  <a:schemeClr val="accent6"/>
                </a:solidFill>
                <a:latin typeface="Consolas" pitchFamily="34" charset="0"/>
                <a:ea typeface="Consolas" pitchFamily="34" charset="-122"/>
                <a:cs typeface="Consolas" pitchFamily="34" charset="-120"/>
              </a:rPr>
              <a:t>lexer y parser de ANTLR4</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src/semantico.py        </a:t>
            </a:r>
            <a:r>
              <a:rPr lang="es-PE" sz="1250" dirty="0">
                <a:solidFill>
                  <a:schemeClr val="accent6"/>
                </a:solidFill>
                <a:latin typeface="Consolas" pitchFamily="34" charset="0"/>
                <a:ea typeface="Consolas" pitchFamily="34" charset="-122"/>
                <a:cs typeface="Consolas" pitchFamily="34" charset="-120"/>
              </a:rPr>
              <a:t>tabla de símbolos, E01 a E10</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ejemplos/               </a:t>
            </a:r>
            <a:r>
              <a:rPr lang="es-PE" sz="1250" dirty="0">
                <a:solidFill>
                  <a:schemeClr val="accent6"/>
                </a:solidFill>
                <a:latin typeface="Consolas" pitchFamily="34" charset="0"/>
                <a:ea typeface="Consolas" pitchFamily="34" charset="-122"/>
                <a:cs typeface="Consolas" pitchFamily="34" charset="-120"/>
              </a:rPr>
              <a:t>caballero.pxl, slime.pxl</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pruebas/                </a:t>
            </a:r>
            <a:r>
              <a:rPr lang="es-PE" sz="1250" dirty="0">
                <a:solidFill>
                  <a:schemeClr val="accent6"/>
                </a:solidFill>
                <a:latin typeface="Consolas" pitchFamily="34" charset="0"/>
                <a:ea typeface="Consolas" pitchFamily="34" charset="-122"/>
                <a:cs typeface="Consolas" pitchFamily="34" charset="-120"/>
              </a:rPr>
              <a:t>léxicas, sintácticas y semánticas</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docs/                   </a:t>
            </a:r>
            <a:r>
              <a:rPr lang="es-PE" sz="1250" dirty="0">
                <a:solidFill>
                  <a:schemeClr val="accent6"/>
                </a:solidFill>
                <a:latin typeface="Consolas" pitchFamily="34" charset="0"/>
                <a:ea typeface="Consolas" pitchFamily="34" charset="-122"/>
                <a:cs typeface="Consolas" pitchFamily="34" charset="-120"/>
              </a:rPr>
              <a:t>informe y presentación</a:t>
            </a:r>
            <a:endParaRPr lang="es-PE" sz="1250" dirty="0"/>
          </a:p>
        </p:txBody>
      </p:sp>
      <p:sp>
        <p:nvSpPr>
          <p:cNvPr id="7" name="Text 4"/>
          <p:cNvSpPr txBox="1"/>
          <p:nvPr/>
        </p:nvSpPr>
        <p:spPr>
          <a:xfrm>
            <a:off x="548640" y="3767328"/>
            <a:ext cx="2743200" cy="274320"/>
          </a:xfrm>
          <a:prstGeom prst="rect">
            <a:avLst/>
          </a:prstGeom>
          <a:noFill/>
          <a:ln/>
        </p:spPr>
        <p:txBody>
          <a:bodyPr wrap="square" lIns="0" tIns="0" rIns="0" bIns="0" rtlCol="0" anchor="t"/>
          <a:lstStyle/>
          <a:p>
            <a:pPr indent="0" marL="0">
              <a:buNone/>
            </a:pPr>
            <a:r>
              <a:rPr lang="es-PE" sz="1200" b="1" dirty="0">
                <a:solidFill>
                  <a:schemeClr val="accent5"/>
                </a:solidFill>
              </a:rPr>
              <a:t>Comandos</a:t>
            </a:r>
            <a:endParaRPr lang="es-PE" sz="1200" dirty="0"/>
          </a:p>
        </p:txBody>
      </p:sp>
      <p:sp>
        <p:nvSpPr>
          <p:cNvPr id="8" name="Código"/>
          <p:cNvSpPr txBox="1"/>
          <p:nvPr/>
        </p:nvSpPr>
        <p:spPr>
          <a:xfrm>
            <a:off x="548640" y="4041648"/>
            <a:ext cx="5669280" cy="987552"/>
          </a:xfrm>
          <a:prstGeom prst="rect">
            <a:avLst/>
          </a:prstGeom>
          <a:solidFill>
            <a:schemeClr val="accent3"/>
          </a:solidFill>
          <a:ln/>
        </p:spPr>
        <p:txBody>
          <a:bodyPr wrap="square" lIns="127000" tIns="101600" rIns="127000" bIns="101600" rtlCol="0" anchor="t"/>
          <a:lstStyle/>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src/main.py ejemplos/caballero.pxl</a:t>
            </a:r>
            <a:endParaRPr lang="es-PE" sz="1250" dirty="0"/>
          </a:p>
          <a:p>
            <a:pPr indent="0" marL="0">
              <a:lnSpc>
                <a:spcPct val="100000"/>
              </a:lnSpc>
              <a:buNone/>
            </a:pPr>
            <a:r>
              <a:rPr lang="es-PE" sz="1250" dirty="0">
                <a:solidFill>
                  <a:schemeClr val="bg1"/>
                </a:solidFill>
                <a:latin typeface="Consolas" pitchFamily="34" charset="0"/>
                <a:ea typeface="Consolas" pitchFamily="34" charset="-122"/>
                <a:cs typeface="Consolas" pitchFamily="34" charset="-120"/>
              </a:rPr>
              <a:t>       --tokens --arbol</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pruebas/correr_pruebas.py</a:t>
            </a:r>
            <a:endParaRPr lang="es-PE" sz="1250" dirty="0"/>
          </a:p>
          <a:p>
            <a:pPr indent="0" marL="0">
              <a:lnSpc>
                <a:spcPct val="100000"/>
              </a:lnSpc>
              <a:buNone/>
            </a:pPr>
            <a:r>
              <a:rPr lang="es-PE" sz="1250" dirty="0">
                <a:solidFill>
                  <a:schemeClr val="accent4"/>
                </a:solidFill>
                <a:latin typeface="Consolas" pitchFamily="34" charset="0"/>
                <a:ea typeface="Consolas" pitchFamily="34" charset="-122"/>
                <a:cs typeface="Consolas" pitchFamily="34" charset="-120"/>
              </a:rPr>
              <a:t>python</a:t>
            </a:r>
            <a:r>
              <a:rPr lang="es-PE" sz="1250" dirty="0">
                <a:solidFill>
                  <a:schemeClr val="bg1"/>
                </a:solidFill>
                <a:latin typeface="Consolas" pitchFamily="34" charset="0"/>
                <a:ea typeface="Consolas" pitchFamily="34" charset="-122"/>
                <a:cs typeface="Consolas" pitchFamily="34" charset="-120"/>
              </a:rPr>
              <a:t> pruebas/probar_construcciones.py</a:t>
            </a:r>
            <a:endParaRPr lang="es-PE" sz="1250" dirty="0"/>
          </a:p>
        </p:txBody>
      </p:sp>
      <p:sp>
        <p:nvSpPr>
          <p:cNvPr id="9" name="Pixel"/>
          <p:cNvSpPr/>
          <p:nvPr/>
        </p:nvSpPr>
        <p:spPr>
          <a:xfrm>
            <a:off x="548640" y="5440680"/>
            <a:ext cx="128016" cy="128016"/>
          </a:xfrm>
          <a:prstGeom prst="rect">
            <a:avLst/>
          </a:prstGeom>
          <a:solidFill>
            <a:schemeClr val="accent1"/>
          </a:solidFill>
          <a:ln w="12700">
            <a:solidFill>
              <a:schemeClr val="accent1"/>
            </a:solidFill>
            <a:prstDash val="solid"/>
          </a:ln>
        </p:spPr>
      </p:sp>
      <p:sp>
        <p:nvSpPr>
          <p:cNvPr id="10" name="Text 7"/>
          <p:cNvSpPr txBox="1"/>
          <p:nvPr/>
        </p:nvSpPr>
        <p:spPr>
          <a:xfrm>
            <a:off x="868680" y="5330952"/>
            <a:ext cx="5349240" cy="365760"/>
          </a:xfrm>
          <a:prstGeom prst="rect">
            <a:avLst/>
          </a:prstGeom>
          <a:noFill/>
          <a:ln/>
        </p:spPr>
        <p:txBody>
          <a:bodyPr wrap="square" lIns="0" tIns="0" rIns="0" bIns="0" rtlCol="0" anchor="t"/>
          <a:lstStyle/>
          <a:p>
            <a:pPr indent="0" marL="0">
              <a:buNone/>
            </a:pPr>
            <a:r>
              <a:rPr lang="es-PE" sz="1500" dirty="0">
                <a:solidFill>
                  <a:schemeClr val="tx1"/>
                </a:solidFill>
              </a:rPr>
              <a:t>Gestión en GitHub: un hito por entrega e issues por tarea.</a:t>
            </a:r>
            <a:endParaRPr lang="es-PE" sz="1500" dirty="0"/>
          </a:p>
        </p:txBody>
      </p:sp>
      <p:sp>
        <p:nvSpPr>
          <p:cNvPr id="11" name="Text 8"/>
          <p:cNvSpPr txBox="1"/>
          <p:nvPr/>
        </p:nvSpPr>
        <p:spPr>
          <a:xfrm>
            <a:off x="6537960" y="1536192"/>
            <a:ext cx="5102352" cy="274320"/>
          </a:xfrm>
          <a:prstGeom prst="rect">
            <a:avLst/>
          </a:prstGeom>
          <a:noFill/>
          <a:ln/>
        </p:spPr>
        <p:txBody>
          <a:bodyPr wrap="square" lIns="0" tIns="0" rIns="0" bIns="0" rtlCol="0" anchor="t"/>
          <a:lstStyle/>
          <a:p>
            <a:pPr indent="0" marL="0">
              <a:buNone/>
            </a:pPr>
            <a:r>
              <a:rPr lang="es-PE" sz="1200" b="1" dirty="0">
                <a:solidFill>
                  <a:schemeClr val="accent5"/>
                </a:solidFill>
              </a:rPr>
              <a:t>Pruebas de los analizadores (Apéndice D)</a:t>
            </a:r>
            <a:endParaRPr lang="es-PE" sz="1200" dirty="0"/>
          </a:p>
        </p:txBody>
      </p:sp>
      <p:sp>
        <p:nvSpPr>
          <p:cNvPr id="12" name="Tarjeta"/>
          <p:cNvSpPr/>
          <p:nvPr/>
        </p:nvSpPr>
        <p:spPr>
          <a:xfrm>
            <a:off x="6537960" y="1874520"/>
            <a:ext cx="5102352" cy="1234440"/>
          </a:xfrm>
          <a:prstGeom prst="rect">
            <a:avLst/>
          </a:prstGeom>
          <a:solidFill>
            <a:schemeClr val="bg2"/>
          </a:solidFill>
          <a:ln w="12700">
            <a:solidFill>
              <a:schemeClr val="bg2"/>
            </a:solidFill>
            <a:prstDash val="solid"/>
          </a:ln>
        </p:spPr>
      </p:sp>
      <p:sp>
        <p:nvSpPr>
          <p:cNvPr id="13" name="Text 10"/>
          <p:cNvSpPr txBox="1"/>
          <p:nvPr/>
        </p:nvSpPr>
        <p:spPr>
          <a:xfrm>
            <a:off x="6720840" y="18745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6</a:t>
            </a:r>
            <a:endParaRPr lang="es-PE" sz="3600" dirty="0"/>
          </a:p>
        </p:txBody>
      </p:sp>
      <p:sp>
        <p:nvSpPr>
          <p:cNvPr id="14" name="Text 11"/>
          <p:cNvSpPr txBox="1"/>
          <p:nvPr/>
        </p:nvSpPr>
        <p:spPr>
          <a:xfrm>
            <a:off x="8001000" y="20299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Léxico</a:t>
            </a:r>
            <a:endParaRPr lang="es-PE" sz="1800" dirty="0"/>
          </a:p>
        </p:txBody>
      </p:sp>
      <p:sp>
        <p:nvSpPr>
          <p:cNvPr id="15" name="Text 12"/>
          <p:cNvSpPr txBox="1"/>
          <p:nvPr/>
        </p:nvSpPr>
        <p:spPr>
          <a:xfrm>
            <a:off x="8001000" y="2395728"/>
            <a:ext cx="3456432" cy="640080"/>
          </a:xfrm>
          <a:prstGeom prst="rect">
            <a:avLst/>
          </a:prstGeom>
          <a:noFill/>
          <a:ln/>
        </p:spPr>
        <p:txBody>
          <a:bodyPr wrap="square" lIns="0" tIns="0" rIns="0" bIns="0" rtlCol="0" anchor="t"/>
          <a:lstStyle/>
          <a:p>
            <a:pPr indent="0" marL="0">
              <a:buNone/>
            </a:pPr>
            <a:r>
              <a:rPr lang="es-PE" sz="1400" dirty="0">
                <a:solidFill>
                  <a:schemeClr val="tx2"/>
                </a:solidFill>
              </a:rPr>
              <a:t>1 entrada válida y 5 con caracteres o lexemas inválidos</a:t>
            </a:r>
            <a:endParaRPr lang="es-PE" sz="1400" dirty="0"/>
          </a:p>
        </p:txBody>
      </p:sp>
      <p:sp>
        <p:nvSpPr>
          <p:cNvPr id="16" name="Tarjeta"/>
          <p:cNvSpPr/>
          <p:nvPr/>
        </p:nvSpPr>
        <p:spPr>
          <a:xfrm>
            <a:off x="6537960" y="3246120"/>
            <a:ext cx="5102352" cy="1234440"/>
          </a:xfrm>
          <a:prstGeom prst="rect">
            <a:avLst/>
          </a:prstGeom>
          <a:solidFill>
            <a:schemeClr val="bg2"/>
          </a:solidFill>
          <a:ln w="12700">
            <a:solidFill>
              <a:schemeClr val="bg2"/>
            </a:solidFill>
            <a:prstDash val="solid"/>
          </a:ln>
        </p:spPr>
      </p:sp>
      <p:sp>
        <p:nvSpPr>
          <p:cNvPr id="17" name="Text 14"/>
          <p:cNvSpPr txBox="1"/>
          <p:nvPr/>
        </p:nvSpPr>
        <p:spPr>
          <a:xfrm>
            <a:off x="6720840" y="32461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41</a:t>
            </a:r>
            <a:endParaRPr lang="es-PE" sz="3600" dirty="0"/>
          </a:p>
        </p:txBody>
      </p:sp>
      <p:sp>
        <p:nvSpPr>
          <p:cNvPr id="18" name="Text 15"/>
          <p:cNvSpPr txBox="1"/>
          <p:nvPr/>
        </p:nvSpPr>
        <p:spPr>
          <a:xfrm>
            <a:off x="8001000" y="34015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Sintáctico</a:t>
            </a:r>
            <a:endParaRPr lang="es-PE" sz="1800" dirty="0"/>
          </a:p>
        </p:txBody>
      </p:sp>
      <p:sp>
        <p:nvSpPr>
          <p:cNvPr id="19" name="Text 16"/>
          <p:cNvSpPr txBox="1"/>
          <p:nvPr/>
        </p:nvSpPr>
        <p:spPr>
          <a:xfrm>
            <a:off x="8001000" y="3767328"/>
            <a:ext cx="3456432" cy="640080"/>
          </a:xfrm>
          <a:prstGeom prst="rect">
            <a:avLst/>
          </a:prstGeom>
          <a:noFill/>
          <a:ln/>
        </p:spPr>
        <p:txBody>
          <a:bodyPr wrap="square" lIns="0" tIns="0" rIns="0" bIns="0" rtlCol="0" anchor="t"/>
          <a:lstStyle/>
          <a:p>
            <a:pPr indent="0" marL="0">
              <a:buNone/>
            </a:pPr>
            <a:r>
              <a:rPr lang="es-PE" sz="1400" dirty="0">
                <a:solidFill>
                  <a:schemeClr val="tx2"/>
                </a:solidFill>
              </a:rPr>
              <a:t>35 ejemplos aceptados y 6 programas con errores rechazados</a:t>
            </a:r>
            <a:endParaRPr lang="es-PE" sz="1400" dirty="0"/>
          </a:p>
        </p:txBody>
      </p:sp>
      <p:sp>
        <p:nvSpPr>
          <p:cNvPr id="20" name="Tarjeta"/>
          <p:cNvSpPr/>
          <p:nvPr/>
        </p:nvSpPr>
        <p:spPr>
          <a:xfrm>
            <a:off x="6537960" y="4617720"/>
            <a:ext cx="5102352" cy="1234440"/>
          </a:xfrm>
          <a:prstGeom prst="rect">
            <a:avLst/>
          </a:prstGeom>
          <a:solidFill>
            <a:schemeClr val="bg2"/>
          </a:solidFill>
          <a:ln w="12700">
            <a:solidFill>
              <a:schemeClr val="bg2"/>
            </a:solidFill>
            <a:prstDash val="solid"/>
          </a:ln>
        </p:spPr>
      </p:sp>
      <p:sp>
        <p:nvSpPr>
          <p:cNvPr id="21" name="Text 18"/>
          <p:cNvSpPr txBox="1"/>
          <p:nvPr/>
        </p:nvSpPr>
        <p:spPr>
          <a:xfrm>
            <a:off x="6720840" y="4617720"/>
            <a:ext cx="1143000" cy="1234440"/>
          </a:xfrm>
          <a:prstGeom prst="rect">
            <a:avLst/>
          </a:prstGeom>
          <a:noFill/>
          <a:ln/>
        </p:spPr>
        <p:txBody>
          <a:bodyPr wrap="square" lIns="0" tIns="0" rIns="0" bIns="0" rtlCol="0" anchor="ctr"/>
          <a:lstStyle/>
          <a:p>
            <a:pPr algn="ctr" indent="0" marL="0">
              <a:buNone/>
            </a:pPr>
            <a:r>
              <a:rPr lang="es-PE" sz="3600" b="1" dirty="0">
                <a:solidFill>
                  <a:schemeClr val="accent1"/>
                </a:solidFill>
                <a:latin typeface="Consolas" pitchFamily="34" charset="0"/>
                <a:ea typeface="Consolas" pitchFamily="34" charset="-122"/>
                <a:cs typeface="Consolas" pitchFamily="34" charset="-120"/>
              </a:rPr>
              <a:t>10</a:t>
            </a:r>
            <a:endParaRPr lang="es-PE" sz="3600" dirty="0"/>
          </a:p>
        </p:txBody>
      </p:sp>
      <p:sp>
        <p:nvSpPr>
          <p:cNvPr id="22" name="Text 19"/>
          <p:cNvSpPr txBox="1"/>
          <p:nvPr/>
        </p:nvSpPr>
        <p:spPr>
          <a:xfrm>
            <a:off x="8001000" y="4773168"/>
            <a:ext cx="3456432" cy="365760"/>
          </a:xfrm>
          <a:prstGeom prst="rect">
            <a:avLst/>
          </a:prstGeom>
          <a:noFill/>
          <a:ln/>
        </p:spPr>
        <p:txBody>
          <a:bodyPr wrap="square" lIns="0" tIns="0" rIns="0" bIns="0" rtlCol="0" anchor="t"/>
          <a:lstStyle/>
          <a:p>
            <a:pPr indent="0" marL="0">
              <a:buNone/>
            </a:pPr>
            <a:r>
              <a:rPr lang="es-PE" sz="1800" b="1" dirty="0">
                <a:solidFill>
                  <a:schemeClr val="tx1"/>
                </a:solidFill>
              </a:rPr>
              <a:t>Semántico</a:t>
            </a:r>
            <a:endParaRPr lang="es-PE" sz="1800" dirty="0"/>
          </a:p>
        </p:txBody>
      </p:sp>
      <p:sp>
        <p:nvSpPr>
          <p:cNvPr id="23" name="Text 20"/>
          <p:cNvSpPr txBox="1"/>
          <p:nvPr/>
        </p:nvSpPr>
        <p:spPr>
          <a:xfrm>
            <a:off x="8001000" y="5138928"/>
            <a:ext cx="3456432" cy="640080"/>
          </a:xfrm>
          <a:prstGeom prst="rect">
            <a:avLst/>
          </a:prstGeom>
          <a:noFill/>
          <a:ln/>
        </p:spPr>
        <p:txBody>
          <a:bodyPr wrap="square" lIns="0" tIns="0" rIns="0" bIns="0" rtlCol="0" anchor="t"/>
          <a:lstStyle/>
          <a:p>
            <a:pPr indent="0" marL="0">
              <a:buNone/>
            </a:pPr>
            <a:r>
              <a:rPr lang="es-PE" sz="1400" dirty="0">
                <a:solidFill>
                  <a:schemeClr val="tx2"/>
                </a:solidFill>
              </a:rPr>
              <a:t>Un programa por cada error, de E01 a E10</a:t>
            </a:r>
            <a:endParaRPr lang="es-PE"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13</a:t>
            </a:fld>
            <a:endParaRPr lang="es-P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1"/>
                </a:solidFill>
              </a:rPr>
              <a:t>Referencias</a:t>
            </a:r>
            <a:endParaRPr lang="es-PE" sz="1300" dirty="0"/>
          </a:p>
        </p:txBody>
      </p:sp>
      <p:sp>
        <p:nvSpPr>
          <p:cNvPr id="3" name="Text 4"/>
          <p:cNvSpPr/>
          <p:nvPr>
            <p:ph idx="105"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tx1"/>
                </a:solidFill>
              </a:rPr>
              <a:t>Referencias</a:t>
            </a:r>
            <a:endParaRPr lang="es-PE" sz="2800" dirty="0"/>
          </a:p>
        </p:txBody>
      </p:sp>
      <p:sp>
        <p:nvSpPr>
          <p:cNvPr id="5" name="Referencias"/>
          <p:cNvSpPr txBox="1"/>
          <p:nvPr/>
        </p:nvSpPr>
        <p:spPr>
          <a:xfrm>
            <a:off x="548640" y="1508760"/>
            <a:ext cx="5413248" cy="4709160"/>
          </a:xfrm>
          <a:prstGeom prst="rect">
            <a:avLst/>
          </a:prstGeom>
          <a:noFill/>
          <a:ln/>
        </p:spPr>
        <p:txBody>
          <a:bodyPr wrap="square" lIns="0" tIns="0" rIns="0" bIns="0" rtlCol="0" anchor="t"/>
          <a:lstStyle/>
          <a:p>
            <a:pPr algn="l" indent="-228600" marL="228600">
              <a:spcAft>
                <a:spcPts val="600"/>
              </a:spcAft>
              <a:buNone/>
            </a:pPr>
            <a:r>
              <a:rPr lang="es-PE" sz="1200" dirty="0">
                <a:solidFill>
                  <a:schemeClr val="tx1"/>
                </a:solidFill>
              </a:rPr>
              <a:t>Aho, A. V., Lam, M. S., Sethi, R. y Ullman, J. D. (2006). </a:t>
            </a:r>
            <a:r>
              <a:rPr lang="es-PE" sz="1200" i="1" dirty="0">
                <a:solidFill>
                  <a:schemeClr val="tx1"/>
                </a:solidFill>
              </a:rPr>
              <a:t>Compilers: Principles, techniques, and tools</a:t>
            </a:r>
            <a:r>
              <a:rPr lang="es-PE" sz="1200" dirty="0">
                <a:solidFill>
                  <a:schemeClr val="tx1"/>
                </a:solidFill>
              </a:rPr>
              <a:t> (2.ª ed.). Pearson.</a:t>
            </a:r>
            <a:endParaRPr lang="es-PE" sz="1200" dirty="0"/>
          </a:p>
          <a:p>
            <a:pPr algn="l" indent="-228600" marL="228600">
              <a:spcAft>
                <a:spcPts val="600"/>
              </a:spcAft>
              <a:buNone/>
            </a:pPr>
            <a:r>
              <a:rPr lang="es-PE" sz="1200" dirty="0">
                <a:solidFill>
                  <a:schemeClr val="tx1"/>
                </a:solidFill>
              </a:rPr>
              <a:t>Harel, D. (1987). Statecharts: A visual formalism for complex systems. </a:t>
            </a:r>
            <a:r>
              <a:rPr lang="es-PE" sz="1200" i="1" dirty="0">
                <a:solidFill>
                  <a:schemeClr val="tx1"/>
                </a:solidFill>
              </a:rPr>
              <a:t>Science of Computer Programming, 8</a:t>
            </a:r>
            <a:r>
              <a:rPr lang="es-PE" sz="1200" dirty="0">
                <a:solidFill>
                  <a:schemeClr val="tx1"/>
                </a:solidFill>
              </a:rPr>
              <a:t>(3), 231–274. https://doi.org/10.1016/0167-6423(87)90035-9</a:t>
            </a:r>
            <a:endParaRPr lang="es-PE" sz="1200" dirty="0"/>
          </a:p>
          <a:p>
            <a:pPr algn="l" indent="-228600" marL="228600">
              <a:spcAft>
                <a:spcPts val="600"/>
              </a:spcAft>
              <a:buNone/>
            </a:pPr>
            <a:r>
              <a:rPr lang="es-PE" sz="1200" dirty="0">
                <a:solidFill>
                  <a:schemeClr val="tx1"/>
                </a:solidFill>
              </a:rPr>
              <a:t>Lattner, C. y Adve, V. (2004). LLVM: A compilation framework for lifelong program analysis &amp; transformation. En </a:t>
            </a:r>
            <a:r>
              <a:rPr lang="es-PE" sz="1200" i="1" dirty="0">
                <a:solidFill>
                  <a:schemeClr val="tx1"/>
                </a:solidFill>
              </a:rPr>
              <a:t>International Symposium on Code Generation and Optimization, 2004. CGO 2004</a:t>
            </a:r>
            <a:r>
              <a:rPr lang="es-PE" sz="1200" dirty="0">
                <a:solidFill>
                  <a:schemeClr val="tx1"/>
                </a:solidFill>
              </a:rPr>
              <a:t> (pp. 75–86). IEEE. https://doi.org/10.1109/CGO.2004.1281665</a:t>
            </a:r>
            <a:endParaRPr lang="es-PE" sz="1200" dirty="0"/>
          </a:p>
          <a:p>
            <a:pPr algn="l" indent="-228600" marL="228600">
              <a:spcAft>
                <a:spcPts val="600"/>
              </a:spcAft>
              <a:buNone/>
            </a:pPr>
            <a:r>
              <a:rPr lang="es-PE" sz="1200" dirty="0">
                <a:solidFill>
                  <a:schemeClr val="tx1"/>
                </a:solidFill>
              </a:rPr>
              <a:t>Mernik, M., Heering, J. y Sloane, A. M. (2005). When and how to develop domain-specific languages. </a:t>
            </a:r>
            <a:r>
              <a:rPr lang="es-PE" sz="1200" i="1" dirty="0">
                <a:solidFill>
                  <a:schemeClr val="tx1"/>
                </a:solidFill>
              </a:rPr>
              <a:t>ACM Computing Surveys, 37</a:t>
            </a:r>
            <a:r>
              <a:rPr lang="es-PE" sz="1200" dirty="0">
                <a:solidFill>
                  <a:schemeClr val="tx1"/>
                </a:solidFill>
              </a:rPr>
              <a:t>(4), 316–344. https://doi.org/10.1145/1118890.1118892</a:t>
            </a:r>
            <a:endParaRPr lang="es-PE" sz="1200" dirty="0"/>
          </a:p>
          <a:p>
            <a:pPr algn="l" indent="-228600" marL="228600">
              <a:spcAft>
                <a:spcPts val="600"/>
              </a:spcAft>
              <a:buNone/>
            </a:pPr>
            <a:r>
              <a:rPr lang="es-PE" sz="1200" dirty="0">
                <a:solidFill>
                  <a:schemeClr val="tx1"/>
                </a:solidFill>
              </a:rPr>
              <a:t>Murphy-Hill, E., Zimmermann, T. y Nagappan, N. (2014). Cowboys, ankle sprains, and keepers of quality: How is video game development different from software development? En </a:t>
            </a:r>
            <a:r>
              <a:rPr lang="es-PE" sz="1200" i="1" dirty="0">
                <a:solidFill>
                  <a:schemeClr val="tx1"/>
                </a:solidFill>
              </a:rPr>
              <a:t>Proceedings of the 36th International Conference on Software Engineering</a:t>
            </a:r>
            <a:r>
              <a:rPr lang="es-PE" sz="1200" dirty="0">
                <a:solidFill>
                  <a:schemeClr val="tx1"/>
                </a:solidFill>
              </a:rPr>
              <a:t> (pp. 1–11). ACM. https://doi.org/10.1145/2568225.2568226</a:t>
            </a:r>
            <a:endParaRPr lang="es-PE" sz="1200" dirty="0"/>
          </a:p>
          <a:p>
            <a:pPr algn="l" indent="-228600" marL="228600">
              <a:spcAft>
                <a:spcPts val="600"/>
              </a:spcAft>
              <a:buNone/>
            </a:pPr>
            <a:r>
              <a:rPr lang="es-PE" sz="1200" dirty="0">
                <a:solidFill>
                  <a:schemeClr val="tx1"/>
                </a:solidFill>
              </a:rPr>
              <a:t>Nystrom, R. (2014). State. En </a:t>
            </a:r>
            <a:r>
              <a:rPr lang="es-PE" sz="1200" i="1" dirty="0">
                <a:solidFill>
                  <a:schemeClr val="tx1"/>
                </a:solidFill>
              </a:rPr>
              <a:t>Game programming patterns</a:t>
            </a:r>
            <a:r>
              <a:rPr lang="es-PE" sz="1200" dirty="0">
                <a:solidFill>
                  <a:schemeClr val="tx1"/>
                </a:solidFill>
              </a:rPr>
              <a:t>. Genever Benning. https://gameprogrammingpatterns.com/state.html</a:t>
            </a:r>
            <a:endParaRPr lang="es-PE" sz="1200" dirty="0"/>
          </a:p>
        </p:txBody>
      </p:sp>
      <p:sp>
        <p:nvSpPr>
          <p:cNvPr id="6" name="Referencias"/>
          <p:cNvSpPr txBox="1"/>
          <p:nvPr/>
        </p:nvSpPr>
        <p:spPr>
          <a:xfrm>
            <a:off x="6227064" y="1508760"/>
            <a:ext cx="5413248" cy="4709160"/>
          </a:xfrm>
          <a:prstGeom prst="rect">
            <a:avLst/>
          </a:prstGeom>
          <a:noFill/>
          <a:ln/>
        </p:spPr>
        <p:txBody>
          <a:bodyPr wrap="square" lIns="0" tIns="0" rIns="0" bIns="0" rtlCol="0" anchor="t"/>
          <a:lstStyle/>
          <a:p>
            <a:pPr algn="l" indent="-228600" marL="228600">
              <a:spcAft>
                <a:spcPts val="600"/>
              </a:spcAft>
              <a:buNone/>
            </a:pPr>
            <a:r>
              <a:rPr lang="es-PE" sz="1200" dirty="0">
                <a:solidFill>
                  <a:schemeClr val="tx1"/>
                </a:solidFill>
              </a:rPr>
              <a:t>Parr, T. (2013). </a:t>
            </a:r>
            <a:r>
              <a:rPr lang="es-PE" sz="1200" i="1" dirty="0">
                <a:solidFill>
                  <a:schemeClr val="tx1"/>
                </a:solidFill>
              </a:rPr>
              <a:t>The definitive ANTLR 4 reference</a:t>
            </a:r>
            <a:r>
              <a:rPr lang="es-PE" sz="1200" dirty="0">
                <a:solidFill>
                  <a:schemeClr val="tx1"/>
                </a:solidFill>
              </a:rPr>
              <a:t>. The Pragmatic Bookshelf.</a:t>
            </a:r>
            <a:endParaRPr lang="es-PE" sz="1200" dirty="0"/>
          </a:p>
          <a:p>
            <a:pPr algn="l" indent="-228600" marL="228600">
              <a:spcAft>
                <a:spcPts val="600"/>
              </a:spcAft>
              <a:buNone/>
            </a:pPr>
            <a:r>
              <a:rPr lang="es-PE" sz="1200" dirty="0">
                <a:solidFill>
                  <a:schemeClr val="tx1"/>
                </a:solidFill>
              </a:rPr>
              <a:t>Politowski, C., Petrillo, F. y Guéhéneuc, Y.-G. (2021). </a:t>
            </a:r>
            <a:r>
              <a:rPr lang="es-PE" sz="1200" i="1" dirty="0">
                <a:solidFill>
                  <a:schemeClr val="tx1"/>
                </a:solidFill>
              </a:rPr>
              <a:t>A survey of video game testing</a:t>
            </a:r>
            <a:r>
              <a:rPr lang="es-PE" sz="1200" dirty="0">
                <a:solidFill>
                  <a:schemeClr val="tx1"/>
                </a:solidFill>
              </a:rPr>
              <a:t> [Preprint]. arXiv. https://doi.org/10.48550/arXiv.2103.06431</a:t>
            </a:r>
            <a:endParaRPr lang="es-PE" sz="1200" dirty="0"/>
          </a:p>
          <a:p>
            <a:pPr algn="l" indent="-228600" marL="228600">
              <a:spcAft>
                <a:spcPts val="600"/>
              </a:spcAft>
              <a:buNone/>
            </a:pPr>
            <a:r>
              <a:rPr lang="es-PE" sz="1200" dirty="0">
                <a:solidFill>
                  <a:schemeClr val="tx1"/>
                </a:solidFill>
              </a:rPr>
              <a:t>Stately. (s. f.). </a:t>
            </a:r>
            <a:r>
              <a:rPr lang="es-PE" sz="1200" i="1" dirty="0">
                <a:solidFill>
                  <a:schemeClr val="tx1"/>
                </a:solidFill>
              </a:rPr>
              <a:t>XState</a:t>
            </a:r>
            <a:r>
              <a:rPr lang="es-PE" sz="1200" dirty="0">
                <a:solidFill>
                  <a:schemeClr val="tx1"/>
                </a:solidFill>
              </a:rPr>
              <a:t>. Recuperado el 4 de octubre de 2026, de https://stately.ai/docs/xstate</a:t>
            </a:r>
            <a:endParaRPr lang="es-PE" sz="1200" dirty="0"/>
          </a:p>
          <a:p>
            <a:pPr algn="l" indent="-228600" marL="228600">
              <a:spcAft>
                <a:spcPts val="600"/>
              </a:spcAft>
              <a:buNone/>
            </a:pPr>
            <a:r>
              <a:rPr lang="es-PE" sz="1200" dirty="0">
                <a:solidFill>
                  <a:schemeClr val="tx1"/>
                </a:solidFill>
              </a:rPr>
              <a:t>Unity Technologies. (s. f.). </a:t>
            </a:r>
            <a:r>
              <a:rPr lang="es-PE" sz="1200" i="1" dirty="0">
                <a:solidFill>
                  <a:schemeClr val="tx1"/>
                </a:solidFill>
              </a:rPr>
              <a:t>Introduction to Animator Controllers</a:t>
            </a:r>
            <a:r>
              <a:rPr lang="es-PE" sz="1200" dirty="0">
                <a:solidFill>
                  <a:schemeClr val="tx1"/>
                </a:solidFill>
              </a:rPr>
              <a:t>. Recuperado el 4 de octubre de 2026, de https://docs.unity3d.com/Manual/class-AnimatorController.html</a:t>
            </a:r>
            <a:endParaRPr lang="es-PE" sz="1200" dirty="0"/>
          </a:p>
          <a:p>
            <a:pPr algn="l" indent="-228600" marL="228600">
              <a:spcAft>
                <a:spcPts val="600"/>
              </a:spcAft>
              <a:buNone/>
            </a:pPr>
            <a:r>
              <a:rPr lang="es-PE" sz="1200" dirty="0">
                <a:solidFill>
                  <a:schemeClr val="tx1"/>
                </a:solidFill>
              </a:rPr>
              <a:t>World Wide Web Consortium. (2015). </a:t>
            </a:r>
            <a:r>
              <a:rPr lang="es-PE" sz="1200" i="1" dirty="0">
                <a:solidFill>
                  <a:schemeClr val="tx1"/>
                </a:solidFill>
              </a:rPr>
              <a:t>State chart XML (SCXML): State machine notation for control abstraction</a:t>
            </a:r>
            <a:r>
              <a:rPr lang="es-PE" sz="1200" dirty="0">
                <a:solidFill>
                  <a:schemeClr val="tx1"/>
                </a:solidFill>
              </a:rPr>
              <a:t> (W3C Recommendation). https://www.w3.org/TR/scxml/</a:t>
            </a:r>
            <a:endParaRPr lang="es-PE"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14</a:t>
            </a:fld>
            <a:endParaRPr lang="es-PE"/>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3" type="body" hasCustomPrompt="1"/>
          </p:nvPr>
        </p:nvSpPr>
        <p:spPr>
          <a:xfrm>
            <a:off x="1097280" y="292608"/>
            <a:ext cx="8229600" cy="329184"/>
          </a:xfrm>
          <a:prstGeom prst="rect">
            <a:avLst/>
          </a:prstGeom>
          <a:noFill/>
          <a:ln/>
        </p:spPr>
        <p:txBody>
          <a:bodyPr wrap="square" lIns="0" tIns="0" rIns="0" bIns="0" rtlCol="0" anchor="ctr"/>
          <a:lstStyle/>
          <a:p>
            <a:pPr indent="0" marL="0">
              <a:buNone/>
            </a:pPr>
            <a:r>
              <a:rPr lang="es-PE" sz="1300" b="1" dirty="0">
                <a:solidFill>
                  <a:schemeClr val="accent4"/>
                </a:solidFill>
              </a:rPr>
              <a:t>Demostración</a:t>
            </a:r>
            <a:endParaRPr lang="es-PE" sz="1300" dirty="0"/>
          </a:p>
        </p:txBody>
      </p:sp>
      <p:sp>
        <p:nvSpPr>
          <p:cNvPr id="3" name="Text 3"/>
          <p:cNvSpPr/>
          <p:nvPr>
            <p:ph idx="104" type="title" hasCustomPrompt="1"/>
          </p:nvPr>
        </p:nvSpPr>
        <p:spPr>
          <a:xfrm>
            <a:off x="548640" y="658368"/>
            <a:ext cx="11091672" cy="685800"/>
          </a:xfrm>
          <a:prstGeom prst="rect">
            <a:avLst/>
          </a:prstGeom>
          <a:noFill/>
          <a:ln/>
        </p:spPr>
        <p:txBody>
          <a:bodyPr wrap="square" lIns="0" tIns="0" rIns="0" bIns="0" rtlCol="0" anchor="t"/>
          <a:lstStyle/>
          <a:p>
            <a:pPr algn="l" indent="0" marL="0">
              <a:buNone/>
            </a:pPr>
            <a:r>
              <a:rPr lang="es-PE" sz="2800" b="1" dirty="0">
                <a:solidFill>
                  <a:schemeClr val="bg1"/>
                </a:solidFill>
              </a:rPr>
              <a:t>El compilador en funcionamiento</a:t>
            </a:r>
            <a:endParaRPr lang="es-PE" sz="2800" dirty="0"/>
          </a:p>
        </p:txBody>
      </p:sp>
      <p:sp>
        <p:nvSpPr>
          <p:cNvPr id="4" name="Marco del video"/>
          <p:cNvSpPr/>
          <p:nvPr/>
        </p:nvSpPr>
        <p:spPr>
          <a:xfrm>
            <a:off x="2148840" y="1554480"/>
            <a:ext cx="7900416" cy="4443984"/>
          </a:xfrm>
          <a:prstGeom prst="rect">
            <a:avLst/>
          </a:prstGeom>
          <a:solidFill>
            <a:srgbClr val="26262B"/>
          </a:solidFill>
          <a:ln w="15875">
            <a:solidFill>
              <a:schemeClr val="accent5"/>
            </a:solidFill>
            <a:prstDash val="dash"/>
          </a:ln>
        </p:spPr>
      </p:sp>
      <p:sp>
        <p:nvSpPr>
          <p:cNvPr id="5" name="Fondo del icono"/>
          <p:cNvSpPr/>
          <p:nvPr/>
        </p:nvSpPr>
        <p:spPr>
          <a:xfrm>
            <a:off x="5687568" y="3364992"/>
            <a:ext cx="822960" cy="822960"/>
          </a:xfrm>
          <a:prstGeom prst="rect">
            <a:avLst/>
          </a:prstGeom>
          <a:solidFill>
            <a:schemeClr val="accent1"/>
          </a:solidFill>
          <a:ln w="12700">
            <a:solidFill>
              <a:schemeClr val="accent1"/>
            </a:solidFill>
            <a:prstDash val="solid"/>
          </a:ln>
        </p:spPr>
      </p:sp>
      <p:pic>
        <p:nvPicPr>
          <p:cNvPr id="6" name="Icono" descr="preencoded.png">    </p:cNvPr>
          <p:cNvPicPr>
            <a:picLocks noChangeAspect="1"/>
          </p:cNvPicPr>
          <p:nvPr/>
        </p:nvPicPr>
        <p:blipFill>
          <a:blip r:embed="rId1"/>
          <a:stretch>
            <a:fillRect/>
          </a:stretch>
        </p:blipFill>
        <p:spPr>
          <a:xfrm>
            <a:off x="5852160" y="3529584"/>
            <a:ext cx="493776" cy="493776"/>
          </a:xfrm>
          <a:prstGeom prst="rect">
            <a:avLst/>
          </a:prstGeom>
        </p:spPr>
      </p:pic>
      <p:sp>
        <p:nvSpPr>
          <p:cNvPr id="7" name="Text 4"/>
          <p:cNvSpPr txBox="1"/>
          <p:nvPr/>
        </p:nvSpPr>
        <p:spPr>
          <a:xfrm>
            <a:off x="2148840" y="6053328"/>
            <a:ext cx="7900416" cy="320040"/>
          </a:xfrm>
          <a:prstGeom prst="rect">
            <a:avLst/>
          </a:prstGeom>
          <a:noFill/>
          <a:ln/>
        </p:spPr>
        <p:txBody>
          <a:bodyPr wrap="square" lIns="0" tIns="0" rIns="0" bIns="0" rtlCol="0" anchor="t"/>
          <a:lstStyle/>
          <a:p>
            <a:pPr algn="ctr" indent="0" marL="0">
              <a:buNone/>
            </a:pPr>
            <a:r>
              <a:rPr lang="es-PE" sz="1300" dirty="0">
                <a:solidFill>
                  <a:schemeClr val="accent6"/>
                </a:solidFill>
              </a:rPr>
              <a:t>Video de demostración (5 minutos como máximo)</a:t>
            </a:r>
            <a:endParaRPr lang="es-PE" sz="13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s-PE"/>
              <a:t>15</a:t>
            </a:fld>
            <a:endParaRPr lang="es-PE"/>
          </a:p>
        </p:txBody>
      </p:sp>
    </p:spTree>
  </p:cSld>
  <p:clrMapOvr>
    <a:masterClrMapping/>
  </p:clrMapOvr>
</p:sld>
</file>

<file path=ppt/theme/theme1.xml><?xml version="1.0" encoding="utf-8"?>
<a:theme xmlns:a="http://schemas.openxmlformats.org/drawingml/2006/main" name="PixelLang">
  <a:themeElements>
    <a:clrScheme name="PixelLang">
      <a:dk1>
        <a:srgbClr val="1B1B1F"/>
      </a:dk1>
      <a:lt1>
        <a:srgbClr val="FFFFFF"/>
      </a:lt1>
      <a:dk2>
        <a:srgbClr val="4A4A52"/>
      </a:dk2>
      <a:lt2>
        <a:srgbClr val="F1F1F3"/>
      </a:lt2>
      <a:accent1>
        <a:srgbClr val="D7263D"/>
      </a:accent1>
      <a:accent2>
        <a:srgbClr val="2E933C"/>
      </a:accent2>
      <a:accent3>
        <a:srgbClr val="111114"/>
      </a:accent3>
      <a:accent4>
        <a:srgbClr val="F2C14E"/>
      </a:accent4>
      <a:accent5>
        <a:srgbClr val="8A8A93"/>
      </a:accent5>
      <a:accent6>
        <a:srgbClr val="C9CDD3"/>
      </a:accent6>
      <a:hlink>
        <a:srgbClr val="D7263D"/>
      </a:hlink>
      <a:folHlink>
        <a:srgbClr val="8A8A93"/>
      </a:folHlink>
    </a:clrScheme>
    <a:fontScheme name="PixelLang">
      <a:majorFont>
        <a:latin typeface="Consola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PixelLang</dc:title>
  <dc:subject>Trabajo Parcial de Teoría de Compiladores</dc:subject>
  <dc:creator>Diego Ruiz, David Ramos, Antony Quito y Mateo Monge</dc:creator>
  <cp:lastModifiedBy>Diego Ruiz, David Ramos, Antony Quito y Mateo Monge</cp:lastModifiedBy>
  <cp:revision>1</cp:revision>
  <dcterms:created xsi:type="dcterms:W3CDTF">2026-10-06T04:00:19Z</dcterms:created>
  <dcterms:modified xsi:type="dcterms:W3CDTF">2026-10-06T04:00:19Z</dcterms:modified>
</cp:coreProperties>
</file>