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272baf8b-337b-ccf7-ecde-4ed2ff2cbe06}">
          <p14:sldIdLst>
            <p14:sldId id="256"/>
          </p14:sldIdLst>
        </p14:section>
        <p14:section name="Problemática y motivación" id="{bc6ee13e-bce2-03e6-cda9-47544050b3ea}">
          <p14:sldIdLst>
            <p14:sldId id="257"/>
            <p14:sldId id="258"/>
            <p14:sldId id="259"/>
          </p14:sldIdLst>
        </p14:section>
        <p14:section name="Objetivos" id="{9c53baf8-e0e3-e727-a2ad-a51a6187311b}">
          <p14:sldIdLst>
            <p14:sldId id="260"/>
          </p14:sldIdLst>
        </p14:section>
        <p14:section name="Construcciones del lenguaje" id="{1d481e8a-6965-f7dc-3238-8d727a728761}">
          <p14:sldIdLst>
            <p14:sldId id="261"/>
            <p14:sldId id="262"/>
          </p14:sldIdLst>
        </p14:section>
        <p14:section name="Analizador léxico" id="{fe016e7d-7514-1023-bbe8-3b4c871a18cd}">
          <p14:sldIdLst>
            <p14:sldId id="263"/>
          </p14:sldIdLst>
        </p14:section>
        <p14:section name="Analizador sintáctico" id="{11f92795-cf12-a80b-739b-1f7d0171264b}">
          <p14:sldIdLst>
            <p14:sldId id="264"/>
            <p14:sldId id="265"/>
          </p14:sldIdLst>
        </p14:section>
        <p14:section name="Analizador semántico" id="{89c75175-2c2d-ccaf-e230-8ca604856db3}">
          <p14:sldIdLst>
            <p14:sldId id="266"/>
            <p14:sldId id="267"/>
          </p14:sldIdLst>
        </p14:section>
        <p14:section name="Repositorio y pruebas" id="{21cf019b-6015-7fe8-deb4-d1a012765032}">
          <p14:sldIdLst>
            <p14:sldId id="268"/>
          </p14:sldIdLst>
        </p14:section>
        <p14:section name="Cierre" id="{ef01cda7-2491-c1f3-6769-caba1ca7d8d1}">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Diego (aprox. 40 s)
Buenos días, profesor y compañeros. Somos Diego, David, Antony y Mateo, y les presentamos PixelLang, el lenguaje que diseñamos para el trabajo parcial.
PixelLang sirve para describir cómo se comporta un personaje de un videojuego 2D: en qué estados puede estar y qué lo hace pasar de uno a otro. Yo presento la problemática: cuál es el problema, por qué es importante y qué existe hoy. Luego David presenta los objetivos y las construcciones del lenguaje, Antony el análisis léxico y el sintáctico, y Mateo el análisis semántico, el repositorio con las pruebas y la demostración.</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Diego (aprox. 1 min 5 s)
Empiezo por el problema. En un juego 2D, el comportamiento de un personaje se describe con una máquina de estados finitos: el personaje está en reposo, saltando, atacando o aturdido, y cambia de estado cuando ocurre un evento, como pulsar un botón o recibir un golpe. Así lo explica Nystrom en Game Programming Patterns.
Sin embargo, esa máquina casi nunca se escribe como tal. En el código queda como lo que ven a la izquierda: condicionales que revisan banderas. Nada impide que atacando y aturdido queden activas a la vez, y para saber qué estados existen hay que leer todo el bucle.
En los editores visuales, como el de Unity, los estados sí se dibujan como nodos, pero las condiciones de cada transición se configuran aparte, en el Inspector. Además, como advertía Harel, un diagrama de estados plano se vuelve difícil de mantener a medida que crece.</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2</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Diego (aprox. 1 min 35 s)
¿Por qué es importante? Porque la calidad de un juego es esencial para su éxito y, aun así, según Politowski y sus coautores, los videojuegos suelen publicarse con errores desde el primer día, cualquiera que sea su presupuesto o el tamaño del equipo.
La máquina de estados decide qué puede hacer el personaje en cada momento, por lo que un error en ella llega directamente al jugador. Estos son tres errores típicos. Si a un estado no se puede llegar desde el estado inicial, el jugador nunca puede usar esa acción. Si una transición apunta a un estado que se borró o se renombró, el personaje no responde al evento. Y si de un estado no se puede salir, el personaje queda atrapado y la partida no avanza. El compilador del juego no detecta ninguno, porque para él las banderas son solo variables.
Entonces, ¿cómo se detectan hoy estos errores? Jugando, y es un proceso largo: hay que llevar al personaje a cada estado y disparar cada evento. Un personaje con 5 estados y 6 eventos ya tiene 30 combinaciones, y la revisión se repite cada vez que cambia el diseño. Los desarrolladores dependen casi exclusivamente de las partidas manuales, y Murphy-Hill y sus coautores encontraron que evitan las pruebas automatizadas porque quedan obsoletas con cada cambio del diseño.</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3</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Diego (aprox. 1 min 25 s)
¿Existe algo que resuelva esto? Entre las herramientas que existen para escribir máquinas de estados como texto, revisamos dos representativas: SCXML, que es una recomendación del W3C, y XState. Las dos son de propósito general: la primera es un formato XML para intérpretes y la segunda, una biblioteca para aplicaciones web. Ninguna está pensada para describir los personajes de un juego.
Por eso proponemos PixelLang, un lenguaje de dominio específico. Como explican Mernik y sus coautores, un lenguaje así permite analizar y verificar los programas en los términos del propio dominio.
Aquí aplicamos la teoría del curso: cada personaje de PixelLang es un autómata finito A = {Q, Σ, δ, q0, F}. Los estados que declara forman Q, sus eventos son el alfabeto Σ, cada línea "cuando" define una parte de la función de transición δ, el estado inicial es q0 y los estados finales forman F. Así, el compilador comprueba, antes de ejecutar nada, que el autómata esté bien formado, y los errores que hoy se descubren jugando se detectan al compilar, con su línea y su columna. Esto también nos motiva, porque el problema permite aplicar directamente lo que vemos en el curso.
A continuación, David presentará los objetivos.</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4</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David (aprox. 50 s)
Gracias, Diego. Nuestro objetivo general es desarrollar un compilador para PixelLang que verifique, al compilar, que la máquina de estados de cada personaje esté bien formada, y que la traduzca a código ejecutable.
Para lograrlo nos planteamos cuatro objetivos, uno por etapa del compilador: definir el léxico e implementar el analizador léxico con expresiones regulares en ANTLR4; diseñar una gramática libre de contexto por construcción, validarla con derivaciones más a la izquierda e implementar el parser; construir la tabla de símbolos y el analizador semántico que detecta los errores del autómata; y generar código con LLVM. Los tres primeros forman parte de este trabajo; la generación de código corresponde al hito 3.</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5</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David (aprox. 1 min)
Veamos cómo se escribe un programa. PixelLang tiene siete construcciones, y de cada una les mostramos un ejemplo.
La primera es el programa con la declaración de personaje. Un programa declara uno o más personajes y, al final, cero o más simulaciones. Este es el ejemplo 1.2, una puerta: un evento, ser_abierta; un estado inicial, Cerrada, y un estado final, Abierta. La última línea es una simulación: le da a la puerta una secuencia de eventos. En este hito, el compilador verifica que el personaje y los eventos de la simulación existan.
Dentro de cada personaje van, en este orden, los atributos, los eventos y los estados. Un atributo tiene nombre, tipo y valor inicial: vida es un entero que empieza en 100. Y la declaración de eventos lista los eventos del personaje, que forman su alfabeto.</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6</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David (aprox. 50 s)
Un estado puede llevar el modificador inicial o final, acciones al entrar y sus transiciones. Aquí, al entrar a Saltando, el personaje sube 2.5, y sale de ese estado al aterrizar o al recibir un golpe.
Una transición indica el evento que la dispara, una guarda opcional con si y el estado destino: si al terminar el aturdimiento la vida llegó a cero, el personaje pasa a Derrotado.
Las acciones son asignaciones y selecciones con si y un sino opcional. Y las expresiones combinan operadores lógicos, relacionales y aritméticos.
Cada construcción tiene cinco ejemplos, 35 en total; están en el Apéndice A del informe y el parser los acepta todos. A continuación, Antony explicará cómo se reconocen estas construcciones.</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7</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Antony (aprox. 1 min 5 s)
Gracias, David. La primera etapa es el analizador léxico, que implementamos con expresiones regulares en ANTLR4. PixelLang tiene 43 tokens: diez palabras reservadas, cinco para los tipos y los valores lógicos, quince operadores, siete signos de puntuación, tres para los números enteros, los reales y los identificadores, y tres para los comentarios y los espacios, que se reconocen pero se descartan.
En el informe el léxico está en la forma token: lista de lexemas; aquí ven un extracto y, abajo, dos líneas de entrada con sus tokens. El comentario no produce ninguno.
Los conflictos se resuelven con dos criterios. Primero, siempre gana el lexema más largo; por eso "siguiente" es un identificador y "&lt;=" es un solo token. Segundo, si dos reglas reconocen un lexema de la misma longitud, gana la que aparece primero; por eso las palabras reservadas van antes que ID, y "si" es la palabra reservada SI.</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8</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Antony (aprox. 1 min 5 s)
Para el análisis sintáctico escribimos siete gramáticas libres de contexto, una por construcción, con la notación de clase: los no terminales en cursiva, los terminales en negrita, las alternativas separadas con una barra y ε para la cadena vacía. Los terminales id, num y dec representan los tokens ID, NUM_ENTERO y NUM_REAL.
A la izquierda está la de transiciones: cuando, el evento, una guarda opcional, la flecha, el destino y el punto y coma; la guarda es si seguido de una expresión, o la cadena vacía. Debajo está la de eventos, que muestra cómo escribimos las listas: con recursión por la izquierda.
A la derecha está la de expresiones. Sigue el esquema de expr, term y factor que vimos en clase, con un no terminal por nivel de precedencia, desde el o lógico hasta el factor. Así, cada expresión tiene un solo árbol de derivación y la gramática no es ambigua.</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9</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Antony (aprox. 45 s)
Para validar cada gramática derivamos por la izquierda cuatro de sus ejemplos, 28 derivaciones en total, que están en el Apéndice B. Esta es la del ejemplo 5.2, la transición que lleva al personaje a Derrotado.
Empezamos en transicion y aplicamos su única producción. El no terminal más a la izquierda pasa a ser guarda y, como hay condición, usamos guarda → si expr. Queda expr, que pertenece a la gramática de expresiones, G7; por eso resumimos su subderivación en un solo paso con ⇒*, que se lee "deriva en cero o más pasos". Y llegamos a la cadena de tokens del ejemplo.
Le paso la palabra a Mateo.</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10</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Mateo (aprox. 1 min 5 s)
Gracias, Antony. Que un programa sea sintácticamente correcto no garantiza que su autómata tenga sentido; de eso se encarga el analizador semántico. Como en los laboratorios 4 y 5, es un visitor que recorre el árbol sintáctico que genera ANTLR: al visitar una declaración inserta el símbolo en la tabla, y al visitar un uso lo busca.
La tabla tiene dos niveles de ámbito: el global, con los personajes, y uno por cada personaje. A la derecha está el ámbito de este Caballero, tal como lo imprime la opción --tabla: el atributo vida con su tipo, los tres eventos y los dos estados, con Reposo marcado como inicial. Observen que la tabla contiene las partes del autómata: los eventos son Σ, los estados son Q y el inicial es q0; como no hay estados finales, F es vacío.
Este programa pasa el análisis léxico y el sintáctico, pero tiene dos errores.</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11</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Mateo (aprox. 1 min 5 s)
Son los dos errores que presentamos en el cuerpo del informe, en la Tabla 5, y ambos se derivan de la definición de autómata.
E01: en la línea 10, Saltando va hacia Volando, que no está en la tabla. La función de transición solo puede llevar a estados de Q.
E03: en Reposo hay dos transiciones con saltar y ninguna tiene guarda, por lo que la segunda nunca se toma. Para cada estado y evento, δ tiene un único destino.
Como se pidió en clase, cada error indica su código, su línea y su columna, que se cuenta desde cero, como en ANTLR. El análisis no se detiene en el primer error, sino que los reporta todos juntos. Además de estos dos, el compilador verifica otros ocho, como los estados inalcanzables o los eventos no declarados, que están en el Apéndice C. También advierte cuando un estado que no es final no tiene salidas.</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12</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Mateo (aprox. 1 min)
Todo está en el repositorio de GitHub. La gramática combinada, PixelLang.g4, contiene el léxico y la sintaxis, y a partir de ella ANTLR4 genera el lexer y el parser. El driver, main.py, ejecuta las etapas en orden: con --tokens muestra los tokens; con --arbol, el árbol sintáctico, y con --tabla, la tabla de símbolos.
Probamos cada analizador con entradas válidas e inválidas. Para el léxico, una entrada válida y cinco con caracteres o lexemas que no pertenecen al lenguaje. Para el sintáctico, los 35 ejemplos, que se aceptan, y seis programas con errores, que se rechazan. Y para el semántico, un programa por cada error, además de los dos ejemplos completos, que no tienen errores. Están en el Apéndice D. El avance lo organizamos en GitHub, con un hito por entrega e issues por tarea.</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13</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Mateo (aprox. 10 s)
Estas son las referencias que citamos, en formato APA 7; son las mismas que figuran en el informe.</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14</a:t>
            </a:fld>
            <a:endParaRPr lang="es-P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Mateo (aprox. 10 s, más el video)
Para terminar, les mostramos el compilador funcionando.
[Reproducir el video. Al terminar: "Con esto concluimos la presentación de PixelLang. Muchas gracias; quedamos atentos a sus preguntas."]
El video está en Google Drive: https://drive.google.com/file/d/1asrzQjXH87vR6JPZDanqDFVFOEntwdZ8/view?usp=sharing. Durante la presentación se abre con un clic en el recuadro o en el enlace de abajo. Para que se reproduzca sin internet, se puede insertar con Insertar &gt; Vídeo &gt; Este dispositivo y ajustarlo al recuadro.</a:t>
            </a:r>
            <a:endParaRPr lang="es-PE" dirty="0"/>
          </a:p>
        </p:txBody>
      </p:sp>
      <p:sp>
        <p:nvSpPr>
          <p:cNvPr id="4" name="Slide Number Placeholder 3"/>
          <p:cNvSpPr>
            <a:spLocks noGrp="1"/>
          </p:cNvSpPr>
          <p:nvPr>
            <p:ph type="sldNum" sz="quarter" idx="10"/>
          </p:nvPr>
        </p:nvSpPr>
        <p:spPr/>
        <p:txBody>
          <a:bodyPr/>
          <a:lstStyle/>
          <a:p>
            <a:fld id="{F7021451-1387-4CA6-816F-3879F97B5CBC}" type="slidenum">
              <a:rPr lang="es-PE"/>
              <a:t>15</a:t>
            </a:fld>
            <a:endParaRPr lang="es-P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48640" y="397764"/>
            <a:ext cx="118872" cy="118872"/>
          </a:xfrm>
          <a:prstGeom prst="rect">
            <a:avLst/>
          </a:prstGeom>
          <a:solidFill>
            <a:schemeClr val="accent1"/>
          </a:solidFill>
          <a:ln/>
        </p:spPr>
      </p:sp>
      <p:sp>
        <p:nvSpPr>
          <p:cNvPr id="3" name="Shape 1"/>
          <p:cNvSpPr/>
          <p:nvPr/>
        </p:nvSpPr>
        <p:spPr>
          <a:xfrm>
            <a:off x="713232" y="397764"/>
            <a:ext cx="118872" cy="118872"/>
          </a:xfrm>
          <a:prstGeom prst="rect">
            <a:avLst/>
          </a:prstGeom>
          <a:solidFill>
            <a:schemeClr val="accent1"/>
          </a:solidFill>
          <a:ln/>
        </p:spPr>
      </p:sp>
      <p:sp>
        <p:nvSpPr>
          <p:cNvPr id="4" name="Shape 2"/>
          <p:cNvSpPr/>
          <p:nvPr/>
        </p:nvSpPr>
        <p:spPr>
          <a:xfrm>
            <a:off x="877824" y="397764"/>
            <a:ext cx="118872" cy="118872"/>
          </a:xfrm>
          <a:prstGeom prst="rect">
            <a:avLst/>
          </a:prstGeom>
          <a:solidFill>
            <a:schemeClr val="accent6"/>
          </a:solidFill>
          <a:ln/>
        </p:spPr>
      </p:sp>
      <p:sp>
        <p:nvSpPr>
          <p:cNvPr id="5" name="Text 3"/>
          <p:cNvSpPr/>
          <p:nvPr/>
        </p:nvSpPr>
        <p:spPr>
          <a:xfrm>
            <a:off x="548640" y="6382512"/>
            <a:ext cx="7315200" cy="274320"/>
          </a:xfrm>
          <a:prstGeom prst="rect">
            <a:avLst/>
          </a:prstGeom>
          <a:noFill/>
          <a:ln/>
        </p:spPr>
        <p:txBody>
          <a:bodyPr wrap="square" lIns="0" tIns="0" rIns="0" bIns="0" rtlCol="0" anchor="ctr"/>
          <a:lstStyle/>
          <a:p>
            <a:pPr indent="0" marL="0">
              <a:buNone/>
            </a:pPr>
            <a:r>
              <a:rPr lang="es-PE" sz="1000" dirty="0">
                <a:solidFill>
                  <a:schemeClr val="accent5"/>
                </a:solidFill>
              </a:rPr>
              <a:t>PixelLang  |  Teoría de Compiladores  |  Trabajo Parcial</a:t>
            </a:r>
            <a:endParaRPr lang="es-PE" sz="1000" dirty="0"/>
          </a:p>
        </p:txBody>
      </p:sp>
      <p:sp>
        <p:nvSpPr>
          <p:cNvPr id="6" name="Text 4"/>
          <p:cNvSpPr/>
          <p:nvPr>
            <p:ph idx="104" type="body" hasCustomPrompt="1"/>
          </p:nvPr>
        </p:nvSpPr>
        <p:spPr>
          <a:xfrm>
            <a:off x="1097280" y="292608"/>
            <a:ext cx="8229600" cy="329184"/>
          </a:xfrm>
          <a:prstGeom prst="rect">
            <a:avLst/>
          </a:prstGeom>
          <a:noFill/>
          <a:ln/>
        </p:spPr>
        <p:txBody>
          <a:bodyPr wrap="square" rtlCol="0"/>
          <a:lstStyle>
            <a:lvl1pPr indent="0" marL="0">
              <a:buNone/>
              <a:defRPr lang="es-PE" sz="1300" b="1" dirty="0">
                <a:solidFill>
                  <a:schemeClr val="accent1"/>
                </a:solidFill>
              </a:defRPr>
            </a:lvl1pPr>
          </a:lstStyle>
          <a:p>
            <a:pPr indent="0" marL="0">
              <a:buNone/>
            </a:pPr>
            <a:endParaRPr lang="es-PE" sz="1300" dirty="0"/>
          </a:p>
        </p:txBody>
      </p:sp>
      <p:sp>
        <p:nvSpPr>
          <p:cNvPr id="7" name="Text 4"/>
          <p:cNvSpPr/>
          <p:nvPr>
            <p:ph idx="105" type="title" hasCustomPrompt="1"/>
          </p:nvPr>
        </p:nvSpPr>
        <p:spPr>
          <a:xfrm>
            <a:off x="548640" y="658368"/>
            <a:ext cx="11091672" cy="685800"/>
          </a:xfrm>
          <a:prstGeom prst="rect">
            <a:avLst/>
          </a:prstGeom>
          <a:noFill/>
          <a:ln/>
        </p:spPr>
        <p:txBody>
          <a:bodyPr wrap="square" rtlCol="0"/>
          <a:lstStyle>
            <a:lvl1pPr algn="l" indent="0" marL="0">
              <a:buNone/>
              <a:defRPr lang="es-PE" sz="2800" b="1" dirty="0">
                <a:solidFill>
                  <a:schemeClr val="tx1"/>
                </a:solidFill>
              </a:defRPr>
            </a:lvl1pPr>
          </a:lstStyle>
          <a:p>
            <a:pPr algn="l" indent="0" marL="0">
              <a:buNone/>
            </a:pPr>
            <a:endParaRPr lang="es-PE" sz="28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1002</a:t>
            </a:fld>
            <a:endParaRPr lang="es-P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6949440" cy="1005840"/>
          </a:xfrm>
          <a:prstGeom prst="rect">
            <a:avLst/>
          </a:prstGeom>
          <a:noFill/>
          <a:ln/>
        </p:spPr>
        <p:txBody>
          <a:bodyPr wrap="square" rtlCol="0"/>
          <a:lstStyle>
            <a:lvl1pPr algn="l" indent="0" marL="0">
              <a:buNone/>
              <a:defRPr lang="es-PE" sz="6000" b="1" dirty="0">
                <a:solidFill>
                  <a:schemeClr val="bg1"/>
                </a:solidFill>
              </a:defRPr>
            </a:lvl1pPr>
          </a:lstStyle>
          <a:p>
            <a:pPr algn="l" indent="0" marL="0">
              <a:buNone/>
            </a:pPr>
            <a:endParaRPr lang="es-PE" sz="6000" dirty="0"/>
          </a:p>
        </p:txBody>
      </p:sp>
      <p:sp>
        <p:nvSpPr>
          <p:cNvPr id="3" name="Text 0"/>
          <p:cNvSpPr/>
          <p:nvPr>
            <p:ph idx="101" type="body" hasCustomPrompt="1"/>
          </p:nvPr>
        </p:nvSpPr>
        <p:spPr>
          <a:xfrm>
            <a:off x="731520" y="3063240"/>
            <a:ext cx="6766560" cy="868680"/>
          </a:xfrm>
          <a:prstGeom prst="rect">
            <a:avLst/>
          </a:prstGeom>
          <a:noFill/>
          <a:ln/>
        </p:spPr>
        <p:txBody>
          <a:bodyPr wrap="square" rtlCol="0"/>
          <a:lstStyle>
            <a:lvl1pPr indent="0" marL="0">
              <a:buNone/>
              <a:defRPr lang="es-PE" sz="2000" dirty="0">
                <a:solidFill>
                  <a:schemeClr val="accent6"/>
                </a:solidFill>
              </a:defRPr>
            </a:lvl1pPr>
          </a:lstStyle>
          <a:p>
            <a:pPr indent="0" marL="0">
              <a:buNone/>
            </a:pPr>
            <a:endParaRPr lang="es-P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IDEO">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397764"/>
            <a:ext cx="118872" cy="118872"/>
          </a:xfrm>
          <a:prstGeom prst="rect">
            <a:avLst/>
          </a:prstGeom>
          <a:solidFill>
            <a:schemeClr val="accent1"/>
          </a:solidFill>
          <a:ln/>
        </p:spPr>
      </p:sp>
      <p:sp>
        <p:nvSpPr>
          <p:cNvPr id="3" name="Shape 1"/>
          <p:cNvSpPr/>
          <p:nvPr/>
        </p:nvSpPr>
        <p:spPr>
          <a:xfrm>
            <a:off x="713232" y="397764"/>
            <a:ext cx="118872" cy="118872"/>
          </a:xfrm>
          <a:prstGeom prst="rect">
            <a:avLst/>
          </a:prstGeom>
          <a:solidFill>
            <a:schemeClr val="accent1"/>
          </a:solidFill>
          <a:ln/>
        </p:spPr>
      </p:sp>
      <p:sp>
        <p:nvSpPr>
          <p:cNvPr id="4" name="Shape 2"/>
          <p:cNvSpPr/>
          <p:nvPr/>
        </p:nvSpPr>
        <p:spPr>
          <a:xfrm>
            <a:off x="877824" y="397764"/>
            <a:ext cx="118872" cy="118872"/>
          </a:xfrm>
          <a:prstGeom prst="rect">
            <a:avLst/>
          </a:prstGeom>
          <a:solidFill>
            <a:schemeClr val="accent6"/>
          </a:solidFill>
          <a:ln/>
        </p:spPr>
      </p:sp>
      <p:sp>
        <p:nvSpPr>
          <p:cNvPr id="5" name="Text 3"/>
          <p:cNvSpPr/>
          <p:nvPr>
            <p:ph idx="103" type="body" hasCustomPrompt="1"/>
          </p:nvPr>
        </p:nvSpPr>
        <p:spPr>
          <a:xfrm>
            <a:off x="1097280" y="292608"/>
            <a:ext cx="8229600" cy="329184"/>
          </a:xfrm>
          <a:prstGeom prst="rect">
            <a:avLst/>
          </a:prstGeom>
          <a:noFill/>
          <a:ln/>
        </p:spPr>
        <p:txBody>
          <a:bodyPr wrap="square" rtlCol="0"/>
          <a:lstStyle>
            <a:lvl1pPr indent="0" marL="0">
              <a:buNone/>
              <a:defRPr lang="es-PE" sz="1300" b="1" dirty="0">
                <a:solidFill>
                  <a:schemeClr val="accent4"/>
                </a:solidFill>
              </a:defRPr>
            </a:lvl1pPr>
          </a:lstStyle>
          <a:p>
            <a:pPr indent="0" marL="0">
              <a:buNone/>
            </a:pPr>
            <a:endParaRPr lang="es-PE" sz="1300" dirty="0"/>
          </a:p>
        </p:txBody>
      </p:sp>
      <p:sp>
        <p:nvSpPr>
          <p:cNvPr id="6" name="Text 3"/>
          <p:cNvSpPr/>
          <p:nvPr>
            <p:ph idx="104" type="title" hasCustomPrompt="1"/>
          </p:nvPr>
        </p:nvSpPr>
        <p:spPr>
          <a:xfrm>
            <a:off x="548640" y="658368"/>
            <a:ext cx="11091672" cy="685800"/>
          </a:xfrm>
          <a:prstGeom prst="rect">
            <a:avLst/>
          </a:prstGeom>
          <a:noFill/>
          <a:ln/>
        </p:spPr>
        <p:txBody>
          <a:bodyPr wrap="square" rtlCol="0"/>
          <a:lstStyle>
            <a:lvl1pPr algn="l" indent="0" marL="0">
              <a:buNone/>
              <a:defRPr lang="es-PE" sz="2800" b="1" dirty="0">
                <a:solidFill>
                  <a:schemeClr val="bg1"/>
                </a:solidFill>
              </a:defRPr>
            </a:lvl1pPr>
          </a:lstStyle>
          <a:p>
            <a:pPr algn="l" indent="0" marL="0">
              <a:buNone/>
            </a:pPr>
            <a:endParaRPr lang="es-PE" sz="28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1004</a:t>
            </a:fld>
            <a:endParaRPr lang="es-P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DavidRamPari/pixellang"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rive.google.com/file/d/1asrzQjXH87vR6JPZDanqDFVFOEntwdZ8/view?usp=sharing" TargetMode="External"/><Relationship Id="rId3" Type="http://schemas.openxmlformats.org/officeDocument/2006/relationships/hyperlink" Target="https://drive.google.com/file/d/1asrzQjXH87vR6JPZDanqDFVFOEntwdZ8/view?usp=sharing" TargetMode="External"/><Relationship Id="rId2" Type="http://schemas.openxmlformats.org/officeDocument/2006/relationships/image" Target="../media/image-15-1.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6949440" cy="1005840"/>
          </a:xfrm>
          <a:prstGeom prst="rect">
            <a:avLst/>
          </a:prstGeom>
          <a:noFill/>
          <a:ln/>
        </p:spPr>
        <p:txBody>
          <a:bodyPr wrap="square" lIns="0" tIns="0" rIns="0" bIns="0" rtlCol="0" anchor="t"/>
          <a:lstStyle/>
          <a:p>
            <a:pPr algn="l" indent="0" marL="0">
              <a:buNone/>
            </a:pPr>
            <a:r>
              <a:rPr lang="es-PE" sz="6000" b="1" dirty="0">
                <a:solidFill>
                  <a:schemeClr val="bg1"/>
                </a:solidFill>
              </a:rPr>
              <a:t>PixelLang</a:t>
            </a:r>
            <a:endParaRPr lang="es-PE" sz="6000" dirty="0"/>
          </a:p>
        </p:txBody>
      </p:sp>
      <p:sp>
        <p:nvSpPr>
          <p:cNvPr id="3" name="Text 0"/>
          <p:cNvSpPr/>
          <p:nvPr>
            <p:ph idx="101" type="body" hasCustomPrompt="1"/>
          </p:nvPr>
        </p:nvSpPr>
        <p:spPr>
          <a:xfrm>
            <a:off x="731520" y="3063240"/>
            <a:ext cx="6766560" cy="868680"/>
          </a:xfrm>
          <a:prstGeom prst="rect">
            <a:avLst/>
          </a:prstGeom>
          <a:noFill/>
          <a:ln/>
        </p:spPr>
        <p:txBody>
          <a:bodyPr wrap="square" lIns="0" tIns="0" rIns="0" bIns="0" rtlCol="0" anchor="t"/>
          <a:lstStyle/>
          <a:p>
            <a:pPr indent="0" marL="0">
              <a:buNone/>
            </a:pPr>
            <a:r>
              <a:rPr lang="es-PE" sz="2000" dirty="0">
                <a:solidFill>
                  <a:schemeClr val="accent6"/>
                </a:solidFill>
              </a:rPr>
              <a:t>Un lenguaje para describir la máquina de estados de los personajes de un videojuego 2D</a:t>
            </a:r>
            <a:endParaRPr lang="es-PE" sz="2000" dirty="0"/>
          </a:p>
        </p:txBody>
      </p:sp>
      <p:pic>
        <p:nvPicPr>
          <p:cNvPr id="4" name="Logo UPC" descr="logo_upc_transparente.png">    </p:cNvPr>
          <p:cNvPicPr>
            <a:picLocks noChangeAspect="1"/>
          </p:cNvPicPr>
          <p:nvPr/>
        </p:nvPicPr>
        <p:blipFill>
          <a:blip r:embed="rId1"/>
          <a:stretch>
            <a:fillRect/>
          </a:stretch>
        </p:blipFill>
        <p:spPr>
          <a:xfrm>
            <a:off x="731520" y="548640"/>
            <a:ext cx="566928" cy="566928"/>
          </a:xfrm>
          <a:prstGeom prst="rect">
            <a:avLst/>
          </a:prstGeom>
        </p:spPr>
      </p:pic>
      <p:sp>
        <p:nvSpPr>
          <p:cNvPr id="5" name="Text 2"/>
          <p:cNvSpPr txBox="1"/>
          <p:nvPr/>
        </p:nvSpPr>
        <p:spPr>
          <a:xfrm>
            <a:off x="1463040" y="548640"/>
            <a:ext cx="5486400" cy="566928"/>
          </a:xfrm>
          <a:prstGeom prst="rect">
            <a:avLst/>
          </a:prstGeom>
          <a:noFill/>
          <a:ln/>
        </p:spPr>
        <p:txBody>
          <a:bodyPr wrap="square" lIns="0" tIns="0" rIns="0" bIns="0" rtlCol="0" anchor="ctr"/>
          <a:lstStyle/>
          <a:p>
            <a:pPr indent="0" marL="0">
              <a:buNone/>
            </a:pPr>
            <a:r>
              <a:rPr lang="es-PE" sz="1400" dirty="0">
                <a:solidFill>
                  <a:schemeClr val="accent6"/>
                </a:solidFill>
              </a:rPr>
              <a:t>Universidad Peruana de Ciencias Aplicadas</a:t>
            </a:r>
            <a:endParaRPr lang="es-PE" sz="1400" dirty="0"/>
          </a:p>
        </p:txBody>
      </p:sp>
      <p:sp>
        <p:nvSpPr>
          <p:cNvPr id="6" name="Barra de vida"/>
          <p:cNvSpPr/>
          <p:nvPr/>
        </p:nvSpPr>
        <p:spPr>
          <a:xfrm>
            <a:off x="731520" y="1481328"/>
            <a:ext cx="164592" cy="164592"/>
          </a:xfrm>
          <a:prstGeom prst="rect">
            <a:avLst/>
          </a:prstGeom>
          <a:solidFill>
            <a:schemeClr val="accent1"/>
          </a:solidFill>
          <a:ln w="12700">
            <a:solidFill>
              <a:schemeClr val="accent1"/>
            </a:solidFill>
            <a:prstDash val="solid"/>
          </a:ln>
        </p:spPr>
      </p:sp>
      <p:sp>
        <p:nvSpPr>
          <p:cNvPr id="7" name="Barra de vida"/>
          <p:cNvSpPr/>
          <p:nvPr/>
        </p:nvSpPr>
        <p:spPr>
          <a:xfrm>
            <a:off x="950976" y="1481328"/>
            <a:ext cx="164592" cy="164592"/>
          </a:xfrm>
          <a:prstGeom prst="rect">
            <a:avLst/>
          </a:prstGeom>
          <a:solidFill>
            <a:schemeClr val="accent1"/>
          </a:solidFill>
          <a:ln w="12700">
            <a:solidFill>
              <a:schemeClr val="accent1"/>
            </a:solidFill>
            <a:prstDash val="solid"/>
          </a:ln>
        </p:spPr>
      </p:sp>
      <p:sp>
        <p:nvSpPr>
          <p:cNvPr id="8" name="Barra de vida"/>
          <p:cNvSpPr/>
          <p:nvPr/>
        </p:nvSpPr>
        <p:spPr>
          <a:xfrm>
            <a:off x="1170432" y="1481328"/>
            <a:ext cx="164592" cy="164592"/>
          </a:xfrm>
          <a:prstGeom prst="rect">
            <a:avLst/>
          </a:prstGeom>
          <a:solidFill>
            <a:schemeClr val="accent5"/>
          </a:solidFill>
          <a:ln w="12700">
            <a:solidFill>
              <a:schemeClr val="accent5"/>
            </a:solidFill>
            <a:prstDash val="solid"/>
          </a:ln>
        </p:spPr>
      </p:sp>
      <p:sp>
        <p:nvSpPr>
          <p:cNvPr id="9" name="Text 6"/>
          <p:cNvSpPr txBox="1"/>
          <p:nvPr/>
        </p:nvSpPr>
        <p:spPr>
          <a:xfrm>
            <a:off x="731520" y="4069080"/>
            <a:ext cx="7223760" cy="685800"/>
          </a:xfrm>
          <a:prstGeom prst="rect">
            <a:avLst/>
          </a:prstGeom>
          <a:noFill/>
          <a:ln/>
        </p:spPr>
        <p:txBody>
          <a:bodyPr wrap="square" lIns="0" tIns="0" rIns="0" bIns="0" rtlCol="0" anchor="t"/>
          <a:lstStyle/>
          <a:p>
            <a:pPr indent="0" marL="0">
              <a:spcAft>
                <a:spcPts val="400"/>
              </a:spcAft>
              <a:buNone/>
            </a:pPr>
            <a:r>
              <a:rPr lang="es-PE" sz="1600" b="1" dirty="0">
                <a:solidFill>
                  <a:schemeClr val="bg1"/>
                </a:solidFill>
              </a:rPr>
              <a:t>Trabajo Parcial  |  Teoría de Compiladores</a:t>
            </a:r>
            <a:endParaRPr lang="es-PE" sz="1600" dirty="0"/>
          </a:p>
          <a:p>
            <a:pPr indent="0" marL="0">
              <a:spcAft>
                <a:spcPts val="400"/>
              </a:spcAft>
              <a:buNone/>
            </a:pPr>
            <a:r>
              <a:rPr lang="es-PE" sz="1300" dirty="0">
                <a:solidFill>
                  <a:schemeClr val="accent6"/>
                </a:solidFill>
              </a:rPr>
              <a:t>Sección 13962  |  Grupo 5  |  Docente: Marco Antonio Sobrevilla Cabezudo</a:t>
            </a:r>
            <a:endParaRPr lang="es-PE" sz="1600" dirty="0"/>
          </a:p>
        </p:txBody>
      </p:sp>
      <p:sp>
        <p:nvSpPr>
          <p:cNvPr id="10" name="Text 7"/>
          <p:cNvSpPr txBox="1"/>
          <p:nvPr/>
        </p:nvSpPr>
        <p:spPr>
          <a:xfrm>
            <a:off x="731520" y="4892040"/>
            <a:ext cx="6949440" cy="1143000"/>
          </a:xfrm>
          <a:prstGeom prst="rect">
            <a:avLst/>
          </a:prstGeom>
          <a:noFill/>
          <a:ln/>
        </p:spPr>
        <p:txBody>
          <a:bodyPr wrap="square" lIns="0" tIns="0" rIns="0" bIns="0" rtlCol="0" anchor="t"/>
          <a:lstStyle/>
          <a:p>
            <a:pPr indent="0" marL="0">
              <a:spcAft>
                <a:spcPts val="300"/>
              </a:spcAft>
              <a:buNone/>
            </a:pPr>
            <a:r>
              <a:rPr lang="es-PE" sz="1200" dirty="0">
                <a:solidFill>
                  <a:schemeClr val="accent4"/>
                </a:solidFill>
                <a:latin typeface="Consolas" pitchFamily="34" charset="0"/>
                <a:ea typeface="Consolas" pitchFamily="34" charset="-122"/>
                <a:cs typeface="Consolas" pitchFamily="34" charset="-120"/>
              </a:rPr>
              <a:t>U20221G222   </a:t>
            </a:r>
            <a:r>
              <a:rPr lang="es-PE" sz="1300" dirty="0">
                <a:solidFill>
                  <a:schemeClr val="bg1"/>
                </a:solidFill>
              </a:rPr>
              <a:t>Diego Gilmer Ruiz Soto</a:t>
            </a:r>
            <a:endParaRPr lang="es-PE" sz="1200" dirty="0"/>
          </a:p>
          <a:p>
            <a:pPr indent="0" marL="0">
              <a:spcAft>
                <a:spcPts val="300"/>
              </a:spcAft>
              <a:buNone/>
            </a:pPr>
            <a:r>
              <a:rPr lang="es-PE" sz="1200" dirty="0">
                <a:solidFill>
                  <a:schemeClr val="accent4"/>
                </a:solidFill>
                <a:latin typeface="Consolas" pitchFamily="34" charset="0"/>
                <a:ea typeface="Consolas" pitchFamily="34" charset="-122"/>
                <a:cs typeface="Consolas" pitchFamily="34" charset="-120"/>
              </a:rPr>
              <a:t>U202417368   </a:t>
            </a:r>
            <a:r>
              <a:rPr lang="es-PE" sz="1300" dirty="0">
                <a:solidFill>
                  <a:schemeClr val="bg1"/>
                </a:solidFill>
              </a:rPr>
              <a:t>David Miguel Ramos Parihuaman</a:t>
            </a:r>
            <a:endParaRPr lang="es-PE" sz="1200" dirty="0"/>
          </a:p>
          <a:p>
            <a:pPr indent="0" marL="0">
              <a:spcAft>
                <a:spcPts val="300"/>
              </a:spcAft>
              <a:buNone/>
            </a:pPr>
            <a:r>
              <a:rPr lang="es-PE" sz="1200" dirty="0">
                <a:solidFill>
                  <a:schemeClr val="accent4"/>
                </a:solidFill>
                <a:latin typeface="Consolas" pitchFamily="34" charset="0"/>
                <a:ea typeface="Consolas" pitchFamily="34" charset="-122"/>
                <a:cs typeface="Consolas" pitchFamily="34" charset="-120"/>
              </a:rPr>
              <a:t>U20241D937   </a:t>
            </a:r>
            <a:r>
              <a:rPr lang="es-PE" sz="1300" dirty="0">
                <a:solidFill>
                  <a:schemeClr val="bg1"/>
                </a:solidFill>
              </a:rPr>
              <a:t>Antony Rodrigo Quito Anccasi</a:t>
            </a:r>
            <a:endParaRPr lang="es-PE" sz="1200" dirty="0"/>
          </a:p>
          <a:p>
            <a:pPr indent="0" marL="0">
              <a:spcAft>
                <a:spcPts val="300"/>
              </a:spcAft>
              <a:buNone/>
            </a:pPr>
            <a:r>
              <a:rPr lang="es-PE" sz="1200" dirty="0">
                <a:solidFill>
                  <a:schemeClr val="accent4"/>
                </a:solidFill>
                <a:latin typeface="Consolas" pitchFamily="34" charset="0"/>
                <a:ea typeface="Consolas" pitchFamily="34" charset="-122"/>
                <a:cs typeface="Consolas" pitchFamily="34" charset="-120"/>
              </a:rPr>
              <a:t>U202412516   </a:t>
            </a:r>
            <a:r>
              <a:rPr lang="es-PE" sz="1300" dirty="0">
                <a:solidFill>
                  <a:schemeClr val="bg1"/>
                </a:solidFill>
              </a:rPr>
              <a:t>Mateo Alonso Monge Jiménez</a:t>
            </a:r>
            <a:endParaRPr lang="es-PE" sz="1200" dirty="0"/>
          </a:p>
        </p:txBody>
      </p:sp>
      <p:sp>
        <p:nvSpPr>
          <p:cNvPr id="11" name="Text 8"/>
          <p:cNvSpPr txBox="1"/>
          <p:nvPr/>
        </p:nvSpPr>
        <p:spPr>
          <a:xfrm>
            <a:off x="731520" y="6172200"/>
            <a:ext cx="3657600" cy="274320"/>
          </a:xfrm>
          <a:prstGeom prst="rect">
            <a:avLst/>
          </a:prstGeom>
          <a:noFill/>
          <a:ln/>
        </p:spPr>
        <p:txBody>
          <a:bodyPr wrap="square" lIns="0" tIns="0" rIns="0" bIns="0" rtlCol="0" anchor="t"/>
          <a:lstStyle/>
          <a:p>
            <a:pPr indent="0" marL="0">
              <a:buNone/>
            </a:pPr>
            <a:r>
              <a:rPr lang="es-PE" sz="1200" dirty="0">
                <a:solidFill>
                  <a:schemeClr val="accent5"/>
                </a:solidFill>
              </a:rPr>
              <a:t>Octubre de 2026</a:t>
            </a:r>
            <a:endParaRPr lang="es-PE" sz="1200" dirty="0"/>
          </a:p>
        </p:txBody>
      </p:sp>
      <p:sp>
        <p:nvSpPr>
          <p:cNvPr id="12" name="Pixel"/>
          <p:cNvSpPr/>
          <p:nvPr/>
        </p:nvSpPr>
        <p:spPr>
          <a:xfrm>
            <a:off x="9326880" y="1143000"/>
            <a:ext cx="274320" cy="274320"/>
          </a:xfrm>
          <a:prstGeom prst="rect">
            <a:avLst/>
          </a:prstGeom>
          <a:solidFill>
            <a:schemeClr val="accent1"/>
          </a:solidFill>
          <a:ln w="12700">
            <a:solidFill>
              <a:schemeClr val="accent1"/>
            </a:solidFill>
            <a:prstDash val="solid"/>
          </a:ln>
        </p:spPr>
      </p:sp>
      <p:sp>
        <p:nvSpPr>
          <p:cNvPr id="13" name="Pixel"/>
          <p:cNvSpPr/>
          <p:nvPr/>
        </p:nvSpPr>
        <p:spPr>
          <a:xfrm>
            <a:off x="9601200" y="1143000"/>
            <a:ext cx="274320" cy="274320"/>
          </a:xfrm>
          <a:prstGeom prst="rect">
            <a:avLst/>
          </a:prstGeom>
          <a:solidFill>
            <a:schemeClr val="accent1"/>
          </a:solidFill>
          <a:ln w="12700">
            <a:solidFill>
              <a:schemeClr val="accent1"/>
            </a:solidFill>
            <a:prstDash val="solid"/>
          </a:ln>
        </p:spPr>
      </p:sp>
      <p:sp>
        <p:nvSpPr>
          <p:cNvPr id="14" name="Pixel"/>
          <p:cNvSpPr/>
          <p:nvPr/>
        </p:nvSpPr>
        <p:spPr>
          <a:xfrm>
            <a:off x="9875520" y="1143000"/>
            <a:ext cx="274320" cy="274320"/>
          </a:xfrm>
          <a:prstGeom prst="rect">
            <a:avLst/>
          </a:prstGeom>
          <a:solidFill>
            <a:schemeClr val="accent1"/>
          </a:solidFill>
          <a:ln w="12700">
            <a:solidFill>
              <a:schemeClr val="accent1"/>
            </a:solidFill>
            <a:prstDash val="solid"/>
          </a:ln>
        </p:spPr>
      </p:sp>
      <p:sp>
        <p:nvSpPr>
          <p:cNvPr id="15" name="Pixel"/>
          <p:cNvSpPr/>
          <p:nvPr/>
        </p:nvSpPr>
        <p:spPr>
          <a:xfrm>
            <a:off x="10149840" y="1143000"/>
            <a:ext cx="274320" cy="274320"/>
          </a:xfrm>
          <a:prstGeom prst="rect">
            <a:avLst/>
          </a:prstGeom>
          <a:solidFill>
            <a:schemeClr val="accent1"/>
          </a:solidFill>
          <a:ln w="12700">
            <a:solidFill>
              <a:schemeClr val="accent1"/>
            </a:solidFill>
            <a:prstDash val="solid"/>
          </a:ln>
        </p:spPr>
      </p:sp>
      <p:sp>
        <p:nvSpPr>
          <p:cNvPr id="16" name="Pixel"/>
          <p:cNvSpPr/>
          <p:nvPr/>
        </p:nvSpPr>
        <p:spPr>
          <a:xfrm>
            <a:off x="9052560" y="1417320"/>
            <a:ext cx="274320" cy="274320"/>
          </a:xfrm>
          <a:prstGeom prst="rect">
            <a:avLst/>
          </a:prstGeom>
          <a:solidFill>
            <a:schemeClr val="accent1"/>
          </a:solidFill>
          <a:ln w="12700">
            <a:solidFill>
              <a:schemeClr val="accent1"/>
            </a:solidFill>
            <a:prstDash val="solid"/>
          </a:ln>
        </p:spPr>
      </p:sp>
      <p:sp>
        <p:nvSpPr>
          <p:cNvPr id="17" name="Pixel"/>
          <p:cNvSpPr/>
          <p:nvPr/>
        </p:nvSpPr>
        <p:spPr>
          <a:xfrm>
            <a:off x="9326880" y="1417320"/>
            <a:ext cx="274320" cy="274320"/>
          </a:xfrm>
          <a:prstGeom prst="rect">
            <a:avLst/>
          </a:prstGeom>
          <a:solidFill>
            <a:schemeClr val="accent1"/>
          </a:solidFill>
          <a:ln w="12700">
            <a:solidFill>
              <a:schemeClr val="accent1"/>
            </a:solidFill>
            <a:prstDash val="solid"/>
          </a:ln>
        </p:spPr>
      </p:sp>
      <p:sp>
        <p:nvSpPr>
          <p:cNvPr id="18" name="Pixel"/>
          <p:cNvSpPr/>
          <p:nvPr/>
        </p:nvSpPr>
        <p:spPr>
          <a:xfrm>
            <a:off x="9601200" y="1417320"/>
            <a:ext cx="274320" cy="274320"/>
          </a:xfrm>
          <a:prstGeom prst="rect">
            <a:avLst/>
          </a:prstGeom>
          <a:solidFill>
            <a:schemeClr val="accent1"/>
          </a:solidFill>
          <a:ln w="12700">
            <a:solidFill>
              <a:schemeClr val="accent1"/>
            </a:solidFill>
            <a:prstDash val="solid"/>
          </a:ln>
        </p:spPr>
      </p:sp>
      <p:sp>
        <p:nvSpPr>
          <p:cNvPr id="19" name="Pixel"/>
          <p:cNvSpPr/>
          <p:nvPr/>
        </p:nvSpPr>
        <p:spPr>
          <a:xfrm>
            <a:off x="9875520" y="1417320"/>
            <a:ext cx="274320" cy="274320"/>
          </a:xfrm>
          <a:prstGeom prst="rect">
            <a:avLst/>
          </a:prstGeom>
          <a:solidFill>
            <a:schemeClr val="accent1"/>
          </a:solidFill>
          <a:ln w="12700">
            <a:solidFill>
              <a:schemeClr val="accent1"/>
            </a:solidFill>
            <a:prstDash val="solid"/>
          </a:ln>
        </p:spPr>
      </p:sp>
      <p:sp>
        <p:nvSpPr>
          <p:cNvPr id="20" name="Pixel"/>
          <p:cNvSpPr/>
          <p:nvPr/>
        </p:nvSpPr>
        <p:spPr>
          <a:xfrm>
            <a:off x="10149840" y="1417320"/>
            <a:ext cx="274320" cy="274320"/>
          </a:xfrm>
          <a:prstGeom prst="rect">
            <a:avLst/>
          </a:prstGeom>
          <a:solidFill>
            <a:schemeClr val="accent1"/>
          </a:solidFill>
          <a:ln w="12700">
            <a:solidFill>
              <a:schemeClr val="accent1"/>
            </a:solidFill>
            <a:prstDash val="solid"/>
          </a:ln>
        </p:spPr>
      </p:sp>
      <p:sp>
        <p:nvSpPr>
          <p:cNvPr id="21" name="Pixel"/>
          <p:cNvSpPr/>
          <p:nvPr/>
        </p:nvSpPr>
        <p:spPr>
          <a:xfrm>
            <a:off x="9601200" y="1691640"/>
            <a:ext cx="274320" cy="274320"/>
          </a:xfrm>
          <a:prstGeom prst="rect">
            <a:avLst/>
          </a:prstGeom>
          <a:solidFill>
            <a:schemeClr val="accent1"/>
          </a:solidFill>
          <a:ln w="12700">
            <a:solidFill>
              <a:schemeClr val="accent1"/>
            </a:solidFill>
            <a:prstDash val="solid"/>
          </a:ln>
        </p:spPr>
      </p:sp>
      <p:sp>
        <p:nvSpPr>
          <p:cNvPr id="22" name="Pixel"/>
          <p:cNvSpPr/>
          <p:nvPr/>
        </p:nvSpPr>
        <p:spPr>
          <a:xfrm>
            <a:off x="9875520" y="1691640"/>
            <a:ext cx="274320" cy="274320"/>
          </a:xfrm>
          <a:prstGeom prst="rect">
            <a:avLst/>
          </a:prstGeom>
          <a:solidFill>
            <a:schemeClr val="accent1"/>
          </a:solidFill>
          <a:ln w="12700">
            <a:solidFill>
              <a:schemeClr val="accent1"/>
            </a:solidFill>
            <a:prstDash val="solid"/>
          </a:ln>
        </p:spPr>
      </p:sp>
      <p:sp>
        <p:nvSpPr>
          <p:cNvPr id="23" name="Pixel"/>
          <p:cNvSpPr/>
          <p:nvPr/>
        </p:nvSpPr>
        <p:spPr>
          <a:xfrm>
            <a:off x="8778240" y="1965960"/>
            <a:ext cx="274320" cy="274320"/>
          </a:xfrm>
          <a:prstGeom prst="rect">
            <a:avLst/>
          </a:prstGeom>
          <a:solidFill>
            <a:schemeClr val="bg2"/>
          </a:solidFill>
          <a:ln w="12700">
            <a:solidFill>
              <a:schemeClr val="bg2"/>
            </a:solidFill>
            <a:prstDash val="solid"/>
          </a:ln>
        </p:spPr>
      </p:sp>
      <p:sp>
        <p:nvSpPr>
          <p:cNvPr id="24" name="Pixel"/>
          <p:cNvSpPr/>
          <p:nvPr/>
        </p:nvSpPr>
        <p:spPr>
          <a:xfrm>
            <a:off x="9052560" y="1965960"/>
            <a:ext cx="274320" cy="274320"/>
          </a:xfrm>
          <a:prstGeom prst="rect">
            <a:avLst/>
          </a:prstGeom>
          <a:solidFill>
            <a:schemeClr val="bg2"/>
          </a:solidFill>
          <a:ln w="12700">
            <a:solidFill>
              <a:schemeClr val="bg2"/>
            </a:solidFill>
            <a:prstDash val="solid"/>
          </a:ln>
        </p:spPr>
      </p:sp>
      <p:sp>
        <p:nvSpPr>
          <p:cNvPr id="25" name="Pixel"/>
          <p:cNvSpPr/>
          <p:nvPr/>
        </p:nvSpPr>
        <p:spPr>
          <a:xfrm>
            <a:off x="9326880" y="1965960"/>
            <a:ext cx="274320" cy="274320"/>
          </a:xfrm>
          <a:prstGeom prst="rect">
            <a:avLst/>
          </a:prstGeom>
          <a:solidFill>
            <a:schemeClr val="bg2"/>
          </a:solidFill>
          <a:ln w="12700">
            <a:solidFill>
              <a:schemeClr val="bg2"/>
            </a:solidFill>
            <a:prstDash val="solid"/>
          </a:ln>
        </p:spPr>
      </p:sp>
      <p:sp>
        <p:nvSpPr>
          <p:cNvPr id="26" name="Pixel"/>
          <p:cNvSpPr/>
          <p:nvPr/>
        </p:nvSpPr>
        <p:spPr>
          <a:xfrm>
            <a:off x="9601200" y="1965960"/>
            <a:ext cx="274320" cy="274320"/>
          </a:xfrm>
          <a:prstGeom prst="rect">
            <a:avLst/>
          </a:prstGeom>
          <a:solidFill>
            <a:schemeClr val="bg2"/>
          </a:solidFill>
          <a:ln w="12700">
            <a:solidFill>
              <a:schemeClr val="bg2"/>
            </a:solidFill>
            <a:prstDash val="solid"/>
          </a:ln>
        </p:spPr>
      </p:sp>
      <p:sp>
        <p:nvSpPr>
          <p:cNvPr id="27" name="Pixel"/>
          <p:cNvSpPr/>
          <p:nvPr/>
        </p:nvSpPr>
        <p:spPr>
          <a:xfrm>
            <a:off x="9875520" y="1965960"/>
            <a:ext cx="274320" cy="274320"/>
          </a:xfrm>
          <a:prstGeom prst="rect">
            <a:avLst/>
          </a:prstGeom>
          <a:solidFill>
            <a:schemeClr val="bg2"/>
          </a:solidFill>
          <a:ln w="12700">
            <a:solidFill>
              <a:schemeClr val="bg2"/>
            </a:solidFill>
            <a:prstDash val="solid"/>
          </a:ln>
        </p:spPr>
      </p:sp>
      <p:sp>
        <p:nvSpPr>
          <p:cNvPr id="28" name="Pixel"/>
          <p:cNvSpPr/>
          <p:nvPr/>
        </p:nvSpPr>
        <p:spPr>
          <a:xfrm>
            <a:off x="10149840" y="1965960"/>
            <a:ext cx="274320" cy="274320"/>
          </a:xfrm>
          <a:prstGeom prst="rect">
            <a:avLst/>
          </a:prstGeom>
          <a:solidFill>
            <a:schemeClr val="bg2"/>
          </a:solidFill>
          <a:ln w="12700">
            <a:solidFill>
              <a:schemeClr val="bg2"/>
            </a:solidFill>
            <a:prstDash val="solid"/>
          </a:ln>
        </p:spPr>
      </p:sp>
      <p:sp>
        <p:nvSpPr>
          <p:cNvPr id="29" name="Pixel"/>
          <p:cNvSpPr/>
          <p:nvPr/>
        </p:nvSpPr>
        <p:spPr>
          <a:xfrm>
            <a:off x="10424160" y="1965960"/>
            <a:ext cx="274320" cy="274320"/>
          </a:xfrm>
          <a:prstGeom prst="rect">
            <a:avLst/>
          </a:prstGeom>
          <a:solidFill>
            <a:schemeClr val="bg2"/>
          </a:solidFill>
          <a:ln w="12700">
            <a:solidFill>
              <a:schemeClr val="bg2"/>
            </a:solidFill>
            <a:prstDash val="solid"/>
          </a:ln>
        </p:spPr>
      </p:sp>
      <p:sp>
        <p:nvSpPr>
          <p:cNvPr id="30" name="Pixel"/>
          <p:cNvSpPr/>
          <p:nvPr/>
        </p:nvSpPr>
        <p:spPr>
          <a:xfrm>
            <a:off x="10698480" y="1965960"/>
            <a:ext cx="274320" cy="274320"/>
          </a:xfrm>
          <a:prstGeom prst="rect">
            <a:avLst/>
          </a:prstGeom>
          <a:solidFill>
            <a:schemeClr val="bg2"/>
          </a:solidFill>
          <a:ln w="12700">
            <a:solidFill>
              <a:schemeClr val="bg2"/>
            </a:solidFill>
            <a:prstDash val="solid"/>
          </a:ln>
        </p:spPr>
      </p:sp>
      <p:sp>
        <p:nvSpPr>
          <p:cNvPr id="31" name="Pixel"/>
          <p:cNvSpPr/>
          <p:nvPr/>
        </p:nvSpPr>
        <p:spPr>
          <a:xfrm>
            <a:off x="8503920" y="2240280"/>
            <a:ext cx="274320" cy="274320"/>
          </a:xfrm>
          <a:prstGeom prst="rect">
            <a:avLst/>
          </a:prstGeom>
          <a:solidFill>
            <a:schemeClr val="bg2"/>
          </a:solidFill>
          <a:ln w="12700">
            <a:solidFill>
              <a:schemeClr val="bg2"/>
            </a:solidFill>
            <a:prstDash val="solid"/>
          </a:ln>
        </p:spPr>
      </p:sp>
      <p:sp>
        <p:nvSpPr>
          <p:cNvPr id="32" name="Pixel"/>
          <p:cNvSpPr/>
          <p:nvPr/>
        </p:nvSpPr>
        <p:spPr>
          <a:xfrm>
            <a:off x="8778240" y="2240280"/>
            <a:ext cx="274320" cy="274320"/>
          </a:xfrm>
          <a:prstGeom prst="rect">
            <a:avLst/>
          </a:prstGeom>
          <a:solidFill>
            <a:schemeClr val="bg2"/>
          </a:solidFill>
          <a:ln w="12700">
            <a:solidFill>
              <a:schemeClr val="bg2"/>
            </a:solidFill>
            <a:prstDash val="solid"/>
          </a:ln>
        </p:spPr>
      </p:sp>
      <p:sp>
        <p:nvSpPr>
          <p:cNvPr id="33" name="Pixel"/>
          <p:cNvSpPr/>
          <p:nvPr/>
        </p:nvSpPr>
        <p:spPr>
          <a:xfrm>
            <a:off x="9052560" y="2240280"/>
            <a:ext cx="274320" cy="274320"/>
          </a:xfrm>
          <a:prstGeom prst="rect">
            <a:avLst/>
          </a:prstGeom>
          <a:solidFill>
            <a:schemeClr val="bg2"/>
          </a:solidFill>
          <a:ln w="12700">
            <a:solidFill>
              <a:schemeClr val="bg2"/>
            </a:solidFill>
            <a:prstDash val="solid"/>
          </a:ln>
        </p:spPr>
      </p:sp>
      <p:sp>
        <p:nvSpPr>
          <p:cNvPr id="34" name="Pixel"/>
          <p:cNvSpPr/>
          <p:nvPr/>
        </p:nvSpPr>
        <p:spPr>
          <a:xfrm>
            <a:off x="9326880" y="2240280"/>
            <a:ext cx="274320" cy="274320"/>
          </a:xfrm>
          <a:prstGeom prst="rect">
            <a:avLst/>
          </a:prstGeom>
          <a:solidFill>
            <a:schemeClr val="bg2"/>
          </a:solidFill>
          <a:ln w="12700">
            <a:solidFill>
              <a:schemeClr val="bg2"/>
            </a:solidFill>
            <a:prstDash val="solid"/>
          </a:ln>
        </p:spPr>
      </p:sp>
      <p:sp>
        <p:nvSpPr>
          <p:cNvPr id="35" name="Pixel"/>
          <p:cNvSpPr/>
          <p:nvPr/>
        </p:nvSpPr>
        <p:spPr>
          <a:xfrm>
            <a:off x="9601200" y="2240280"/>
            <a:ext cx="274320" cy="274320"/>
          </a:xfrm>
          <a:prstGeom prst="rect">
            <a:avLst/>
          </a:prstGeom>
          <a:solidFill>
            <a:schemeClr val="bg2"/>
          </a:solidFill>
          <a:ln w="12700">
            <a:solidFill>
              <a:schemeClr val="bg2"/>
            </a:solidFill>
            <a:prstDash val="solid"/>
          </a:ln>
        </p:spPr>
      </p:sp>
      <p:sp>
        <p:nvSpPr>
          <p:cNvPr id="36" name="Pixel"/>
          <p:cNvSpPr/>
          <p:nvPr/>
        </p:nvSpPr>
        <p:spPr>
          <a:xfrm>
            <a:off x="9875520" y="2240280"/>
            <a:ext cx="274320" cy="274320"/>
          </a:xfrm>
          <a:prstGeom prst="rect">
            <a:avLst/>
          </a:prstGeom>
          <a:solidFill>
            <a:schemeClr val="bg2"/>
          </a:solidFill>
          <a:ln w="12700">
            <a:solidFill>
              <a:schemeClr val="bg2"/>
            </a:solidFill>
            <a:prstDash val="solid"/>
          </a:ln>
        </p:spPr>
      </p:sp>
      <p:sp>
        <p:nvSpPr>
          <p:cNvPr id="37" name="Pixel"/>
          <p:cNvSpPr/>
          <p:nvPr/>
        </p:nvSpPr>
        <p:spPr>
          <a:xfrm>
            <a:off x="10149840" y="2240280"/>
            <a:ext cx="274320" cy="274320"/>
          </a:xfrm>
          <a:prstGeom prst="rect">
            <a:avLst/>
          </a:prstGeom>
          <a:solidFill>
            <a:schemeClr val="bg2"/>
          </a:solidFill>
          <a:ln w="12700">
            <a:solidFill>
              <a:schemeClr val="bg2"/>
            </a:solidFill>
            <a:prstDash val="solid"/>
          </a:ln>
        </p:spPr>
      </p:sp>
      <p:sp>
        <p:nvSpPr>
          <p:cNvPr id="38" name="Pixel"/>
          <p:cNvSpPr/>
          <p:nvPr/>
        </p:nvSpPr>
        <p:spPr>
          <a:xfrm>
            <a:off x="10424160" y="2240280"/>
            <a:ext cx="274320" cy="274320"/>
          </a:xfrm>
          <a:prstGeom prst="rect">
            <a:avLst/>
          </a:prstGeom>
          <a:solidFill>
            <a:schemeClr val="bg2"/>
          </a:solidFill>
          <a:ln w="12700">
            <a:solidFill>
              <a:schemeClr val="bg2"/>
            </a:solidFill>
            <a:prstDash val="solid"/>
          </a:ln>
        </p:spPr>
      </p:sp>
      <p:sp>
        <p:nvSpPr>
          <p:cNvPr id="39" name="Pixel"/>
          <p:cNvSpPr/>
          <p:nvPr/>
        </p:nvSpPr>
        <p:spPr>
          <a:xfrm>
            <a:off x="10698480" y="2240280"/>
            <a:ext cx="274320" cy="274320"/>
          </a:xfrm>
          <a:prstGeom prst="rect">
            <a:avLst/>
          </a:prstGeom>
          <a:solidFill>
            <a:schemeClr val="bg2"/>
          </a:solidFill>
          <a:ln w="12700">
            <a:solidFill>
              <a:schemeClr val="bg2"/>
            </a:solidFill>
            <a:prstDash val="solid"/>
          </a:ln>
        </p:spPr>
      </p:sp>
      <p:sp>
        <p:nvSpPr>
          <p:cNvPr id="40" name="Pixel"/>
          <p:cNvSpPr/>
          <p:nvPr/>
        </p:nvSpPr>
        <p:spPr>
          <a:xfrm>
            <a:off x="10972800" y="2240280"/>
            <a:ext cx="274320" cy="274320"/>
          </a:xfrm>
          <a:prstGeom prst="rect">
            <a:avLst/>
          </a:prstGeom>
          <a:solidFill>
            <a:schemeClr val="bg2"/>
          </a:solidFill>
          <a:ln w="12700">
            <a:solidFill>
              <a:schemeClr val="bg2"/>
            </a:solidFill>
            <a:prstDash val="solid"/>
          </a:ln>
        </p:spPr>
      </p:sp>
      <p:sp>
        <p:nvSpPr>
          <p:cNvPr id="41" name="Pixel"/>
          <p:cNvSpPr/>
          <p:nvPr/>
        </p:nvSpPr>
        <p:spPr>
          <a:xfrm>
            <a:off x="8503920" y="2514600"/>
            <a:ext cx="274320" cy="274320"/>
          </a:xfrm>
          <a:prstGeom prst="rect">
            <a:avLst/>
          </a:prstGeom>
          <a:solidFill>
            <a:schemeClr val="bg2"/>
          </a:solidFill>
          <a:ln w="12700">
            <a:solidFill>
              <a:schemeClr val="bg2"/>
            </a:solidFill>
            <a:prstDash val="solid"/>
          </a:ln>
        </p:spPr>
      </p:sp>
      <p:sp>
        <p:nvSpPr>
          <p:cNvPr id="42" name="Pixel"/>
          <p:cNvSpPr/>
          <p:nvPr/>
        </p:nvSpPr>
        <p:spPr>
          <a:xfrm>
            <a:off x="8778240" y="2514600"/>
            <a:ext cx="274320" cy="274320"/>
          </a:xfrm>
          <a:prstGeom prst="rect">
            <a:avLst/>
          </a:prstGeom>
          <a:solidFill>
            <a:schemeClr val="bg2"/>
          </a:solidFill>
          <a:ln w="12700">
            <a:solidFill>
              <a:schemeClr val="bg2"/>
            </a:solidFill>
            <a:prstDash val="solid"/>
          </a:ln>
        </p:spPr>
      </p:sp>
      <p:sp>
        <p:nvSpPr>
          <p:cNvPr id="43" name="Pixel"/>
          <p:cNvSpPr/>
          <p:nvPr/>
        </p:nvSpPr>
        <p:spPr>
          <a:xfrm>
            <a:off x="9601200" y="2514600"/>
            <a:ext cx="274320" cy="274320"/>
          </a:xfrm>
          <a:prstGeom prst="rect">
            <a:avLst/>
          </a:prstGeom>
          <a:solidFill>
            <a:schemeClr val="bg2"/>
          </a:solidFill>
          <a:ln w="12700">
            <a:solidFill>
              <a:schemeClr val="bg2"/>
            </a:solidFill>
            <a:prstDash val="solid"/>
          </a:ln>
        </p:spPr>
      </p:sp>
      <p:sp>
        <p:nvSpPr>
          <p:cNvPr id="44" name="Pixel"/>
          <p:cNvSpPr/>
          <p:nvPr/>
        </p:nvSpPr>
        <p:spPr>
          <a:xfrm>
            <a:off x="9875520" y="2514600"/>
            <a:ext cx="274320" cy="274320"/>
          </a:xfrm>
          <a:prstGeom prst="rect">
            <a:avLst/>
          </a:prstGeom>
          <a:solidFill>
            <a:schemeClr val="bg2"/>
          </a:solidFill>
          <a:ln w="12700">
            <a:solidFill>
              <a:schemeClr val="bg2"/>
            </a:solidFill>
            <a:prstDash val="solid"/>
          </a:ln>
        </p:spPr>
      </p:sp>
      <p:sp>
        <p:nvSpPr>
          <p:cNvPr id="45" name="Pixel"/>
          <p:cNvSpPr/>
          <p:nvPr/>
        </p:nvSpPr>
        <p:spPr>
          <a:xfrm>
            <a:off x="10698480" y="2514600"/>
            <a:ext cx="274320" cy="274320"/>
          </a:xfrm>
          <a:prstGeom prst="rect">
            <a:avLst/>
          </a:prstGeom>
          <a:solidFill>
            <a:schemeClr val="bg2"/>
          </a:solidFill>
          <a:ln w="12700">
            <a:solidFill>
              <a:schemeClr val="bg2"/>
            </a:solidFill>
            <a:prstDash val="solid"/>
          </a:ln>
        </p:spPr>
      </p:sp>
      <p:sp>
        <p:nvSpPr>
          <p:cNvPr id="46" name="Pixel"/>
          <p:cNvSpPr/>
          <p:nvPr/>
        </p:nvSpPr>
        <p:spPr>
          <a:xfrm>
            <a:off x="10972800" y="2514600"/>
            <a:ext cx="274320" cy="274320"/>
          </a:xfrm>
          <a:prstGeom prst="rect">
            <a:avLst/>
          </a:prstGeom>
          <a:solidFill>
            <a:schemeClr val="bg2"/>
          </a:solidFill>
          <a:ln w="12700">
            <a:solidFill>
              <a:schemeClr val="bg2"/>
            </a:solidFill>
            <a:prstDash val="solid"/>
          </a:ln>
        </p:spPr>
      </p:sp>
      <p:sp>
        <p:nvSpPr>
          <p:cNvPr id="47" name="Pixel"/>
          <p:cNvSpPr/>
          <p:nvPr/>
        </p:nvSpPr>
        <p:spPr>
          <a:xfrm>
            <a:off x="8503920" y="2788920"/>
            <a:ext cx="274320" cy="274320"/>
          </a:xfrm>
          <a:prstGeom prst="rect">
            <a:avLst/>
          </a:prstGeom>
          <a:solidFill>
            <a:schemeClr val="bg2"/>
          </a:solidFill>
          <a:ln w="12700">
            <a:solidFill>
              <a:schemeClr val="bg2"/>
            </a:solidFill>
            <a:prstDash val="solid"/>
          </a:ln>
        </p:spPr>
      </p:sp>
      <p:sp>
        <p:nvSpPr>
          <p:cNvPr id="48" name="Pixel"/>
          <p:cNvSpPr/>
          <p:nvPr/>
        </p:nvSpPr>
        <p:spPr>
          <a:xfrm>
            <a:off x="8778240" y="2788920"/>
            <a:ext cx="274320" cy="274320"/>
          </a:xfrm>
          <a:prstGeom prst="rect">
            <a:avLst/>
          </a:prstGeom>
          <a:solidFill>
            <a:schemeClr val="bg2"/>
          </a:solidFill>
          <a:ln w="12700">
            <a:solidFill>
              <a:schemeClr val="bg2"/>
            </a:solidFill>
            <a:prstDash val="solid"/>
          </a:ln>
        </p:spPr>
      </p:sp>
      <p:sp>
        <p:nvSpPr>
          <p:cNvPr id="49" name="Pixel"/>
          <p:cNvSpPr/>
          <p:nvPr/>
        </p:nvSpPr>
        <p:spPr>
          <a:xfrm>
            <a:off x="9052560" y="2788920"/>
            <a:ext cx="274320" cy="274320"/>
          </a:xfrm>
          <a:prstGeom prst="rect">
            <a:avLst/>
          </a:prstGeom>
          <a:solidFill>
            <a:schemeClr val="bg2"/>
          </a:solidFill>
          <a:ln w="12700">
            <a:solidFill>
              <a:schemeClr val="bg2"/>
            </a:solidFill>
            <a:prstDash val="solid"/>
          </a:ln>
        </p:spPr>
      </p:sp>
      <p:sp>
        <p:nvSpPr>
          <p:cNvPr id="50" name="Pixel"/>
          <p:cNvSpPr/>
          <p:nvPr/>
        </p:nvSpPr>
        <p:spPr>
          <a:xfrm>
            <a:off x="9326880" y="2788920"/>
            <a:ext cx="274320" cy="274320"/>
          </a:xfrm>
          <a:prstGeom prst="rect">
            <a:avLst/>
          </a:prstGeom>
          <a:solidFill>
            <a:schemeClr val="bg2"/>
          </a:solidFill>
          <a:ln w="12700">
            <a:solidFill>
              <a:schemeClr val="bg2"/>
            </a:solidFill>
            <a:prstDash val="solid"/>
          </a:ln>
        </p:spPr>
      </p:sp>
      <p:sp>
        <p:nvSpPr>
          <p:cNvPr id="51" name="Pixel"/>
          <p:cNvSpPr/>
          <p:nvPr/>
        </p:nvSpPr>
        <p:spPr>
          <a:xfrm>
            <a:off x="9601200" y="2788920"/>
            <a:ext cx="274320" cy="274320"/>
          </a:xfrm>
          <a:prstGeom prst="rect">
            <a:avLst/>
          </a:prstGeom>
          <a:solidFill>
            <a:schemeClr val="bg2"/>
          </a:solidFill>
          <a:ln w="12700">
            <a:solidFill>
              <a:schemeClr val="bg2"/>
            </a:solidFill>
            <a:prstDash val="solid"/>
          </a:ln>
        </p:spPr>
      </p:sp>
      <p:sp>
        <p:nvSpPr>
          <p:cNvPr id="52" name="Pixel"/>
          <p:cNvSpPr/>
          <p:nvPr/>
        </p:nvSpPr>
        <p:spPr>
          <a:xfrm>
            <a:off x="9875520" y="2788920"/>
            <a:ext cx="274320" cy="274320"/>
          </a:xfrm>
          <a:prstGeom prst="rect">
            <a:avLst/>
          </a:prstGeom>
          <a:solidFill>
            <a:schemeClr val="bg2"/>
          </a:solidFill>
          <a:ln w="12700">
            <a:solidFill>
              <a:schemeClr val="bg2"/>
            </a:solidFill>
            <a:prstDash val="solid"/>
          </a:ln>
        </p:spPr>
      </p:sp>
      <p:sp>
        <p:nvSpPr>
          <p:cNvPr id="53" name="Pixel"/>
          <p:cNvSpPr/>
          <p:nvPr/>
        </p:nvSpPr>
        <p:spPr>
          <a:xfrm>
            <a:off x="10149840" y="2788920"/>
            <a:ext cx="274320" cy="274320"/>
          </a:xfrm>
          <a:prstGeom prst="rect">
            <a:avLst/>
          </a:prstGeom>
          <a:solidFill>
            <a:schemeClr val="bg2"/>
          </a:solidFill>
          <a:ln w="12700">
            <a:solidFill>
              <a:schemeClr val="bg2"/>
            </a:solidFill>
            <a:prstDash val="solid"/>
          </a:ln>
        </p:spPr>
      </p:sp>
      <p:sp>
        <p:nvSpPr>
          <p:cNvPr id="54" name="Pixel"/>
          <p:cNvSpPr/>
          <p:nvPr/>
        </p:nvSpPr>
        <p:spPr>
          <a:xfrm>
            <a:off x="10424160" y="2788920"/>
            <a:ext cx="274320" cy="274320"/>
          </a:xfrm>
          <a:prstGeom prst="rect">
            <a:avLst/>
          </a:prstGeom>
          <a:solidFill>
            <a:schemeClr val="bg2"/>
          </a:solidFill>
          <a:ln w="12700">
            <a:solidFill>
              <a:schemeClr val="bg2"/>
            </a:solidFill>
            <a:prstDash val="solid"/>
          </a:ln>
        </p:spPr>
      </p:sp>
      <p:sp>
        <p:nvSpPr>
          <p:cNvPr id="55" name="Pixel"/>
          <p:cNvSpPr/>
          <p:nvPr/>
        </p:nvSpPr>
        <p:spPr>
          <a:xfrm>
            <a:off x="10698480" y="2788920"/>
            <a:ext cx="274320" cy="274320"/>
          </a:xfrm>
          <a:prstGeom prst="rect">
            <a:avLst/>
          </a:prstGeom>
          <a:solidFill>
            <a:schemeClr val="bg2"/>
          </a:solidFill>
          <a:ln w="12700">
            <a:solidFill>
              <a:schemeClr val="bg2"/>
            </a:solidFill>
            <a:prstDash val="solid"/>
          </a:ln>
        </p:spPr>
      </p:sp>
      <p:sp>
        <p:nvSpPr>
          <p:cNvPr id="56" name="Pixel"/>
          <p:cNvSpPr/>
          <p:nvPr/>
        </p:nvSpPr>
        <p:spPr>
          <a:xfrm>
            <a:off x="10972800" y="2788920"/>
            <a:ext cx="274320" cy="274320"/>
          </a:xfrm>
          <a:prstGeom prst="rect">
            <a:avLst/>
          </a:prstGeom>
          <a:solidFill>
            <a:schemeClr val="bg2"/>
          </a:solidFill>
          <a:ln w="12700">
            <a:solidFill>
              <a:schemeClr val="bg2"/>
            </a:solidFill>
            <a:prstDash val="solid"/>
          </a:ln>
        </p:spPr>
      </p:sp>
      <p:sp>
        <p:nvSpPr>
          <p:cNvPr id="57" name="Pixel"/>
          <p:cNvSpPr/>
          <p:nvPr/>
        </p:nvSpPr>
        <p:spPr>
          <a:xfrm>
            <a:off x="8778240" y="3063240"/>
            <a:ext cx="274320" cy="274320"/>
          </a:xfrm>
          <a:prstGeom prst="rect">
            <a:avLst/>
          </a:prstGeom>
          <a:solidFill>
            <a:schemeClr val="bg2"/>
          </a:solidFill>
          <a:ln w="12700">
            <a:solidFill>
              <a:schemeClr val="bg2"/>
            </a:solidFill>
            <a:prstDash val="solid"/>
          </a:ln>
        </p:spPr>
      </p:sp>
      <p:sp>
        <p:nvSpPr>
          <p:cNvPr id="58" name="Pixel"/>
          <p:cNvSpPr/>
          <p:nvPr/>
        </p:nvSpPr>
        <p:spPr>
          <a:xfrm>
            <a:off x="9052560" y="3063240"/>
            <a:ext cx="274320" cy="274320"/>
          </a:xfrm>
          <a:prstGeom prst="rect">
            <a:avLst/>
          </a:prstGeom>
          <a:solidFill>
            <a:schemeClr val="bg2"/>
          </a:solidFill>
          <a:ln w="12700">
            <a:solidFill>
              <a:schemeClr val="bg2"/>
            </a:solidFill>
            <a:prstDash val="solid"/>
          </a:ln>
        </p:spPr>
      </p:sp>
      <p:sp>
        <p:nvSpPr>
          <p:cNvPr id="59" name="Pixel"/>
          <p:cNvSpPr/>
          <p:nvPr/>
        </p:nvSpPr>
        <p:spPr>
          <a:xfrm>
            <a:off x="9326880" y="3063240"/>
            <a:ext cx="274320" cy="274320"/>
          </a:xfrm>
          <a:prstGeom prst="rect">
            <a:avLst/>
          </a:prstGeom>
          <a:solidFill>
            <a:schemeClr val="bg2"/>
          </a:solidFill>
          <a:ln w="12700">
            <a:solidFill>
              <a:schemeClr val="bg2"/>
            </a:solidFill>
            <a:prstDash val="solid"/>
          </a:ln>
        </p:spPr>
      </p:sp>
      <p:sp>
        <p:nvSpPr>
          <p:cNvPr id="60" name="Pixel"/>
          <p:cNvSpPr/>
          <p:nvPr/>
        </p:nvSpPr>
        <p:spPr>
          <a:xfrm>
            <a:off x="9601200" y="3063240"/>
            <a:ext cx="274320" cy="274320"/>
          </a:xfrm>
          <a:prstGeom prst="rect">
            <a:avLst/>
          </a:prstGeom>
          <a:solidFill>
            <a:schemeClr val="bg2"/>
          </a:solidFill>
          <a:ln w="12700">
            <a:solidFill>
              <a:schemeClr val="bg2"/>
            </a:solidFill>
            <a:prstDash val="solid"/>
          </a:ln>
        </p:spPr>
      </p:sp>
      <p:sp>
        <p:nvSpPr>
          <p:cNvPr id="61" name="Pixel"/>
          <p:cNvSpPr/>
          <p:nvPr/>
        </p:nvSpPr>
        <p:spPr>
          <a:xfrm>
            <a:off x="9875520" y="3063240"/>
            <a:ext cx="274320" cy="274320"/>
          </a:xfrm>
          <a:prstGeom prst="rect">
            <a:avLst/>
          </a:prstGeom>
          <a:solidFill>
            <a:schemeClr val="bg2"/>
          </a:solidFill>
          <a:ln w="12700">
            <a:solidFill>
              <a:schemeClr val="bg2"/>
            </a:solidFill>
            <a:prstDash val="solid"/>
          </a:ln>
        </p:spPr>
      </p:sp>
      <p:sp>
        <p:nvSpPr>
          <p:cNvPr id="62" name="Pixel"/>
          <p:cNvSpPr/>
          <p:nvPr/>
        </p:nvSpPr>
        <p:spPr>
          <a:xfrm>
            <a:off x="10149840" y="3063240"/>
            <a:ext cx="274320" cy="274320"/>
          </a:xfrm>
          <a:prstGeom prst="rect">
            <a:avLst/>
          </a:prstGeom>
          <a:solidFill>
            <a:schemeClr val="bg2"/>
          </a:solidFill>
          <a:ln w="12700">
            <a:solidFill>
              <a:schemeClr val="bg2"/>
            </a:solidFill>
            <a:prstDash val="solid"/>
          </a:ln>
        </p:spPr>
      </p:sp>
      <p:sp>
        <p:nvSpPr>
          <p:cNvPr id="63" name="Pixel"/>
          <p:cNvSpPr/>
          <p:nvPr/>
        </p:nvSpPr>
        <p:spPr>
          <a:xfrm>
            <a:off x="10424160" y="3063240"/>
            <a:ext cx="274320" cy="274320"/>
          </a:xfrm>
          <a:prstGeom prst="rect">
            <a:avLst/>
          </a:prstGeom>
          <a:solidFill>
            <a:schemeClr val="bg2"/>
          </a:solidFill>
          <a:ln w="12700">
            <a:solidFill>
              <a:schemeClr val="bg2"/>
            </a:solidFill>
            <a:prstDash val="solid"/>
          </a:ln>
        </p:spPr>
      </p:sp>
      <p:sp>
        <p:nvSpPr>
          <p:cNvPr id="64" name="Pixel"/>
          <p:cNvSpPr/>
          <p:nvPr/>
        </p:nvSpPr>
        <p:spPr>
          <a:xfrm>
            <a:off x="10698480" y="3063240"/>
            <a:ext cx="274320" cy="274320"/>
          </a:xfrm>
          <a:prstGeom prst="rect">
            <a:avLst/>
          </a:prstGeom>
          <a:solidFill>
            <a:schemeClr val="bg2"/>
          </a:solidFill>
          <a:ln w="12700">
            <a:solidFill>
              <a:schemeClr val="bg2"/>
            </a:solidFill>
            <a:prstDash val="solid"/>
          </a:ln>
        </p:spPr>
      </p:sp>
      <p:sp>
        <p:nvSpPr>
          <p:cNvPr id="65" name="Pixel"/>
          <p:cNvSpPr/>
          <p:nvPr/>
        </p:nvSpPr>
        <p:spPr>
          <a:xfrm>
            <a:off x="9052560" y="3337560"/>
            <a:ext cx="274320" cy="274320"/>
          </a:xfrm>
          <a:prstGeom prst="rect">
            <a:avLst/>
          </a:prstGeom>
          <a:solidFill>
            <a:schemeClr val="accent5"/>
          </a:solidFill>
          <a:ln w="12700">
            <a:solidFill>
              <a:schemeClr val="accent5"/>
            </a:solidFill>
            <a:prstDash val="solid"/>
          </a:ln>
        </p:spPr>
      </p:sp>
      <p:sp>
        <p:nvSpPr>
          <p:cNvPr id="66" name="Pixel"/>
          <p:cNvSpPr/>
          <p:nvPr/>
        </p:nvSpPr>
        <p:spPr>
          <a:xfrm>
            <a:off x="9326880" y="3337560"/>
            <a:ext cx="274320" cy="274320"/>
          </a:xfrm>
          <a:prstGeom prst="rect">
            <a:avLst/>
          </a:prstGeom>
          <a:solidFill>
            <a:schemeClr val="accent5"/>
          </a:solidFill>
          <a:ln w="12700">
            <a:solidFill>
              <a:schemeClr val="accent5"/>
            </a:solidFill>
            <a:prstDash val="solid"/>
          </a:ln>
        </p:spPr>
      </p:sp>
      <p:sp>
        <p:nvSpPr>
          <p:cNvPr id="67" name="Pixel"/>
          <p:cNvSpPr/>
          <p:nvPr/>
        </p:nvSpPr>
        <p:spPr>
          <a:xfrm>
            <a:off x="9601200" y="3337560"/>
            <a:ext cx="274320" cy="274320"/>
          </a:xfrm>
          <a:prstGeom prst="rect">
            <a:avLst/>
          </a:prstGeom>
          <a:solidFill>
            <a:schemeClr val="accent5"/>
          </a:solidFill>
          <a:ln w="12700">
            <a:solidFill>
              <a:schemeClr val="accent5"/>
            </a:solidFill>
            <a:prstDash val="solid"/>
          </a:ln>
        </p:spPr>
      </p:sp>
      <p:sp>
        <p:nvSpPr>
          <p:cNvPr id="68" name="Pixel"/>
          <p:cNvSpPr/>
          <p:nvPr/>
        </p:nvSpPr>
        <p:spPr>
          <a:xfrm>
            <a:off x="9875520" y="3337560"/>
            <a:ext cx="274320" cy="274320"/>
          </a:xfrm>
          <a:prstGeom prst="rect">
            <a:avLst/>
          </a:prstGeom>
          <a:solidFill>
            <a:schemeClr val="accent5"/>
          </a:solidFill>
          <a:ln w="12700">
            <a:solidFill>
              <a:schemeClr val="accent5"/>
            </a:solidFill>
            <a:prstDash val="solid"/>
          </a:ln>
        </p:spPr>
      </p:sp>
      <p:sp>
        <p:nvSpPr>
          <p:cNvPr id="69" name="Pixel"/>
          <p:cNvSpPr/>
          <p:nvPr/>
        </p:nvSpPr>
        <p:spPr>
          <a:xfrm>
            <a:off x="10149840" y="3337560"/>
            <a:ext cx="274320" cy="274320"/>
          </a:xfrm>
          <a:prstGeom prst="rect">
            <a:avLst/>
          </a:prstGeom>
          <a:solidFill>
            <a:schemeClr val="accent5"/>
          </a:solidFill>
          <a:ln w="12700">
            <a:solidFill>
              <a:schemeClr val="accent5"/>
            </a:solidFill>
            <a:prstDash val="solid"/>
          </a:ln>
        </p:spPr>
      </p:sp>
      <p:sp>
        <p:nvSpPr>
          <p:cNvPr id="70" name="Pixel"/>
          <p:cNvSpPr/>
          <p:nvPr/>
        </p:nvSpPr>
        <p:spPr>
          <a:xfrm>
            <a:off x="10424160" y="3337560"/>
            <a:ext cx="274320" cy="274320"/>
          </a:xfrm>
          <a:prstGeom prst="rect">
            <a:avLst/>
          </a:prstGeom>
          <a:solidFill>
            <a:schemeClr val="accent5"/>
          </a:solidFill>
          <a:ln w="12700">
            <a:solidFill>
              <a:schemeClr val="accent5"/>
            </a:solidFill>
            <a:prstDash val="solid"/>
          </a:ln>
        </p:spPr>
      </p:sp>
      <p:sp>
        <p:nvSpPr>
          <p:cNvPr id="71" name="Pixel"/>
          <p:cNvSpPr/>
          <p:nvPr/>
        </p:nvSpPr>
        <p:spPr>
          <a:xfrm>
            <a:off x="8503920" y="3611880"/>
            <a:ext cx="274320" cy="274320"/>
          </a:xfrm>
          <a:prstGeom prst="rect">
            <a:avLst/>
          </a:prstGeom>
          <a:solidFill>
            <a:schemeClr val="accent5"/>
          </a:solidFill>
          <a:ln w="12700">
            <a:solidFill>
              <a:schemeClr val="accent5"/>
            </a:solidFill>
            <a:prstDash val="solid"/>
          </a:ln>
        </p:spPr>
      </p:sp>
      <p:sp>
        <p:nvSpPr>
          <p:cNvPr id="72" name="Pixel"/>
          <p:cNvSpPr/>
          <p:nvPr/>
        </p:nvSpPr>
        <p:spPr>
          <a:xfrm>
            <a:off x="8778240" y="3611880"/>
            <a:ext cx="274320" cy="274320"/>
          </a:xfrm>
          <a:prstGeom prst="rect">
            <a:avLst/>
          </a:prstGeom>
          <a:solidFill>
            <a:schemeClr val="accent5"/>
          </a:solidFill>
          <a:ln w="12700">
            <a:solidFill>
              <a:schemeClr val="accent5"/>
            </a:solidFill>
            <a:prstDash val="solid"/>
          </a:ln>
        </p:spPr>
      </p:sp>
      <p:sp>
        <p:nvSpPr>
          <p:cNvPr id="73" name="Pixel"/>
          <p:cNvSpPr/>
          <p:nvPr/>
        </p:nvSpPr>
        <p:spPr>
          <a:xfrm>
            <a:off x="9052560" y="3611880"/>
            <a:ext cx="274320" cy="274320"/>
          </a:xfrm>
          <a:prstGeom prst="rect">
            <a:avLst/>
          </a:prstGeom>
          <a:solidFill>
            <a:schemeClr val="accent5"/>
          </a:solidFill>
          <a:ln w="12700">
            <a:solidFill>
              <a:schemeClr val="accent5"/>
            </a:solidFill>
            <a:prstDash val="solid"/>
          </a:ln>
        </p:spPr>
      </p:sp>
      <p:sp>
        <p:nvSpPr>
          <p:cNvPr id="74" name="Pixel"/>
          <p:cNvSpPr/>
          <p:nvPr/>
        </p:nvSpPr>
        <p:spPr>
          <a:xfrm>
            <a:off x="9326880" y="3611880"/>
            <a:ext cx="274320" cy="274320"/>
          </a:xfrm>
          <a:prstGeom prst="rect">
            <a:avLst/>
          </a:prstGeom>
          <a:solidFill>
            <a:schemeClr val="accent1"/>
          </a:solidFill>
          <a:ln w="12700">
            <a:solidFill>
              <a:schemeClr val="accent1"/>
            </a:solidFill>
            <a:prstDash val="solid"/>
          </a:ln>
        </p:spPr>
      </p:sp>
      <p:sp>
        <p:nvSpPr>
          <p:cNvPr id="75" name="Pixel"/>
          <p:cNvSpPr/>
          <p:nvPr/>
        </p:nvSpPr>
        <p:spPr>
          <a:xfrm>
            <a:off x="9601200" y="3611880"/>
            <a:ext cx="274320" cy="274320"/>
          </a:xfrm>
          <a:prstGeom prst="rect">
            <a:avLst/>
          </a:prstGeom>
          <a:solidFill>
            <a:schemeClr val="accent1"/>
          </a:solidFill>
          <a:ln w="12700">
            <a:solidFill>
              <a:schemeClr val="accent1"/>
            </a:solidFill>
            <a:prstDash val="solid"/>
          </a:ln>
        </p:spPr>
      </p:sp>
      <p:sp>
        <p:nvSpPr>
          <p:cNvPr id="76" name="Pixel"/>
          <p:cNvSpPr/>
          <p:nvPr/>
        </p:nvSpPr>
        <p:spPr>
          <a:xfrm>
            <a:off x="9875520" y="3611880"/>
            <a:ext cx="274320" cy="274320"/>
          </a:xfrm>
          <a:prstGeom prst="rect">
            <a:avLst/>
          </a:prstGeom>
          <a:solidFill>
            <a:schemeClr val="accent1"/>
          </a:solidFill>
          <a:ln w="12700">
            <a:solidFill>
              <a:schemeClr val="accent1"/>
            </a:solidFill>
            <a:prstDash val="solid"/>
          </a:ln>
        </p:spPr>
      </p:sp>
      <p:sp>
        <p:nvSpPr>
          <p:cNvPr id="77" name="Pixel"/>
          <p:cNvSpPr/>
          <p:nvPr/>
        </p:nvSpPr>
        <p:spPr>
          <a:xfrm>
            <a:off x="10149840" y="3611880"/>
            <a:ext cx="274320" cy="274320"/>
          </a:xfrm>
          <a:prstGeom prst="rect">
            <a:avLst/>
          </a:prstGeom>
          <a:solidFill>
            <a:schemeClr val="accent1"/>
          </a:solidFill>
          <a:ln w="12700">
            <a:solidFill>
              <a:schemeClr val="accent1"/>
            </a:solidFill>
            <a:prstDash val="solid"/>
          </a:ln>
        </p:spPr>
      </p:sp>
      <p:sp>
        <p:nvSpPr>
          <p:cNvPr id="78" name="Pixel"/>
          <p:cNvSpPr/>
          <p:nvPr/>
        </p:nvSpPr>
        <p:spPr>
          <a:xfrm>
            <a:off x="10424160" y="3611880"/>
            <a:ext cx="274320" cy="274320"/>
          </a:xfrm>
          <a:prstGeom prst="rect">
            <a:avLst/>
          </a:prstGeom>
          <a:solidFill>
            <a:schemeClr val="accent5"/>
          </a:solidFill>
          <a:ln w="12700">
            <a:solidFill>
              <a:schemeClr val="accent5"/>
            </a:solidFill>
            <a:prstDash val="solid"/>
          </a:ln>
        </p:spPr>
      </p:sp>
      <p:sp>
        <p:nvSpPr>
          <p:cNvPr id="79" name="Pixel"/>
          <p:cNvSpPr/>
          <p:nvPr/>
        </p:nvSpPr>
        <p:spPr>
          <a:xfrm>
            <a:off x="10698480" y="3611880"/>
            <a:ext cx="274320" cy="274320"/>
          </a:xfrm>
          <a:prstGeom prst="rect">
            <a:avLst/>
          </a:prstGeom>
          <a:solidFill>
            <a:schemeClr val="accent5"/>
          </a:solidFill>
          <a:ln w="12700">
            <a:solidFill>
              <a:schemeClr val="accent5"/>
            </a:solidFill>
            <a:prstDash val="solid"/>
          </a:ln>
        </p:spPr>
      </p:sp>
      <p:sp>
        <p:nvSpPr>
          <p:cNvPr id="80" name="Pixel"/>
          <p:cNvSpPr/>
          <p:nvPr/>
        </p:nvSpPr>
        <p:spPr>
          <a:xfrm>
            <a:off x="10972800" y="3611880"/>
            <a:ext cx="274320" cy="274320"/>
          </a:xfrm>
          <a:prstGeom prst="rect">
            <a:avLst/>
          </a:prstGeom>
          <a:solidFill>
            <a:schemeClr val="accent5"/>
          </a:solidFill>
          <a:ln w="12700">
            <a:solidFill>
              <a:schemeClr val="accent5"/>
            </a:solidFill>
            <a:prstDash val="solid"/>
          </a:ln>
        </p:spPr>
      </p:sp>
      <p:sp>
        <p:nvSpPr>
          <p:cNvPr id="81" name="Pixel"/>
          <p:cNvSpPr/>
          <p:nvPr/>
        </p:nvSpPr>
        <p:spPr>
          <a:xfrm>
            <a:off x="8503920" y="3886200"/>
            <a:ext cx="274320" cy="274320"/>
          </a:xfrm>
          <a:prstGeom prst="rect">
            <a:avLst/>
          </a:prstGeom>
          <a:solidFill>
            <a:schemeClr val="accent5"/>
          </a:solidFill>
          <a:ln w="12700">
            <a:solidFill>
              <a:schemeClr val="accent5"/>
            </a:solidFill>
            <a:prstDash val="solid"/>
          </a:ln>
        </p:spPr>
      </p:sp>
      <p:sp>
        <p:nvSpPr>
          <p:cNvPr id="82" name="Pixel"/>
          <p:cNvSpPr/>
          <p:nvPr/>
        </p:nvSpPr>
        <p:spPr>
          <a:xfrm>
            <a:off x="8778240" y="3886200"/>
            <a:ext cx="274320" cy="274320"/>
          </a:xfrm>
          <a:prstGeom prst="rect">
            <a:avLst/>
          </a:prstGeom>
          <a:solidFill>
            <a:schemeClr val="accent5"/>
          </a:solidFill>
          <a:ln w="12700">
            <a:solidFill>
              <a:schemeClr val="accent5"/>
            </a:solidFill>
            <a:prstDash val="solid"/>
          </a:ln>
        </p:spPr>
      </p:sp>
      <p:sp>
        <p:nvSpPr>
          <p:cNvPr id="83" name="Pixel"/>
          <p:cNvSpPr/>
          <p:nvPr/>
        </p:nvSpPr>
        <p:spPr>
          <a:xfrm>
            <a:off x="9326880" y="3886200"/>
            <a:ext cx="274320" cy="274320"/>
          </a:xfrm>
          <a:prstGeom prst="rect">
            <a:avLst/>
          </a:prstGeom>
          <a:solidFill>
            <a:schemeClr val="accent1"/>
          </a:solidFill>
          <a:ln w="12700">
            <a:solidFill>
              <a:schemeClr val="accent1"/>
            </a:solidFill>
            <a:prstDash val="solid"/>
          </a:ln>
        </p:spPr>
      </p:sp>
      <p:sp>
        <p:nvSpPr>
          <p:cNvPr id="84" name="Pixel"/>
          <p:cNvSpPr/>
          <p:nvPr/>
        </p:nvSpPr>
        <p:spPr>
          <a:xfrm>
            <a:off x="9601200" y="3886200"/>
            <a:ext cx="274320" cy="274320"/>
          </a:xfrm>
          <a:prstGeom prst="rect">
            <a:avLst/>
          </a:prstGeom>
          <a:solidFill>
            <a:schemeClr val="accent1"/>
          </a:solidFill>
          <a:ln w="12700">
            <a:solidFill>
              <a:schemeClr val="accent1"/>
            </a:solidFill>
            <a:prstDash val="solid"/>
          </a:ln>
        </p:spPr>
      </p:sp>
      <p:sp>
        <p:nvSpPr>
          <p:cNvPr id="85" name="Pixel"/>
          <p:cNvSpPr/>
          <p:nvPr/>
        </p:nvSpPr>
        <p:spPr>
          <a:xfrm>
            <a:off x="9875520" y="3886200"/>
            <a:ext cx="274320" cy="274320"/>
          </a:xfrm>
          <a:prstGeom prst="rect">
            <a:avLst/>
          </a:prstGeom>
          <a:solidFill>
            <a:schemeClr val="accent1"/>
          </a:solidFill>
          <a:ln w="12700">
            <a:solidFill>
              <a:schemeClr val="accent1"/>
            </a:solidFill>
            <a:prstDash val="solid"/>
          </a:ln>
        </p:spPr>
      </p:sp>
      <p:sp>
        <p:nvSpPr>
          <p:cNvPr id="86" name="Pixel"/>
          <p:cNvSpPr/>
          <p:nvPr/>
        </p:nvSpPr>
        <p:spPr>
          <a:xfrm>
            <a:off x="10149840" y="3886200"/>
            <a:ext cx="274320" cy="274320"/>
          </a:xfrm>
          <a:prstGeom prst="rect">
            <a:avLst/>
          </a:prstGeom>
          <a:solidFill>
            <a:schemeClr val="accent1"/>
          </a:solidFill>
          <a:ln w="12700">
            <a:solidFill>
              <a:schemeClr val="accent1"/>
            </a:solidFill>
            <a:prstDash val="solid"/>
          </a:ln>
        </p:spPr>
      </p:sp>
      <p:sp>
        <p:nvSpPr>
          <p:cNvPr id="87" name="Pixel"/>
          <p:cNvSpPr/>
          <p:nvPr/>
        </p:nvSpPr>
        <p:spPr>
          <a:xfrm>
            <a:off x="10698480" y="3886200"/>
            <a:ext cx="274320" cy="274320"/>
          </a:xfrm>
          <a:prstGeom prst="rect">
            <a:avLst/>
          </a:prstGeom>
          <a:solidFill>
            <a:schemeClr val="accent5"/>
          </a:solidFill>
          <a:ln w="12700">
            <a:solidFill>
              <a:schemeClr val="accent5"/>
            </a:solidFill>
            <a:prstDash val="solid"/>
          </a:ln>
        </p:spPr>
      </p:sp>
      <p:sp>
        <p:nvSpPr>
          <p:cNvPr id="88" name="Pixel"/>
          <p:cNvSpPr/>
          <p:nvPr/>
        </p:nvSpPr>
        <p:spPr>
          <a:xfrm>
            <a:off x="10972800" y="3886200"/>
            <a:ext cx="274320" cy="274320"/>
          </a:xfrm>
          <a:prstGeom prst="rect">
            <a:avLst/>
          </a:prstGeom>
          <a:solidFill>
            <a:schemeClr val="accent5"/>
          </a:solidFill>
          <a:ln w="12700">
            <a:solidFill>
              <a:schemeClr val="accent5"/>
            </a:solidFill>
            <a:prstDash val="solid"/>
          </a:ln>
        </p:spPr>
      </p:sp>
      <p:sp>
        <p:nvSpPr>
          <p:cNvPr id="89" name="Pixel"/>
          <p:cNvSpPr/>
          <p:nvPr/>
        </p:nvSpPr>
        <p:spPr>
          <a:xfrm>
            <a:off x="8503920" y="4160520"/>
            <a:ext cx="274320" cy="274320"/>
          </a:xfrm>
          <a:prstGeom prst="rect">
            <a:avLst/>
          </a:prstGeom>
          <a:solidFill>
            <a:schemeClr val="accent5"/>
          </a:solidFill>
          <a:ln w="12700">
            <a:solidFill>
              <a:schemeClr val="accent5"/>
            </a:solidFill>
            <a:prstDash val="solid"/>
          </a:ln>
        </p:spPr>
      </p:sp>
      <p:sp>
        <p:nvSpPr>
          <p:cNvPr id="90" name="Pixel"/>
          <p:cNvSpPr/>
          <p:nvPr/>
        </p:nvSpPr>
        <p:spPr>
          <a:xfrm>
            <a:off x="8778240" y="4160520"/>
            <a:ext cx="274320" cy="274320"/>
          </a:xfrm>
          <a:prstGeom prst="rect">
            <a:avLst/>
          </a:prstGeom>
          <a:solidFill>
            <a:schemeClr val="accent5"/>
          </a:solidFill>
          <a:ln w="12700">
            <a:solidFill>
              <a:schemeClr val="accent5"/>
            </a:solidFill>
            <a:prstDash val="solid"/>
          </a:ln>
        </p:spPr>
      </p:sp>
      <p:sp>
        <p:nvSpPr>
          <p:cNvPr id="91" name="Pixel"/>
          <p:cNvSpPr/>
          <p:nvPr/>
        </p:nvSpPr>
        <p:spPr>
          <a:xfrm>
            <a:off x="9326880" y="4160520"/>
            <a:ext cx="274320" cy="274320"/>
          </a:xfrm>
          <a:prstGeom prst="rect">
            <a:avLst/>
          </a:prstGeom>
          <a:solidFill>
            <a:schemeClr val="accent1"/>
          </a:solidFill>
          <a:ln w="12700">
            <a:solidFill>
              <a:schemeClr val="accent1"/>
            </a:solidFill>
            <a:prstDash val="solid"/>
          </a:ln>
        </p:spPr>
      </p:sp>
      <p:sp>
        <p:nvSpPr>
          <p:cNvPr id="92" name="Pixel"/>
          <p:cNvSpPr/>
          <p:nvPr/>
        </p:nvSpPr>
        <p:spPr>
          <a:xfrm>
            <a:off x="9601200" y="4160520"/>
            <a:ext cx="274320" cy="274320"/>
          </a:xfrm>
          <a:prstGeom prst="rect">
            <a:avLst/>
          </a:prstGeom>
          <a:solidFill>
            <a:schemeClr val="accent1"/>
          </a:solidFill>
          <a:ln w="12700">
            <a:solidFill>
              <a:schemeClr val="accent1"/>
            </a:solidFill>
            <a:prstDash val="solid"/>
          </a:ln>
        </p:spPr>
      </p:sp>
      <p:sp>
        <p:nvSpPr>
          <p:cNvPr id="93" name="Pixel"/>
          <p:cNvSpPr/>
          <p:nvPr/>
        </p:nvSpPr>
        <p:spPr>
          <a:xfrm>
            <a:off x="9875520" y="4160520"/>
            <a:ext cx="274320" cy="274320"/>
          </a:xfrm>
          <a:prstGeom prst="rect">
            <a:avLst/>
          </a:prstGeom>
          <a:solidFill>
            <a:schemeClr val="accent1"/>
          </a:solidFill>
          <a:ln w="12700">
            <a:solidFill>
              <a:schemeClr val="accent1"/>
            </a:solidFill>
            <a:prstDash val="solid"/>
          </a:ln>
        </p:spPr>
      </p:sp>
      <p:sp>
        <p:nvSpPr>
          <p:cNvPr id="94" name="Pixel"/>
          <p:cNvSpPr/>
          <p:nvPr/>
        </p:nvSpPr>
        <p:spPr>
          <a:xfrm>
            <a:off x="10149840" y="4160520"/>
            <a:ext cx="274320" cy="274320"/>
          </a:xfrm>
          <a:prstGeom prst="rect">
            <a:avLst/>
          </a:prstGeom>
          <a:solidFill>
            <a:schemeClr val="accent1"/>
          </a:solidFill>
          <a:ln w="12700">
            <a:solidFill>
              <a:schemeClr val="accent1"/>
            </a:solidFill>
            <a:prstDash val="solid"/>
          </a:ln>
        </p:spPr>
      </p:sp>
      <p:sp>
        <p:nvSpPr>
          <p:cNvPr id="95" name="Pixel"/>
          <p:cNvSpPr/>
          <p:nvPr/>
        </p:nvSpPr>
        <p:spPr>
          <a:xfrm>
            <a:off x="10698480" y="4160520"/>
            <a:ext cx="274320" cy="274320"/>
          </a:xfrm>
          <a:prstGeom prst="rect">
            <a:avLst/>
          </a:prstGeom>
          <a:solidFill>
            <a:schemeClr val="accent5"/>
          </a:solidFill>
          <a:ln w="12700">
            <a:solidFill>
              <a:schemeClr val="accent5"/>
            </a:solidFill>
            <a:prstDash val="solid"/>
          </a:ln>
        </p:spPr>
      </p:sp>
      <p:sp>
        <p:nvSpPr>
          <p:cNvPr id="96" name="Pixel"/>
          <p:cNvSpPr/>
          <p:nvPr/>
        </p:nvSpPr>
        <p:spPr>
          <a:xfrm>
            <a:off x="10972800" y="4160520"/>
            <a:ext cx="274320" cy="274320"/>
          </a:xfrm>
          <a:prstGeom prst="rect">
            <a:avLst/>
          </a:prstGeom>
          <a:solidFill>
            <a:schemeClr val="accent5"/>
          </a:solidFill>
          <a:ln w="12700">
            <a:solidFill>
              <a:schemeClr val="accent5"/>
            </a:solidFill>
            <a:prstDash val="solid"/>
          </a:ln>
        </p:spPr>
      </p:sp>
      <p:sp>
        <p:nvSpPr>
          <p:cNvPr id="97" name="Pixel"/>
          <p:cNvSpPr/>
          <p:nvPr/>
        </p:nvSpPr>
        <p:spPr>
          <a:xfrm>
            <a:off x="9326880" y="4434840"/>
            <a:ext cx="274320" cy="274320"/>
          </a:xfrm>
          <a:prstGeom prst="rect">
            <a:avLst/>
          </a:prstGeom>
          <a:solidFill>
            <a:schemeClr val="accent5"/>
          </a:solidFill>
          <a:ln w="12700">
            <a:solidFill>
              <a:schemeClr val="accent5"/>
            </a:solidFill>
            <a:prstDash val="solid"/>
          </a:ln>
        </p:spPr>
      </p:sp>
      <p:sp>
        <p:nvSpPr>
          <p:cNvPr id="98" name="Pixel"/>
          <p:cNvSpPr/>
          <p:nvPr/>
        </p:nvSpPr>
        <p:spPr>
          <a:xfrm>
            <a:off x="9601200" y="4434840"/>
            <a:ext cx="274320" cy="274320"/>
          </a:xfrm>
          <a:prstGeom prst="rect">
            <a:avLst/>
          </a:prstGeom>
          <a:solidFill>
            <a:schemeClr val="accent5"/>
          </a:solidFill>
          <a:ln w="12700">
            <a:solidFill>
              <a:schemeClr val="accent5"/>
            </a:solidFill>
            <a:prstDash val="solid"/>
          </a:ln>
        </p:spPr>
      </p:sp>
      <p:sp>
        <p:nvSpPr>
          <p:cNvPr id="99" name="Pixel"/>
          <p:cNvSpPr/>
          <p:nvPr/>
        </p:nvSpPr>
        <p:spPr>
          <a:xfrm>
            <a:off x="10149840" y="4434840"/>
            <a:ext cx="274320" cy="274320"/>
          </a:xfrm>
          <a:prstGeom prst="rect">
            <a:avLst/>
          </a:prstGeom>
          <a:solidFill>
            <a:schemeClr val="accent5"/>
          </a:solidFill>
          <a:ln w="12700">
            <a:solidFill>
              <a:schemeClr val="accent5"/>
            </a:solidFill>
            <a:prstDash val="solid"/>
          </a:ln>
        </p:spPr>
      </p:sp>
      <p:sp>
        <p:nvSpPr>
          <p:cNvPr id="100" name="Pixel"/>
          <p:cNvSpPr/>
          <p:nvPr/>
        </p:nvSpPr>
        <p:spPr>
          <a:xfrm>
            <a:off x="10424160" y="4434840"/>
            <a:ext cx="274320" cy="274320"/>
          </a:xfrm>
          <a:prstGeom prst="rect">
            <a:avLst/>
          </a:prstGeom>
          <a:solidFill>
            <a:schemeClr val="accent5"/>
          </a:solidFill>
          <a:ln w="12700">
            <a:solidFill>
              <a:schemeClr val="accent5"/>
            </a:solidFill>
            <a:prstDash val="solid"/>
          </a:ln>
        </p:spPr>
      </p:sp>
      <p:sp>
        <p:nvSpPr>
          <p:cNvPr id="101" name="Pixel"/>
          <p:cNvSpPr/>
          <p:nvPr/>
        </p:nvSpPr>
        <p:spPr>
          <a:xfrm>
            <a:off x="9052560" y="4709160"/>
            <a:ext cx="274320" cy="274320"/>
          </a:xfrm>
          <a:prstGeom prst="rect">
            <a:avLst/>
          </a:prstGeom>
          <a:solidFill>
            <a:schemeClr val="accent5"/>
          </a:solidFill>
          <a:ln w="12700">
            <a:solidFill>
              <a:schemeClr val="accent5"/>
            </a:solidFill>
            <a:prstDash val="solid"/>
          </a:ln>
        </p:spPr>
      </p:sp>
      <p:sp>
        <p:nvSpPr>
          <p:cNvPr id="102" name="Pixel"/>
          <p:cNvSpPr/>
          <p:nvPr/>
        </p:nvSpPr>
        <p:spPr>
          <a:xfrm>
            <a:off x="9326880" y="4709160"/>
            <a:ext cx="274320" cy="274320"/>
          </a:xfrm>
          <a:prstGeom prst="rect">
            <a:avLst/>
          </a:prstGeom>
          <a:solidFill>
            <a:schemeClr val="accent5"/>
          </a:solidFill>
          <a:ln w="12700">
            <a:solidFill>
              <a:schemeClr val="accent5"/>
            </a:solidFill>
            <a:prstDash val="solid"/>
          </a:ln>
        </p:spPr>
      </p:sp>
      <p:sp>
        <p:nvSpPr>
          <p:cNvPr id="103" name="Pixel"/>
          <p:cNvSpPr/>
          <p:nvPr/>
        </p:nvSpPr>
        <p:spPr>
          <a:xfrm>
            <a:off x="9601200" y="4709160"/>
            <a:ext cx="274320" cy="274320"/>
          </a:xfrm>
          <a:prstGeom prst="rect">
            <a:avLst/>
          </a:prstGeom>
          <a:solidFill>
            <a:schemeClr val="accent5"/>
          </a:solidFill>
          <a:ln w="12700">
            <a:solidFill>
              <a:schemeClr val="accent5"/>
            </a:solidFill>
            <a:prstDash val="solid"/>
          </a:ln>
        </p:spPr>
      </p:sp>
      <p:sp>
        <p:nvSpPr>
          <p:cNvPr id="104" name="Pixel"/>
          <p:cNvSpPr/>
          <p:nvPr/>
        </p:nvSpPr>
        <p:spPr>
          <a:xfrm>
            <a:off x="10149840" y="4709160"/>
            <a:ext cx="274320" cy="274320"/>
          </a:xfrm>
          <a:prstGeom prst="rect">
            <a:avLst/>
          </a:prstGeom>
          <a:solidFill>
            <a:schemeClr val="accent5"/>
          </a:solidFill>
          <a:ln w="12700">
            <a:solidFill>
              <a:schemeClr val="accent5"/>
            </a:solidFill>
            <a:prstDash val="solid"/>
          </a:ln>
        </p:spPr>
      </p:sp>
      <p:sp>
        <p:nvSpPr>
          <p:cNvPr id="105" name="Pixel"/>
          <p:cNvSpPr/>
          <p:nvPr/>
        </p:nvSpPr>
        <p:spPr>
          <a:xfrm>
            <a:off x="10424160" y="4709160"/>
            <a:ext cx="274320" cy="274320"/>
          </a:xfrm>
          <a:prstGeom prst="rect">
            <a:avLst/>
          </a:prstGeom>
          <a:solidFill>
            <a:schemeClr val="accent5"/>
          </a:solidFill>
          <a:ln w="12700">
            <a:solidFill>
              <a:schemeClr val="accent5"/>
            </a:solidFill>
            <a:prstDash val="solid"/>
          </a:ln>
        </p:spPr>
      </p:sp>
      <p:sp>
        <p:nvSpPr>
          <p:cNvPr id="106" name="Pixel"/>
          <p:cNvSpPr/>
          <p:nvPr/>
        </p:nvSpPr>
        <p:spPr>
          <a:xfrm>
            <a:off x="10698480" y="4709160"/>
            <a:ext cx="274320" cy="274320"/>
          </a:xfrm>
          <a:prstGeom prst="rect">
            <a:avLst/>
          </a:prstGeom>
          <a:solidFill>
            <a:schemeClr val="accent5"/>
          </a:solidFill>
          <a:ln w="1270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Problemática y motivación</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La máquina de estados existe, pero no se escribe</a:t>
            </a:r>
            <a:endParaRPr lang="es-PE" sz="2800" dirty="0"/>
          </a:p>
        </p:txBody>
      </p:sp>
      <p:sp>
        <p:nvSpPr>
          <p:cNvPr id="5" name="Text 2"/>
          <p:cNvSpPr txBox="1"/>
          <p:nvPr/>
        </p:nvSpPr>
        <p:spPr>
          <a:xfrm>
            <a:off x="548640" y="1554480"/>
            <a:ext cx="5669280" cy="274320"/>
          </a:xfrm>
          <a:prstGeom prst="rect">
            <a:avLst/>
          </a:prstGeom>
          <a:noFill/>
          <a:ln/>
        </p:spPr>
        <p:txBody>
          <a:bodyPr wrap="square" lIns="0" tIns="0" rIns="0" bIns="0" rtlCol="0" anchor="t"/>
          <a:lstStyle/>
          <a:p>
            <a:pPr indent="0" marL="0">
              <a:buNone/>
            </a:pPr>
            <a:r>
              <a:rPr lang="es-PE" sz="1200" b="1" dirty="0">
                <a:solidFill>
                  <a:schemeClr val="accent5"/>
                </a:solidFill>
              </a:rPr>
              <a:t>Así suele quedar en el código del juego</a:t>
            </a:r>
            <a:endParaRPr lang="es-PE" sz="1200" dirty="0"/>
          </a:p>
        </p:txBody>
      </p:sp>
      <p:sp>
        <p:nvSpPr>
          <p:cNvPr id="6" name="Código"/>
          <p:cNvSpPr txBox="1"/>
          <p:nvPr/>
        </p:nvSpPr>
        <p:spPr>
          <a:xfrm>
            <a:off x="548640" y="1874520"/>
            <a:ext cx="5669280" cy="3063240"/>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void actualizar()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if (boton_saltar &amp;&amp; !saltando)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saltando = true;</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vy = 2.5;</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if (boton_atacar &amp;&amp; !saltando)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atacando = true;</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if (recibio_golpe)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vida -= 25;</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aturdido = true;</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    }</a:t>
            </a:r>
            <a:endParaRPr lang="es-PE" sz="1400" dirty="0"/>
          </a:p>
          <a:p>
            <a:pPr indent="0" marL="0">
              <a:lnSpc>
                <a:spcPct val="100000"/>
              </a:lnSpc>
              <a:buNone/>
            </a:pPr>
            <a:r>
              <a:rPr lang="es-PE" sz="1400" dirty="0">
                <a:solidFill>
                  <a:schemeClr val="bg1"/>
                </a:solidFill>
                <a:latin typeface="Consolas" pitchFamily="34" charset="0"/>
                <a:ea typeface="Consolas" pitchFamily="34" charset="-122"/>
                <a:cs typeface="Consolas" pitchFamily="34" charset="-120"/>
              </a:rPr>
              <a:t>}</a:t>
            </a:r>
            <a:endParaRPr lang="es-PE" sz="1400" dirty="0"/>
          </a:p>
        </p:txBody>
      </p:sp>
      <p:sp>
        <p:nvSpPr>
          <p:cNvPr id="7" name="Text 4"/>
          <p:cNvSpPr txBox="1"/>
          <p:nvPr/>
        </p:nvSpPr>
        <p:spPr>
          <a:xfrm>
            <a:off x="548640" y="5120640"/>
            <a:ext cx="5669280" cy="548640"/>
          </a:xfrm>
          <a:prstGeom prst="rect">
            <a:avLst/>
          </a:prstGeom>
          <a:noFill/>
          <a:ln/>
        </p:spPr>
        <p:txBody>
          <a:bodyPr wrap="square" lIns="0" tIns="0" rIns="0" bIns="0" rtlCol="0" anchor="t"/>
          <a:lstStyle/>
          <a:p>
            <a:pPr indent="0" marL="0">
              <a:buNone/>
            </a:pPr>
            <a:r>
              <a:rPr lang="es-PE" sz="1500" dirty="0">
                <a:solidFill>
                  <a:schemeClr val="tx1"/>
                </a:solidFill>
              </a:rPr>
              <a:t>Nada impide que </a:t>
            </a:r>
            <a:r>
              <a:rPr lang="es-PE" sz="1500" b="1" dirty="0">
                <a:solidFill>
                  <a:schemeClr val="accent1"/>
                </a:solidFill>
                <a:latin typeface="Consolas" pitchFamily="34" charset="0"/>
                <a:ea typeface="Consolas" pitchFamily="34" charset="-122"/>
                <a:cs typeface="Consolas" pitchFamily="34" charset="-120"/>
              </a:rPr>
              <a:t>atacando</a:t>
            </a:r>
            <a:r>
              <a:rPr lang="es-PE" sz="1500" dirty="0">
                <a:solidFill>
                  <a:schemeClr val="tx1"/>
                </a:solidFill>
              </a:rPr>
              <a:t> y </a:t>
            </a:r>
            <a:r>
              <a:rPr lang="es-PE" sz="1500" b="1" dirty="0">
                <a:solidFill>
                  <a:schemeClr val="accent1"/>
                </a:solidFill>
                <a:latin typeface="Consolas" pitchFamily="34" charset="0"/>
                <a:ea typeface="Consolas" pitchFamily="34" charset="-122"/>
                <a:cs typeface="Consolas" pitchFamily="34" charset="-120"/>
              </a:rPr>
              <a:t>aturdido</a:t>
            </a:r>
            <a:r>
              <a:rPr lang="es-PE" sz="1500" dirty="0">
                <a:solidFill>
                  <a:schemeClr val="tx1"/>
                </a:solidFill>
              </a:rPr>
              <a:t> valgan true al mismo tiempo.</a:t>
            </a:r>
            <a:endParaRPr lang="es-PE" sz="1500" dirty="0"/>
          </a:p>
        </p:txBody>
      </p:sp>
      <p:sp>
        <p:nvSpPr>
          <p:cNvPr id="8" name="Fondo del icono"/>
          <p:cNvSpPr/>
          <p:nvPr/>
        </p:nvSpPr>
        <p:spPr>
          <a:xfrm>
            <a:off x="6675120" y="1783080"/>
            <a:ext cx="566928" cy="566928"/>
          </a:xfrm>
          <a:prstGeom prst="rect">
            <a:avLst/>
          </a:prstGeom>
          <a:solidFill>
            <a:schemeClr val="accent1"/>
          </a:solidFill>
          <a:ln w="12700">
            <a:solidFill>
              <a:schemeClr val="accent1"/>
            </a:solidFill>
            <a:prstDash val="solid"/>
          </a:ln>
        </p:spPr>
      </p:sp>
      <p:pic>
        <p:nvPicPr>
          <p:cNvPr id="9" name="Icono" descr="preencoded.png">    </p:cNvPr>
          <p:cNvPicPr>
            <a:picLocks noChangeAspect="1"/>
          </p:cNvPicPr>
          <p:nvPr/>
        </p:nvPicPr>
        <p:blipFill>
          <a:blip r:embed="rId1"/>
          <a:stretch>
            <a:fillRect/>
          </a:stretch>
        </p:blipFill>
        <p:spPr>
          <a:xfrm>
            <a:off x="6788506" y="1896466"/>
            <a:ext cx="340157" cy="340157"/>
          </a:xfrm>
          <a:prstGeom prst="rect">
            <a:avLst/>
          </a:prstGeom>
        </p:spPr>
      </p:pic>
      <p:sp>
        <p:nvSpPr>
          <p:cNvPr id="10" name="Text 6"/>
          <p:cNvSpPr txBox="1"/>
          <p:nvPr/>
        </p:nvSpPr>
        <p:spPr>
          <a:xfrm>
            <a:off x="7452360" y="1764792"/>
            <a:ext cx="4187952" cy="365760"/>
          </a:xfrm>
          <a:prstGeom prst="rect">
            <a:avLst/>
          </a:prstGeom>
          <a:noFill/>
          <a:ln/>
        </p:spPr>
        <p:txBody>
          <a:bodyPr wrap="square" lIns="0" tIns="0" rIns="0" bIns="0" rtlCol="0" anchor="t"/>
          <a:lstStyle/>
          <a:p>
            <a:pPr indent="0" marL="0">
              <a:buNone/>
            </a:pPr>
            <a:r>
              <a:rPr lang="es-PE" sz="1800" b="1" dirty="0">
                <a:solidFill>
                  <a:schemeClr val="tx1"/>
                </a:solidFill>
              </a:rPr>
              <a:t>Se piensa como una máquina</a:t>
            </a:r>
            <a:endParaRPr lang="es-PE" sz="1800" dirty="0"/>
          </a:p>
        </p:txBody>
      </p:sp>
      <p:sp>
        <p:nvSpPr>
          <p:cNvPr id="11" name="Text 7"/>
          <p:cNvSpPr txBox="1"/>
          <p:nvPr/>
        </p:nvSpPr>
        <p:spPr>
          <a:xfrm>
            <a:off x="7452360" y="2148840"/>
            <a:ext cx="4187952" cy="868680"/>
          </a:xfrm>
          <a:prstGeom prst="rect">
            <a:avLst/>
          </a:prstGeom>
          <a:noFill/>
          <a:ln/>
        </p:spPr>
        <p:txBody>
          <a:bodyPr wrap="square" lIns="0" tIns="0" rIns="0" bIns="0" rtlCol="0" anchor="t"/>
          <a:lstStyle/>
          <a:p>
            <a:pPr indent="0" marL="0">
              <a:buNone/>
            </a:pPr>
            <a:r>
              <a:rPr lang="es-PE" sz="1500" dirty="0">
                <a:solidFill>
                  <a:schemeClr val="tx2"/>
                </a:solidFill>
              </a:rPr>
              <a:t>Reposo, saltando, atacando o aturdido: el personaje cambia de estado cuando ocurre un evento (Nystrom, 2014).</a:t>
            </a:r>
            <a:endParaRPr lang="es-PE" sz="1500" dirty="0"/>
          </a:p>
        </p:txBody>
      </p:sp>
      <p:sp>
        <p:nvSpPr>
          <p:cNvPr id="12" name="Fondo del icono"/>
          <p:cNvSpPr/>
          <p:nvPr/>
        </p:nvSpPr>
        <p:spPr>
          <a:xfrm>
            <a:off x="6675120" y="3200400"/>
            <a:ext cx="566928" cy="566928"/>
          </a:xfrm>
          <a:prstGeom prst="rect">
            <a:avLst/>
          </a:prstGeom>
          <a:solidFill>
            <a:schemeClr val="accent1"/>
          </a:solidFill>
          <a:ln w="12700">
            <a:solidFill>
              <a:schemeClr val="accent1"/>
            </a:solidFill>
            <a:prstDash val="solid"/>
          </a:ln>
        </p:spPr>
      </p:sp>
      <p:pic>
        <p:nvPicPr>
          <p:cNvPr id="13" name="Icono" descr="preencoded.png">    </p:cNvPr>
          <p:cNvPicPr>
            <a:picLocks noChangeAspect="1"/>
          </p:cNvPicPr>
          <p:nvPr/>
        </p:nvPicPr>
        <p:blipFill>
          <a:blip r:embed="rId2"/>
          <a:stretch>
            <a:fillRect/>
          </a:stretch>
        </p:blipFill>
        <p:spPr>
          <a:xfrm>
            <a:off x="6788506" y="3313786"/>
            <a:ext cx="340157" cy="340157"/>
          </a:xfrm>
          <a:prstGeom prst="rect">
            <a:avLst/>
          </a:prstGeom>
        </p:spPr>
      </p:pic>
      <p:sp>
        <p:nvSpPr>
          <p:cNvPr id="14" name="Text 9"/>
          <p:cNvSpPr txBox="1"/>
          <p:nvPr/>
        </p:nvSpPr>
        <p:spPr>
          <a:xfrm>
            <a:off x="7452360" y="3182112"/>
            <a:ext cx="4187952" cy="365760"/>
          </a:xfrm>
          <a:prstGeom prst="rect">
            <a:avLst/>
          </a:prstGeom>
          <a:noFill/>
          <a:ln/>
        </p:spPr>
        <p:txBody>
          <a:bodyPr wrap="square" lIns="0" tIns="0" rIns="0" bIns="0" rtlCol="0" anchor="t"/>
          <a:lstStyle/>
          <a:p>
            <a:pPr indent="0" marL="0">
              <a:buNone/>
            </a:pPr>
            <a:r>
              <a:rPr lang="es-PE" sz="1800" b="1" dirty="0">
                <a:solidFill>
                  <a:schemeClr val="tx1"/>
                </a:solidFill>
              </a:rPr>
              <a:t>Se escribe como banderas</a:t>
            </a:r>
            <a:endParaRPr lang="es-PE" sz="1800" dirty="0"/>
          </a:p>
        </p:txBody>
      </p:sp>
      <p:sp>
        <p:nvSpPr>
          <p:cNvPr id="15" name="Text 10"/>
          <p:cNvSpPr txBox="1"/>
          <p:nvPr/>
        </p:nvSpPr>
        <p:spPr>
          <a:xfrm>
            <a:off x="7452360" y="3566160"/>
            <a:ext cx="4187952" cy="868680"/>
          </a:xfrm>
          <a:prstGeom prst="rect">
            <a:avLst/>
          </a:prstGeom>
          <a:noFill/>
          <a:ln/>
        </p:spPr>
        <p:txBody>
          <a:bodyPr wrap="square" lIns="0" tIns="0" rIns="0" bIns="0" rtlCol="0" anchor="t"/>
          <a:lstStyle/>
          <a:p>
            <a:pPr indent="0" marL="0">
              <a:buNone/>
            </a:pPr>
            <a:r>
              <a:rPr lang="es-PE" sz="1500" dirty="0">
                <a:solidFill>
                  <a:schemeClr val="tx2"/>
                </a:solidFill>
              </a:rPr>
              <a:t>Condicionales que revisan banderas sueltas en el bucle del juego (Nystrom, 2014).</a:t>
            </a:r>
            <a:endParaRPr lang="es-PE" sz="1500" dirty="0"/>
          </a:p>
        </p:txBody>
      </p:sp>
      <p:sp>
        <p:nvSpPr>
          <p:cNvPr id="16" name="Fondo del icono"/>
          <p:cNvSpPr/>
          <p:nvPr/>
        </p:nvSpPr>
        <p:spPr>
          <a:xfrm>
            <a:off x="6675120" y="4617720"/>
            <a:ext cx="566928" cy="566928"/>
          </a:xfrm>
          <a:prstGeom prst="rect">
            <a:avLst/>
          </a:prstGeom>
          <a:solidFill>
            <a:schemeClr val="accent1"/>
          </a:solidFill>
          <a:ln w="12700">
            <a:solidFill>
              <a:schemeClr val="accent1"/>
            </a:solidFill>
            <a:prstDash val="solid"/>
          </a:ln>
        </p:spPr>
      </p:sp>
      <p:pic>
        <p:nvPicPr>
          <p:cNvPr id="17" name="Icono" descr="preencoded.png">    </p:cNvPr>
          <p:cNvPicPr>
            <a:picLocks noChangeAspect="1"/>
          </p:cNvPicPr>
          <p:nvPr/>
        </p:nvPicPr>
        <p:blipFill>
          <a:blip r:embed="rId3"/>
          <a:stretch>
            <a:fillRect/>
          </a:stretch>
        </p:blipFill>
        <p:spPr>
          <a:xfrm>
            <a:off x="6788506" y="4731106"/>
            <a:ext cx="340157" cy="340157"/>
          </a:xfrm>
          <a:prstGeom prst="rect">
            <a:avLst/>
          </a:prstGeom>
        </p:spPr>
      </p:pic>
      <p:sp>
        <p:nvSpPr>
          <p:cNvPr id="18" name="Text 12"/>
          <p:cNvSpPr txBox="1"/>
          <p:nvPr/>
        </p:nvSpPr>
        <p:spPr>
          <a:xfrm>
            <a:off x="7452360" y="4599432"/>
            <a:ext cx="4187952" cy="365760"/>
          </a:xfrm>
          <a:prstGeom prst="rect">
            <a:avLst/>
          </a:prstGeom>
          <a:noFill/>
          <a:ln/>
        </p:spPr>
        <p:txBody>
          <a:bodyPr wrap="square" lIns="0" tIns="0" rIns="0" bIns="0" rtlCol="0" anchor="t"/>
          <a:lstStyle/>
          <a:p>
            <a:pPr indent="0" marL="0">
              <a:buNone/>
            </a:pPr>
            <a:r>
              <a:rPr lang="es-PE" sz="1800" b="1" dirty="0">
                <a:solidFill>
                  <a:schemeClr val="tx1"/>
                </a:solidFill>
              </a:rPr>
              <a:t>En los editores queda repartida</a:t>
            </a:r>
            <a:endParaRPr lang="es-PE" sz="1800" dirty="0"/>
          </a:p>
        </p:txBody>
      </p:sp>
      <p:sp>
        <p:nvSpPr>
          <p:cNvPr id="19" name="Text 13"/>
          <p:cNvSpPr txBox="1"/>
          <p:nvPr/>
        </p:nvSpPr>
        <p:spPr>
          <a:xfrm>
            <a:off x="7452360" y="4983480"/>
            <a:ext cx="4187952" cy="868680"/>
          </a:xfrm>
          <a:prstGeom prst="rect">
            <a:avLst/>
          </a:prstGeom>
          <a:noFill/>
          <a:ln/>
        </p:spPr>
        <p:txBody>
          <a:bodyPr wrap="square" lIns="0" tIns="0" rIns="0" bIns="0" rtlCol="0" anchor="t"/>
          <a:lstStyle/>
          <a:p>
            <a:pPr indent="0" marL="0">
              <a:buNone/>
            </a:pPr>
            <a:r>
              <a:rPr lang="es-PE" sz="1500" dirty="0">
                <a:solidFill>
                  <a:schemeClr val="tx2"/>
                </a:solidFill>
              </a:rPr>
              <a:t>En Unity los estados son nodos, pero las condiciones de cada transición se configuran aparte, en el Inspector (Unity Technologies, s. f.).</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2</a:t>
            </a:fld>
            <a:endParaRPr lang="es-P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Problemática y motivación</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Un error en la máquina llega al jugador</a:t>
            </a:r>
            <a:endParaRPr lang="es-PE" sz="2800" dirty="0"/>
          </a:p>
        </p:txBody>
      </p:sp>
      <p:sp>
        <p:nvSpPr>
          <p:cNvPr id="5" name="Tarjeta"/>
          <p:cNvSpPr/>
          <p:nvPr/>
        </p:nvSpPr>
        <p:spPr>
          <a:xfrm>
            <a:off x="548640" y="1600200"/>
            <a:ext cx="3514344" cy="3063240"/>
          </a:xfrm>
          <a:prstGeom prst="rect">
            <a:avLst/>
          </a:prstGeom>
          <a:solidFill>
            <a:schemeClr val="bg2"/>
          </a:solidFill>
          <a:ln w="12700">
            <a:solidFill>
              <a:schemeClr val="bg2"/>
            </a:solidFill>
            <a:prstDash val="solid"/>
          </a:ln>
        </p:spPr>
      </p:sp>
      <p:sp>
        <p:nvSpPr>
          <p:cNvPr id="6" name="Estado"/>
          <p:cNvSpPr/>
          <p:nvPr/>
        </p:nvSpPr>
        <p:spPr>
          <a:xfrm>
            <a:off x="1005840" y="1801368"/>
            <a:ext cx="822960" cy="822960"/>
          </a:xfrm>
          <a:prstGeom prst="ellipse">
            <a:avLst/>
          </a:prstGeom>
          <a:solidFill>
            <a:schemeClr val="bg1"/>
          </a:solidFill>
          <a:ln w="15875">
            <a:solidFill>
              <a:schemeClr val="tx1"/>
            </a:solidFill>
            <a:prstDash val="solid"/>
          </a:ln>
        </p:spPr>
      </p:sp>
      <p:sp>
        <p:nvSpPr>
          <p:cNvPr id="7" name="Text 4"/>
          <p:cNvSpPr txBox="1"/>
          <p:nvPr/>
        </p:nvSpPr>
        <p:spPr>
          <a:xfrm>
            <a:off x="1005840" y="1801368"/>
            <a:ext cx="822960" cy="822960"/>
          </a:xfrm>
          <a:prstGeom prst="rect">
            <a:avLst/>
          </a:prstGeom>
          <a:noFill/>
          <a:ln/>
        </p:spPr>
        <p:txBody>
          <a:bodyPr wrap="square" lIns="0" tIns="0" rIns="0" bIns="0" rtlCol="0" anchor="ctr"/>
          <a:lstStyle/>
          <a:p>
            <a:pPr algn="ctr" indent="0" marL="0">
              <a:buNone/>
            </a:pPr>
            <a:r>
              <a:rPr lang="es-PE" sz="1100" dirty="0">
                <a:solidFill>
                  <a:schemeClr val="tx1"/>
                </a:solidFill>
              </a:rPr>
              <a:t>Reposo</a:t>
            </a:r>
            <a:endParaRPr lang="es-PE" sz="1100" dirty="0"/>
          </a:p>
        </p:txBody>
      </p:sp>
      <p:sp>
        <p:nvSpPr>
          <p:cNvPr id="8" name="Estado"/>
          <p:cNvSpPr/>
          <p:nvPr/>
        </p:nvSpPr>
        <p:spPr>
          <a:xfrm>
            <a:off x="2834640" y="1801368"/>
            <a:ext cx="822960" cy="822960"/>
          </a:xfrm>
          <a:prstGeom prst="ellipse">
            <a:avLst/>
          </a:prstGeom>
          <a:solidFill>
            <a:schemeClr val="bg1"/>
          </a:solidFill>
          <a:ln w="15875">
            <a:solidFill>
              <a:schemeClr val="tx1"/>
            </a:solidFill>
            <a:prstDash val="solid"/>
          </a:ln>
        </p:spPr>
      </p:sp>
      <p:sp>
        <p:nvSpPr>
          <p:cNvPr id="9" name="Text 6"/>
          <p:cNvSpPr txBox="1"/>
          <p:nvPr/>
        </p:nvSpPr>
        <p:spPr>
          <a:xfrm>
            <a:off x="2834640" y="1801368"/>
            <a:ext cx="822960" cy="822960"/>
          </a:xfrm>
          <a:prstGeom prst="rect">
            <a:avLst/>
          </a:prstGeom>
          <a:noFill/>
          <a:ln/>
        </p:spPr>
        <p:txBody>
          <a:bodyPr wrap="square" lIns="0" tIns="0" rIns="0" bIns="0" rtlCol="0" anchor="ctr"/>
          <a:lstStyle/>
          <a:p>
            <a:pPr algn="ctr" indent="0" marL="0">
              <a:buNone/>
            </a:pPr>
            <a:r>
              <a:rPr lang="es-PE" sz="1100" dirty="0">
                <a:solidFill>
                  <a:schemeClr val="tx1"/>
                </a:solidFill>
              </a:rPr>
              <a:t>Saltando</a:t>
            </a:r>
            <a:endParaRPr lang="es-PE" sz="1100" dirty="0"/>
          </a:p>
        </p:txBody>
      </p:sp>
      <p:sp>
        <p:nvSpPr>
          <p:cNvPr id="10" name="Estado"/>
          <p:cNvSpPr/>
          <p:nvPr/>
        </p:nvSpPr>
        <p:spPr>
          <a:xfrm>
            <a:off x="1920240" y="2807208"/>
            <a:ext cx="822960" cy="822960"/>
          </a:xfrm>
          <a:prstGeom prst="ellipse">
            <a:avLst/>
          </a:prstGeom>
          <a:solidFill>
            <a:schemeClr val="bg1"/>
          </a:solidFill>
          <a:ln w="28575">
            <a:solidFill>
              <a:schemeClr val="accent1"/>
            </a:solidFill>
            <a:prstDash val="solid"/>
          </a:ln>
        </p:spPr>
      </p:sp>
      <p:sp>
        <p:nvSpPr>
          <p:cNvPr id="11" name="Text 8"/>
          <p:cNvSpPr txBox="1"/>
          <p:nvPr/>
        </p:nvSpPr>
        <p:spPr>
          <a:xfrm>
            <a:off x="1920240" y="2807208"/>
            <a:ext cx="822960" cy="822960"/>
          </a:xfrm>
          <a:prstGeom prst="rect">
            <a:avLst/>
          </a:prstGeom>
          <a:noFill/>
          <a:ln/>
        </p:spPr>
        <p:txBody>
          <a:bodyPr wrap="square" lIns="0" tIns="0" rIns="0" bIns="0" rtlCol="0" anchor="ctr"/>
          <a:lstStyle/>
          <a:p>
            <a:pPr algn="ctr" indent="0" marL="0">
              <a:buNone/>
            </a:pPr>
            <a:r>
              <a:rPr lang="es-PE" sz="1100" b="1" dirty="0">
                <a:solidFill>
                  <a:schemeClr val="accent1"/>
                </a:solidFill>
              </a:rPr>
              <a:t>Nadando</a:t>
            </a:r>
            <a:endParaRPr lang="es-PE" sz="1100" dirty="0"/>
          </a:p>
        </p:txBody>
      </p:sp>
      <p:sp>
        <p:nvSpPr>
          <p:cNvPr id="12" name="Flecha"/>
          <p:cNvSpPr/>
          <p:nvPr/>
        </p:nvSpPr>
        <p:spPr>
          <a:xfrm>
            <a:off x="1828800" y="2212848"/>
            <a:ext cx="1005840" cy="0"/>
          </a:xfrm>
          <a:prstGeom prst="line">
            <a:avLst/>
          </a:prstGeom>
          <a:noFill/>
          <a:ln w="19050">
            <a:solidFill>
              <a:schemeClr val="tx1"/>
            </a:solidFill>
            <a:prstDash val="solid"/>
            <a:tailEnd type="triangle"/>
          </a:ln>
        </p:spPr>
      </p:sp>
      <p:sp>
        <p:nvSpPr>
          <p:cNvPr id="13" name="Text 10"/>
          <p:cNvSpPr txBox="1"/>
          <p:nvPr/>
        </p:nvSpPr>
        <p:spPr>
          <a:xfrm>
            <a:off x="822960" y="3721608"/>
            <a:ext cx="2965704" cy="365760"/>
          </a:xfrm>
          <a:prstGeom prst="rect">
            <a:avLst/>
          </a:prstGeom>
          <a:noFill/>
          <a:ln/>
        </p:spPr>
        <p:txBody>
          <a:bodyPr wrap="square" lIns="0" tIns="0" rIns="0" bIns="0" rtlCol="0" anchor="t"/>
          <a:lstStyle/>
          <a:p>
            <a:pPr indent="0" marL="0">
              <a:buNone/>
            </a:pPr>
            <a:r>
              <a:rPr lang="es-PE" sz="1800" b="1" dirty="0">
                <a:solidFill>
                  <a:schemeClr val="tx1"/>
                </a:solidFill>
              </a:rPr>
              <a:t>Estado inalcanzable</a:t>
            </a:r>
            <a:endParaRPr lang="es-PE" sz="1800" dirty="0"/>
          </a:p>
        </p:txBody>
      </p:sp>
      <p:sp>
        <p:nvSpPr>
          <p:cNvPr id="14" name="Text 11"/>
          <p:cNvSpPr txBox="1"/>
          <p:nvPr/>
        </p:nvSpPr>
        <p:spPr>
          <a:xfrm>
            <a:off x="822960" y="4087368"/>
            <a:ext cx="2965704" cy="548640"/>
          </a:xfrm>
          <a:prstGeom prst="rect">
            <a:avLst/>
          </a:prstGeom>
          <a:noFill/>
          <a:ln/>
        </p:spPr>
        <p:txBody>
          <a:bodyPr wrap="square" lIns="0" tIns="0" rIns="0" bIns="0" rtlCol="0" anchor="t"/>
          <a:lstStyle/>
          <a:p>
            <a:pPr indent="0" marL="0">
              <a:buNone/>
            </a:pPr>
            <a:r>
              <a:rPr lang="es-PE" sz="1400" dirty="0">
                <a:solidFill>
                  <a:schemeClr val="tx2"/>
                </a:solidFill>
              </a:rPr>
              <a:t>El jugador nunca puede usar esa acción.</a:t>
            </a:r>
            <a:endParaRPr lang="es-PE" sz="1400" dirty="0"/>
          </a:p>
        </p:txBody>
      </p:sp>
      <p:sp>
        <p:nvSpPr>
          <p:cNvPr id="15" name="Tarjeta"/>
          <p:cNvSpPr/>
          <p:nvPr/>
        </p:nvSpPr>
        <p:spPr>
          <a:xfrm>
            <a:off x="4337304" y="1600200"/>
            <a:ext cx="3514344" cy="3063240"/>
          </a:xfrm>
          <a:prstGeom prst="rect">
            <a:avLst/>
          </a:prstGeom>
          <a:solidFill>
            <a:schemeClr val="bg2"/>
          </a:solidFill>
          <a:ln w="12700">
            <a:solidFill>
              <a:schemeClr val="bg2"/>
            </a:solidFill>
            <a:prstDash val="solid"/>
          </a:ln>
        </p:spPr>
      </p:sp>
      <p:sp>
        <p:nvSpPr>
          <p:cNvPr id="16" name="Estado"/>
          <p:cNvSpPr/>
          <p:nvPr/>
        </p:nvSpPr>
        <p:spPr>
          <a:xfrm>
            <a:off x="4794504" y="2304288"/>
            <a:ext cx="822960" cy="822960"/>
          </a:xfrm>
          <a:prstGeom prst="ellipse">
            <a:avLst/>
          </a:prstGeom>
          <a:solidFill>
            <a:schemeClr val="bg1"/>
          </a:solidFill>
          <a:ln w="15875">
            <a:solidFill>
              <a:schemeClr val="tx1"/>
            </a:solidFill>
            <a:prstDash val="solid"/>
          </a:ln>
        </p:spPr>
      </p:sp>
      <p:sp>
        <p:nvSpPr>
          <p:cNvPr id="17" name="Text 14"/>
          <p:cNvSpPr txBox="1"/>
          <p:nvPr/>
        </p:nvSpPr>
        <p:spPr>
          <a:xfrm>
            <a:off x="4794504" y="2304288"/>
            <a:ext cx="822960" cy="822960"/>
          </a:xfrm>
          <a:prstGeom prst="rect">
            <a:avLst/>
          </a:prstGeom>
          <a:noFill/>
          <a:ln/>
        </p:spPr>
        <p:txBody>
          <a:bodyPr wrap="square" lIns="0" tIns="0" rIns="0" bIns="0" rtlCol="0" anchor="ctr"/>
          <a:lstStyle/>
          <a:p>
            <a:pPr algn="ctr" indent="0" marL="0">
              <a:buNone/>
            </a:pPr>
            <a:r>
              <a:rPr lang="es-PE" sz="1100" dirty="0">
                <a:solidFill>
                  <a:schemeClr val="tx1"/>
                </a:solidFill>
              </a:rPr>
              <a:t>Saltando</a:t>
            </a:r>
            <a:endParaRPr lang="es-PE" sz="1100" dirty="0"/>
          </a:p>
        </p:txBody>
      </p:sp>
      <p:sp>
        <p:nvSpPr>
          <p:cNvPr id="18" name="Estado"/>
          <p:cNvSpPr/>
          <p:nvPr/>
        </p:nvSpPr>
        <p:spPr>
          <a:xfrm>
            <a:off x="6623304" y="2304288"/>
            <a:ext cx="822960" cy="822960"/>
          </a:xfrm>
          <a:prstGeom prst="ellipse">
            <a:avLst/>
          </a:prstGeom>
          <a:solidFill>
            <a:schemeClr val="bg1"/>
          </a:solidFill>
          <a:ln w="28575">
            <a:solidFill>
              <a:schemeClr val="accent1"/>
            </a:solidFill>
            <a:prstDash val="dash"/>
          </a:ln>
        </p:spPr>
      </p:sp>
      <p:sp>
        <p:nvSpPr>
          <p:cNvPr id="19" name="Text 16"/>
          <p:cNvSpPr txBox="1"/>
          <p:nvPr/>
        </p:nvSpPr>
        <p:spPr>
          <a:xfrm>
            <a:off x="6623304" y="2304288"/>
            <a:ext cx="822960" cy="822960"/>
          </a:xfrm>
          <a:prstGeom prst="rect">
            <a:avLst/>
          </a:prstGeom>
          <a:noFill/>
          <a:ln/>
        </p:spPr>
        <p:txBody>
          <a:bodyPr wrap="square" lIns="0" tIns="0" rIns="0" bIns="0" rtlCol="0" anchor="ctr"/>
          <a:lstStyle/>
          <a:p>
            <a:pPr algn="ctr" indent="0" marL="0">
              <a:buNone/>
            </a:pPr>
            <a:r>
              <a:rPr lang="es-PE" sz="1100" b="1" dirty="0">
                <a:solidFill>
                  <a:schemeClr val="accent1"/>
                </a:solidFill>
              </a:rPr>
              <a:t>¿Volando?</a:t>
            </a:r>
            <a:endParaRPr lang="es-PE" sz="1100" dirty="0"/>
          </a:p>
        </p:txBody>
      </p:sp>
      <p:sp>
        <p:nvSpPr>
          <p:cNvPr id="20" name="Flecha"/>
          <p:cNvSpPr/>
          <p:nvPr/>
        </p:nvSpPr>
        <p:spPr>
          <a:xfrm>
            <a:off x="5617464" y="2715768"/>
            <a:ext cx="1005840" cy="0"/>
          </a:xfrm>
          <a:prstGeom prst="line">
            <a:avLst/>
          </a:prstGeom>
          <a:noFill/>
          <a:ln w="19050">
            <a:solidFill>
              <a:schemeClr val="accent1"/>
            </a:solidFill>
            <a:prstDash val="solid"/>
            <a:tailEnd type="triangle"/>
          </a:ln>
        </p:spPr>
      </p:sp>
      <p:sp>
        <p:nvSpPr>
          <p:cNvPr id="21" name="Text 18"/>
          <p:cNvSpPr txBox="1"/>
          <p:nvPr/>
        </p:nvSpPr>
        <p:spPr>
          <a:xfrm>
            <a:off x="4611624" y="3721608"/>
            <a:ext cx="2965704" cy="365760"/>
          </a:xfrm>
          <a:prstGeom prst="rect">
            <a:avLst/>
          </a:prstGeom>
          <a:noFill/>
          <a:ln/>
        </p:spPr>
        <p:txBody>
          <a:bodyPr wrap="square" lIns="0" tIns="0" rIns="0" bIns="0" rtlCol="0" anchor="t"/>
          <a:lstStyle/>
          <a:p>
            <a:pPr indent="0" marL="0">
              <a:buNone/>
            </a:pPr>
            <a:r>
              <a:rPr lang="es-PE" sz="1800" b="1" dirty="0">
                <a:solidFill>
                  <a:schemeClr val="tx1"/>
                </a:solidFill>
              </a:rPr>
              <a:t>Destino inexistente</a:t>
            </a:r>
            <a:endParaRPr lang="es-PE" sz="1800" dirty="0"/>
          </a:p>
        </p:txBody>
      </p:sp>
      <p:sp>
        <p:nvSpPr>
          <p:cNvPr id="22" name="Text 19"/>
          <p:cNvSpPr txBox="1"/>
          <p:nvPr/>
        </p:nvSpPr>
        <p:spPr>
          <a:xfrm>
            <a:off x="4611624" y="4087368"/>
            <a:ext cx="2965704" cy="548640"/>
          </a:xfrm>
          <a:prstGeom prst="rect">
            <a:avLst/>
          </a:prstGeom>
          <a:noFill/>
          <a:ln/>
        </p:spPr>
        <p:txBody>
          <a:bodyPr wrap="square" lIns="0" tIns="0" rIns="0" bIns="0" rtlCol="0" anchor="t"/>
          <a:lstStyle/>
          <a:p>
            <a:pPr indent="0" marL="0">
              <a:buNone/>
            </a:pPr>
            <a:r>
              <a:rPr lang="es-PE" sz="1400" dirty="0">
                <a:solidFill>
                  <a:schemeClr val="tx2"/>
                </a:solidFill>
              </a:rPr>
              <a:t>El personaje no responde al evento.</a:t>
            </a:r>
            <a:endParaRPr lang="es-PE" sz="1400" dirty="0"/>
          </a:p>
        </p:txBody>
      </p:sp>
      <p:sp>
        <p:nvSpPr>
          <p:cNvPr id="23" name="Tarjeta"/>
          <p:cNvSpPr/>
          <p:nvPr/>
        </p:nvSpPr>
        <p:spPr>
          <a:xfrm>
            <a:off x="8125968" y="1600200"/>
            <a:ext cx="3514344" cy="3063240"/>
          </a:xfrm>
          <a:prstGeom prst="rect">
            <a:avLst/>
          </a:prstGeom>
          <a:solidFill>
            <a:schemeClr val="bg2"/>
          </a:solidFill>
          <a:ln w="12700">
            <a:solidFill>
              <a:schemeClr val="bg2"/>
            </a:solidFill>
            <a:prstDash val="solid"/>
          </a:ln>
        </p:spPr>
      </p:sp>
      <p:sp>
        <p:nvSpPr>
          <p:cNvPr id="24" name="Estado"/>
          <p:cNvSpPr/>
          <p:nvPr/>
        </p:nvSpPr>
        <p:spPr>
          <a:xfrm>
            <a:off x="8583168" y="2304288"/>
            <a:ext cx="822960" cy="822960"/>
          </a:xfrm>
          <a:prstGeom prst="ellipse">
            <a:avLst/>
          </a:prstGeom>
          <a:solidFill>
            <a:schemeClr val="bg1"/>
          </a:solidFill>
          <a:ln w="15875">
            <a:solidFill>
              <a:schemeClr val="tx1"/>
            </a:solidFill>
            <a:prstDash val="solid"/>
          </a:ln>
        </p:spPr>
      </p:sp>
      <p:sp>
        <p:nvSpPr>
          <p:cNvPr id="25" name="Text 22"/>
          <p:cNvSpPr txBox="1"/>
          <p:nvPr/>
        </p:nvSpPr>
        <p:spPr>
          <a:xfrm>
            <a:off x="8583168" y="2304288"/>
            <a:ext cx="822960" cy="822960"/>
          </a:xfrm>
          <a:prstGeom prst="rect">
            <a:avLst/>
          </a:prstGeom>
          <a:noFill/>
          <a:ln/>
        </p:spPr>
        <p:txBody>
          <a:bodyPr wrap="square" lIns="0" tIns="0" rIns="0" bIns="0" rtlCol="0" anchor="ctr"/>
          <a:lstStyle/>
          <a:p>
            <a:pPr algn="ctr" indent="0" marL="0">
              <a:buNone/>
            </a:pPr>
            <a:r>
              <a:rPr lang="es-PE" sz="1100" dirty="0">
                <a:solidFill>
                  <a:schemeClr val="tx1"/>
                </a:solidFill>
              </a:rPr>
              <a:t>Reposo</a:t>
            </a:r>
            <a:endParaRPr lang="es-PE" sz="1100" dirty="0"/>
          </a:p>
        </p:txBody>
      </p:sp>
      <p:sp>
        <p:nvSpPr>
          <p:cNvPr id="26" name="Estado"/>
          <p:cNvSpPr/>
          <p:nvPr/>
        </p:nvSpPr>
        <p:spPr>
          <a:xfrm>
            <a:off x="10411968" y="2304288"/>
            <a:ext cx="822960" cy="822960"/>
          </a:xfrm>
          <a:prstGeom prst="ellipse">
            <a:avLst/>
          </a:prstGeom>
          <a:solidFill>
            <a:schemeClr val="bg1"/>
          </a:solidFill>
          <a:ln w="28575">
            <a:solidFill>
              <a:schemeClr val="accent1"/>
            </a:solidFill>
            <a:prstDash val="solid"/>
          </a:ln>
        </p:spPr>
      </p:sp>
      <p:sp>
        <p:nvSpPr>
          <p:cNvPr id="27" name="Text 24"/>
          <p:cNvSpPr txBox="1"/>
          <p:nvPr/>
        </p:nvSpPr>
        <p:spPr>
          <a:xfrm>
            <a:off x="10411968" y="2304288"/>
            <a:ext cx="822960" cy="822960"/>
          </a:xfrm>
          <a:prstGeom prst="rect">
            <a:avLst/>
          </a:prstGeom>
          <a:noFill/>
          <a:ln/>
        </p:spPr>
        <p:txBody>
          <a:bodyPr wrap="square" lIns="0" tIns="0" rIns="0" bIns="0" rtlCol="0" anchor="ctr"/>
          <a:lstStyle/>
          <a:p>
            <a:pPr algn="ctr" indent="0" marL="0">
              <a:buNone/>
            </a:pPr>
            <a:r>
              <a:rPr lang="es-PE" sz="1100" b="1" dirty="0">
                <a:solidFill>
                  <a:schemeClr val="accent1"/>
                </a:solidFill>
              </a:rPr>
              <a:t>Aturdido</a:t>
            </a:r>
            <a:endParaRPr lang="es-PE" sz="1100" dirty="0"/>
          </a:p>
        </p:txBody>
      </p:sp>
      <p:sp>
        <p:nvSpPr>
          <p:cNvPr id="28" name="Flecha"/>
          <p:cNvSpPr/>
          <p:nvPr/>
        </p:nvSpPr>
        <p:spPr>
          <a:xfrm>
            <a:off x="9406128" y="2715768"/>
            <a:ext cx="1005840" cy="0"/>
          </a:xfrm>
          <a:prstGeom prst="line">
            <a:avLst/>
          </a:prstGeom>
          <a:noFill/>
          <a:ln w="19050">
            <a:solidFill>
              <a:schemeClr val="tx1"/>
            </a:solidFill>
            <a:prstDash val="solid"/>
            <a:tailEnd type="triangle"/>
          </a:ln>
        </p:spPr>
      </p:sp>
      <p:sp>
        <p:nvSpPr>
          <p:cNvPr id="29" name="Text 26"/>
          <p:cNvSpPr txBox="1"/>
          <p:nvPr/>
        </p:nvSpPr>
        <p:spPr>
          <a:xfrm>
            <a:off x="8400288" y="3721608"/>
            <a:ext cx="2965704" cy="365760"/>
          </a:xfrm>
          <a:prstGeom prst="rect">
            <a:avLst/>
          </a:prstGeom>
          <a:noFill/>
          <a:ln/>
        </p:spPr>
        <p:txBody>
          <a:bodyPr wrap="square" lIns="0" tIns="0" rIns="0" bIns="0" rtlCol="0" anchor="t"/>
          <a:lstStyle/>
          <a:p>
            <a:pPr indent="0" marL="0">
              <a:buNone/>
            </a:pPr>
            <a:r>
              <a:rPr lang="es-PE" sz="1800" b="1" dirty="0">
                <a:solidFill>
                  <a:schemeClr val="tx1"/>
                </a:solidFill>
              </a:rPr>
              <a:t>Estado sin salida</a:t>
            </a:r>
            <a:endParaRPr lang="es-PE" sz="1800" dirty="0"/>
          </a:p>
        </p:txBody>
      </p:sp>
      <p:sp>
        <p:nvSpPr>
          <p:cNvPr id="30" name="Text 27"/>
          <p:cNvSpPr txBox="1"/>
          <p:nvPr/>
        </p:nvSpPr>
        <p:spPr>
          <a:xfrm>
            <a:off x="8400288" y="4087368"/>
            <a:ext cx="2965704" cy="548640"/>
          </a:xfrm>
          <a:prstGeom prst="rect">
            <a:avLst/>
          </a:prstGeom>
          <a:noFill/>
          <a:ln/>
        </p:spPr>
        <p:txBody>
          <a:bodyPr wrap="square" lIns="0" tIns="0" rIns="0" bIns="0" rtlCol="0" anchor="t"/>
          <a:lstStyle/>
          <a:p>
            <a:pPr indent="0" marL="0">
              <a:buNone/>
            </a:pPr>
            <a:r>
              <a:rPr lang="es-PE" sz="1400" dirty="0">
                <a:solidFill>
                  <a:schemeClr val="tx2"/>
                </a:solidFill>
              </a:rPr>
              <a:t>El personaje queda atrapado y la partida no avanza.</a:t>
            </a:r>
            <a:endParaRPr lang="es-PE" sz="1400" dirty="0"/>
          </a:p>
        </p:txBody>
      </p:sp>
      <p:sp>
        <p:nvSpPr>
          <p:cNvPr id="31" name="Combinaciones"/>
          <p:cNvSpPr/>
          <p:nvPr/>
        </p:nvSpPr>
        <p:spPr>
          <a:xfrm>
            <a:off x="548640" y="4846320"/>
            <a:ext cx="4069080" cy="1143000"/>
          </a:xfrm>
          <a:prstGeom prst="rect">
            <a:avLst/>
          </a:prstGeom>
          <a:solidFill>
            <a:schemeClr val="bg2"/>
          </a:solidFill>
          <a:ln w="12700">
            <a:solidFill>
              <a:schemeClr val="bg2"/>
            </a:solidFill>
            <a:prstDash val="solid"/>
          </a:ln>
        </p:spPr>
      </p:sp>
      <p:sp>
        <p:nvSpPr>
          <p:cNvPr id="32" name="Text 29"/>
          <p:cNvSpPr txBox="1"/>
          <p:nvPr/>
        </p:nvSpPr>
        <p:spPr>
          <a:xfrm>
            <a:off x="731520" y="4846320"/>
            <a:ext cx="868680" cy="1143000"/>
          </a:xfrm>
          <a:prstGeom prst="rect">
            <a:avLst/>
          </a:prstGeom>
          <a:noFill/>
          <a:ln/>
        </p:spPr>
        <p:txBody>
          <a:bodyPr wrap="square" lIns="0" tIns="0" rIns="0" bIns="0" rtlCol="0" anchor="ctr"/>
          <a:lstStyle/>
          <a:p>
            <a:pPr indent="0" marL="0">
              <a:buNone/>
            </a:pPr>
            <a:r>
              <a:rPr lang="es-PE" sz="4400" b="1" dirty="0">
                <a:solidFill>
                  <a:schemeClr val="accent1"/>
                </a:solidFill>
                <a:latin typeface="Consolas" pitchFamily="34" charset="0"/>
                <a:ea typeface="Consolas" pitchFamily="34" charset="-122"/>
                <a:cs typeface="Consolas" pitchFamily="34" charset="-120"/>
              </a:rPr>
              <a:t>30</a:t>
            </a:r>
            <a:endParaRPr lang="es-PE" sz="4400" dirty="0"/>
          </a:p>
        </p:txBody>
      </p:sp>
      <p:sp>
        <p:nvSpPr>
          <p:cNvPr id="33" name="Text 30"/>
          <p:cNvSpPr txBox="1"/>
          <p:nvPr/>
        </p:nvSpPr>
        <p:spPr>
          <a:xfrm>
            <a:off x="1645920" y="4846320"/>
            <a:ext cx="2834640" cy="1143000"/>
          </a:xfrm>
          <a:prstGeom prst="rect">
            <a:avLst/>
          </a:prstGeom>
          <a:noFill/>
          <a:ln/>
        </p:spPr>
        <p:txBody>
          <a:bodyPr wrap="square" lIns="0" tIns="0" rIns="0" bIns="0" rtlCol="0" anchor="ctr"/>
          <a:lstStyle/>
          <a:p>
            <a:pPr indent="0" marL="0">
              <a:buNone/>
            </a:pPr>
            <a:r>
              <a:rPr lang="es-PE" sz="1300" dirty="0">
                <a:solidFill>
                  <a:schemeClr val="tx1"/>
                </a:solidFill>
              </a:rPr>
              <a:t>combinaciones de estado y evento que se prueban a mano en un personaje con 5 estados y 6 eventos, cada vez que cambia el diseño</a:t>
            </a:r>
            <a:endParaRPr lang="es-PE" sz="1300" dirty="0"/>
          </a:p>
        </p:txBody>
      </p:sp>
      <p:sp>
        <p:nvSpPr>
          <p:cNvPr id="34" name="Pixel"/>
          <p:cNvSpPr/>
          <p:nvPr/>
        </p:nvSpPr>
        <p:spPr>
          <a:xfrm>
            <a:off x="4937760" y="4937760"/>
            <a:ext cx="128016" cy="128016"/>
          </a:xfrm>
          <a:prstGeom prst="rect">
            <a:avLst/>
          </a:prstGeom>
          <a:solidFill>
            <a:schemeClr val="accent1"/>
          </a:solidFill>
          <a:ln w="12700">
            <a:solidFill>
              <a:schemeClr val="accent1"/>
            </a:solidFill>
            <a:prstDash val="solid"/>
          </a:ln>
        </p:spPr>
      </p:sp>
      <p:sp>
        <p:nvSpPr>
          <p:cNvPr id="35" name="Text 32"/>
          <p:cNvSpPr txBox="1"/>
          <p:nvPr/>
        </p:nvSpPr>
        <p:spPr>
          <a:xfrm>
            <a:off x="5257800" y="4846320"/>
            <a:ext cx="6382512" cy="502920"/>
          </a:xfrm>
          <a:prstGeom prst="rect">
            <a:avLst/>
          </a:prstGeom>
          <a:noFill/>
          <a:ln/>
        </p:spPr>
        <p:txBody>
          <a:bodyPr wrap="square" lIns="0" tIns="0" rIns="0" bIns="0" rtlCol="0" anchor="t"/>
          <a:lstStyle/>
          <a:p>
            <a:pPr indent="0" marL="0">
              <a:buNone/>
            </a:pPr>
            <a:r>
              <a:rPr lang="es-PE" sz="1400" dirty="0">
                <a:solidFill>
                  <a:schemeClr val="tx1"/>
                </a:solidFill>
              </a:rPr>
              <a:t>El compilador del juego no detecta estos errores: para él, las banderas son solo variables.</a:t>
            </a:r>
            <a:endParaRPr lang="es-PE" sz="1400" dirty="0"/>
          </a:p>
        </p:txBody>
      </p:sp>
      <p:sp>
        <p:nvSpPr>
          <p:cNvPr id="36" name="Pixel"/>
          <p:cNvSpPr/>
          <p:nvPr/>
        </p:nvSpPr>
        <p:spPr>
          <a:xfrm>
            <a:off x="4937760" y="5504688"/>
            <a:ext cx="128016" cy="128016"/>
          </a:xfrm>
          <a:prstGeom prst="rect">
            <a:avLst/>
          </a:prstGeom>
          <a:solidFill>
            <a:schemeClr val="accent1"/>
          </a:solidFill>
          <a:ln w="12700">
            <a:solidFill>
              <a:schemeClr val="accent1"/>
            </a:solidFill>
            <a:prstDash val="solid"/>
          </a:ln>
        </p:spPr>
      </p:sp>
      <p:sp>
        <p:nvSpPr>
          <p:cNvPr id="37" name="Text 34"/>
          <p:cNvSpPr txBox="1"/>
          <p:nvPr/>
        </p:nvSpPr>
        <p:spPr>
          <a:xfrm>
            <a:off x="5257800" y="5413248"/>
            <a:ext cx="6382512" cy="777240"/>
          </a:xfrm>
          <a:prstGeom prst="rect">
            <a:avLst/>
          </a:prstGeom>
          <a:noFill/>
          <a:ln/>
        </p:spPr>
        <p:txBody>
          <a:bodyPr wrap="square" lIns="0" tIns="0" rIns="0" bIns="0" rtlCol="0" anchor="t"/>
          <a:lstStyle/>
          <a:p>
            <a:pPr indent="0" marL="0">
              <a:buNone/>
            </a:pPr>
            <a:r>
              <a:rPr lang="es-PE" sz="1400" dirty="0">
                <a:solidFill>
                  <a:schemeClr val="tx1"/>
                </a:solidFill>
              </a:rPr>
              <a:t>Hoy estos errores se detectan jugando. Las pruebas son casi exclusivamente partidas manuales (Politowski et al., 2021), y los equipos evitan las pruebas automatizadas porque quedan obsoletas cuando cambia el diseño (Murphy-Hill et al., 2014).</a:t>
            </a:r>
            <a:endParaRPr lang="es-PE"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3</a:t>
            </a:fld>
            <a:endParaRPr lang="es-P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Problemática y motivación</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PixelLang: cada personaje es un autómata finito</a:t>
            </a:r>
            <a:endParaRPr lang="es-PE" sz="2800" dirty="0"/>
          </a:p>
        </p:txBody>
      </p:sp>
      <p:sp>
        <p:nvSpPr>
          <p:cNvPr id="5" name="Text 2"/>
          <p:cNvSpPr txBox="1"/>
          <p:nvPr/>
        </p:nvSpPr>
        <p:spPr>
          <a:xfrm>
            <a:off x="548640" y="1536192"/>
            <a:ext cx="7315200" cy="274320"/>
          </a:xfrm>
          <a:prstGeom prst="rect">
            <a:avLst/>
          </a:prstGeom>
          <a:noFill/>
          <a:ln/>
        </p:spPr>
        <p:txBody>
          <a:bodyPr wrap="square" lIns="0" tIns="0" rIns="0" bIns="0" rtlCol="0" anchor="t"/>
          <a:lstStyle/>
          <a:p>
            <a:pPr indent="0" marL="0">
              <a:buNone/>
            </a:pPr>
            <a:r>
              <a:rPr lang="es-PE" sz="1200" b="1" dirty="0">
                <a:solidFill>
                  <a:schemeClr val="accent5"/>
                </a:solidFill>
              </a:rPr>
              <a:t>Alternativas actuales frente a PixelLang</a:t>
            </a:r>
            <a:endParaRPr lang="es-PE" sz="1200" dirty="0"/>
          </a:p>
        </p:txBody>
      </p:sp>
      <p:sp>
        <p:nvSpPr>
          <p:cNvPr id="6" name="Tarjeta"/>
          <p:cNvSpPr/>
          <p:nvPr/>
        </p:nvSpPr>
        <p:spPr>
          <a:xfrm>
            <a:off x="548640" y="1828800"/>
            <a:ext cx="3514344" cy="1325880"/>
          </a:xfrm>
          <a:prstGeom prst="rect">
            <a:avLst/>
          </a:prstGeom>
          <a:solidFill>
            <a:schemeClr val="bg2"/>
          </a:solidFill>
          <a:ln w="12700">
            <a:solidFill>
              <a:schemeClr val="bg2"/>
            </a:solidFill>
            <a:prstDash val="solid"/>
          </a:ln>
        </p:spPr>
      </p:sp>
      <p:sp>
        <p:nvSpPr>
          <p:cNvPr id="7" name="Text 4"/>
          <p:cNvSpPr txBox="1"/>
          <p:nvPr/>
        </p:nvSpPr>
        <p:spPr>
          <a:xfrm>
            <a:off x="777240" y="1938528"/>
            <a:ext cx="3057144" cy="365760"/>
          </a:xfrm>
          <a:prstGeom prst="rect">
            <a:avLst/>
          </a:prstGeom>
          <a:noFill/>
          <a:ln/>
        </p:spPr>
        <p:txBody>
          <a:bodyPr wrap="square" lIns="0" tIns="0" rIns="0" bIns="0" rtlCol="0" anchor="t"/>
          <a:lstStyle/>
          <a:p>
            <a:pPr indent="0" marL="0">
              <a:buNone/>
            </a:pPr>
            <a:r>
              <a:rPr lang="es-PE" sz="1700" b="1" dirty="0">
                <a:solidFill>
                  <a:schemeClr val="tx1"/>
                </a:solidFill>
                <a:latin typeface="Consolas" pitchFamily="34" charset="0"/>
                <a:ea typeface="Consolas" pitchFamily="34" charset="-122"/>
                <a:cs typeface="Consolas" pitchFamily="34" charset="-120"/>
              </a:rPr>
              <a:t>SCXML</a:t>
            </a:r>
            <a:endParaRPr lang="es-PE" sz="1700" dirty="0"/>
          </a:p>
        </p:txBody>
      </p:sp>
      <p:sp>
        <p:nvSpPr>
          <p:cNvPr id="8" name="Text 5"/>
          <p:cNvSpPr txBox="1"/>
          <p:nvPr/>
        </p:nvSpPr>
        <p:spPr>
          <a:xfrm>
            <a:off x="777240" y="2331720"/>
            <a:ext cx="3057144" cy="658368"/>
          </a:xfrm>
          <a:prstGeom prst="rect">
            <a:avLst/>
          </a:prstGeom>
          <a:noFill/>
          <a:ln/>
        </p:spPr>
        <p:txBody>
          <a:bodyPr wrap="square" lIns="0" tIns="0" rIns="0" bIns="0" rtlCol="0" anchor="t"/>
          <a:lstStyle/>
          <a:p>
            <a:pPr indent="0" marL="0">
              <a:buNone/>
            </a:pPr>
            <a:r>
              <a:rPr lang="es-PE" sz="1400" dirty="0">
                <a:solidFill>
                  <a:schemeClr val="tx2"/>
                </a:solidFill>
              </a:rPr>
              <a:t>Formato XML de propósito general, para intérpretes (World Wide Web Consortium, 2015)</a:t>
            </a:r>
            <a:endParaRPr lang="es-PE" sz="1400" dirty="0"/>
          </a:p>
        </p:txBody>
      </p:sp>
      <p:sp>
        <p:nvSpPr>
          <p:cNvPr id="9" name="Tarjeta"/>
          <p:cNvSpPr/>
          <p:nvPr/>
        </p:nvSpPr>
        <p:spPr>
          <a:xfrm>
            <a:off x="4337304" y="1828800"/>
            <a:ext cx="3514344" cy="1325880"/>
          </a:xfrm>
          <a:prstGeom prst="rect">
            <a:avLst/>
          </a:prstGeom>
          <a:solidFill>
            <a:schemeClr val="bg2"/>
          </a:solidFill>
          <a:ln w="12700">
            <a:solidFill>
              <a:schemeClr val="bg2"/>
            </a:solidFill>
            <a:prstDash val="solid"/>
          </a:ln>
        </p:spPr>
      </p:sp>
      <p:sp>
        <p:nvSpPr>
          <p:cNvPr id="10" name="Text 7"/>
          <p:cNvSpPr txBox="1"/>
          <p:nvPr/>
        </p:nvSpPr>
        <p:spPr>
          <a:xfrm>
            <a:off x="4565904" y="1938528"/>
            <a:ext cx="3057144" cy="365760"/>
          </a:xfrm>
          <a:prstGeom prst="rect">
            <a:avLst/>
          </a:prstGeom>
          <a:noFill/>
          <a:ln/>
        </p:spPr>
        <p:txBody>
          <a:bodyPr wrap="square" lIns="0" tIns="0" rIns="0" bIns="0" rtlCol="0" anchor="t"/>
          <a:lstStyle/>
          <a:p>
            <a:pPr indent="0" marL="0">
              <a:buNone/>
            </a:pPr>
            <a:r>
              <a:rPr lang="es-PE" sz="1700" b="1" dirty="0">
                <a:solidFill>
                  <a:schemeClr val="tx1"/>
                </a:solidFill>
                <a:latin typeface="Consolas" pitchFamily="34" charset="0"/>
                <a:ea typeface="Consolas" pitchFamily="34" charset="-122"/>
                <a:cs typeface="Consolas" pitchFamily="34" charset="-120"/>
              </a:rPr>
              <a:t>XState</a:t>
            </a:r>
            <a:endParaRPr lang="es-PE" sz="1700" dirty="0"/>
          </a:p>
        </p:txBody>
      </p:sp>
      <p:sp>
        <p:nvSpPr>
          <p:cNvPr id="11" name="Text 8"/>
          <p:cNvSpPr txBox="1"/>
          <p:nvPr/>
        </p:nvSpPr>
        <p:spPr>
          <a:xfrm>
            <a:off x="4565904" y="2331720"/>
            <a:ext cx="3057144" cy="658368"/>
          </a:xfrm>
          <a:prstGeom prst="rect">
            <a:avLst/>
          </a:prstGeom>
          <a:noFill/>
          <a:ln/>
        </p:spPr>
        <p:txBody>
          <a:bodyPr wrap="square" lIns="0" tIns="0" rIns="0" bIns="0" rtlCol="0" anchor="t"/>
          <a:lstStyle/>
          <a:p>
            <a:pPr indent="0" marL="0">
              <a:buNone/>
            </a:pPr>
            <a:r>
              <a:rPr lang="es-PE" sz="1400" dirty="0">
                <a:solidFill>
                  <a:schemeClr val="tx2"/>
                </a:solidFill>
              </a:rPr>
              <a:t>Biblioteca de propósito general para aplicaciones web (Stately, s. f.)</a:t>
            </a:r>
            <a:endParaRPr lang="es-PE" sz="1400" dirty="0"/>
          </a:p>
        </p:txBody>
      </p:sp>
      <p:sp>
        <p:nvSpPr>
          <p:cNvPr id="12" name="Tarjeta"/>
          <p:cNvSpPr/>
          <p:nvPr/>
        </p:nvSpPr>
        <p:spPr>
          <a:xfrm>
            <a:off x="8125968" y="1828800"/>
            <a:ext cx="3514344" cy="1325880"/>
          </a:xfrm>
          <a:prstGeom prst="rect">
            <a:avLst/>
          </a:prstGeom>
          <a:solidFill>
            <a:schemeClr val="tx1"/>
          </a:solidFill>
          <a:ln w="12700">
            <a:solidFill>
              <a:schemeClr val="tx1"/>
            </a:solidFill>
            <a:prstDash val="solid"/>
          </a:ln>
        </p:spPr>
      </p:sp>
      <p:sp>
        <p:nvSpPr>
          <p:cNvPr id="13" name="Text 10"/>
          <p:cNvSpPr txBox="1"/>
          <p:nvPr/>
        </p:nvSpPr>
        <p:spPr>
          <a:xfrm>
            <a:off x="8354568" y="1938528"/>
            <a:ext cx="3057144" cy="365760"/>
          </a:xfrm>
          <a:prstGeom prst="rect">
            <a:avLst/>
          </a:prstGeom>
          <a:noFill/>
          <a:ln/>
        </p:spPr>
        <p:txBody>
          <a:bodyPr wrap="square" lIns="0" tIns="0" rIns="0" bIns="0" rtlCol="0" anchor="t"/>
          <a:lstStyle/>
          <a:p>
            <a:pPr indent="0" marL="0">
              <a:buNone/>
            </a:pPr>
            <a:r>
              <a:rPr lang="es-PE" sz="1700" b="1" dirty="0">
                <a:solidFill>
                  <a:schemeClr val="accent4"/>
                </a:solidFill>
                <a:latin typeface="Consolas" pitchFamily="34" charset="0"/>
                <a:ea typeface="Consolas" pitchFamily="34" charset="-122"/>
                <a:cs typeface="Consolas" pitchFamily="34" charset="-120"/>
              </a:rPr>
              <a:t>PixelLang</a:t>
            </a:r>
            <a:endParaRPr lang="es-PE" sz="1700" dirty="0"/>
          </a:p>
        </p:txBody>
      </p:sp>
      <p:sp>
        <p:nvSpPr>
          <p:cNvPr id="14" name="Text 11"/>
          <p:cNvSpPr txBox="1"/>
          <p:nvPr/>
        </p:nvSpPr>
        <p:spPr>
          <a:xfrm>
            <a:off x="8354568" y="2331720"/>
            <a:ext cx="3057144" cy="658368"/>
          </a:xfrm>
          <a:prstGeom prst="rect">
            <a:avLst/>
          </a:prstGeom>
          <a:noFill/>
          <a:ln/>
        </p:spPr>
        <p:txBody>
          <a:bodyPr wrap="square" lIns="0" tIns="0" rIns="0" bIns="0" rtlCol="0" anchor="t"/>
          <a:lstStyle/>
          <a:p>
            <a:pPr indent="0" marL="0">
              <a:buNone/>
            </a:pPr>
            <a:r>
              <a:rPr lang="es-PE" sz="1400" dirty="0">
                <a:solidFill>
                  <a:schemeClr val="bg1"/>
                </a:solidFill>
              </a:rPr>
              <a:t>Lenguaje de dominio específico: el autómata de cada personaje se verifica al compilar</a:t>
            </a:r>
            <a:endParaRPr lang="es-PE"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6675120" cy="914400"/>
        </p:xfrm>
        <a:graphic>
          <a:graphicData uri="http://schemas.openxmlformats.org/drawingml/2006/table">
            <a:tbl>
              <a:tblPr/>
              <a:tblGrid>
                <a:gridCol w="1143000"/>
                <a:gridCol w="2148840"/>
                <a:gridCol w="3383280"/>
              </a:tblGrid>
              <a:tr h="420624">
                <a:tc>
                  <a:txBody>
                    <a:bodyPr/>
                    <a:lstStyle/>
                    <a:p>
                      <a:pPr algn="ctr" indent="0" marL="0">
                        <a:buNone/>
                      </a:pPr>
                      <a:r>
                        <a:rPr lang="es-PE" sz="1400" b="1" dirty="0">
                          <a:solidFill>
                            <a:schemeClr val="bg1"/>
                          </a:solidFill>
                        </a:rPr>
                        <a:t>Autómata</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s-PE" sz="1400" b="1" dirty="0">
                          <a:solidFill>
                            <a:schemeClr val="bg1"/>
                          </a:solidFill>
                        </a:rPr>
                        <a:t>En PixelLang</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s-PE" sz="1400" b="1" dirty="0">
                          <a:solidFill>
                            <a:schemeClr val="bg1"/>
                          </a:solidFill>
                        </a:rPr>
                        <a:t>Ejemplo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420624">
                <a:tc>
                  <a:txBody>
                    <a:bodyPr/>
                    <a:lstStyle/>
                    <a:p>
                      <a:pPr algn="ctr" indent="0" marL="0">
                        <a:buNone/>
                      </a:pPr>
                      <a:r>
                        <a:rPr lang="es-PE" sz="1700" b="1" dirty="0">
                          <a:solidFill>
                            <a:schemeClr val="accent1"/>
                          </a:solidFill>
                        </a:rPr>
                        <a:t>Q</a:t>
                      </a:r>
                      <a:endParaRPr lang="es-PE" sz="17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latin typeface="Consolas" pitchFamily="34" charset="0"/>
                          <a:ea typeface="Consolas" pitchFamily="34" charset="-122"/>
                          <a:cs typeface="Consolas" pitchFamily="34" charset="-120"/>
                        </a:rPr>
                        <a:t>estado</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rPr>
                        <a:t>Reposo, Saltando, Aturdido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20624">
                <a:tc>
                  <a:txBody>
                    <a:bodyPr/>
                    <a:lstStyle/>
                    <a:p>
                      <a:pPr algn="ctr" indent="0" marL="0">
                        <a:buNone/>
                      </a:pPr>
                      <a:r>
                        <a:rPr lang="es-PE" sz="1700" b="1" dirty="0">
                          <a:solidFill>
                            <a:schemeClr val="accent1"/>
                          </a:solidFill>
                        </a:rPr>
                        <a:t>Σ</a:t>
                      </a:r>
                      <a:endParaRPr lang="es-PE" sz="17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400" dirty="0">
                          <a:solidFill>
                            <a:schemeClr val="tx1"/>
                          </a:solidFill>
                          <a:latin typeface="Consolas" pitchFamily="34" charset="0"/>
                          <a:ea typeface="Consolas" pitchFamily="34" charset="-122"/>
                          <a:cs typeface="Consolas" pitchFamily="34" charset="-120"/>
                        </a:rPr>
                        <a:t>eventos</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400" dirty="0">
                          <a:solidFill>
                            <a:schemeClr val="tx1"/>
                          </a:solidFill>
                        </a:rPr>
                        <a:t>saltar, atacar, recibir_golpe</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20624">
                <a:tc>
                  <a:txBody>
                    <a:bodyPr/>
                    <a:lstStyle/>
                    <a:p>
                      <a:pPr algn="ctr" indent="0" marL="0">
                        <a:buNone/>
                      </a:pPr>
                      <a:r>
                        <a:rPr lang="es-PE" sz="1700" b="1" dirty="0">
                          <a:solidFill>
                            <a:schemeClr val="accent1"/>
                          </a:solidFill>
                        </a:rPr>
                        <a:t>δ</a:t>
                      </a:r>
                      <a:endParaRPr lang="es-PE" sz="17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latin typeface="Consolas" pitchFamily="34" charset="0"/>
                          <a:ea typeface="Consolas" pitchFamily="34" charset="-122"/>
                          <a:cs typeface="Consolas" pitchFamily="34" charset="-120"/>
                        </a:rPr>
                        <a:t>cuando e -&gt; q</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rPr>
                        <a:t>δ(Reposo, saltar) = Saltando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20624">
                <a:tc>
                  <a:txBody>
                    <a:bodyPr/>
                    <a:lstStyle/>
                    <a:p>
                      <a:pPr algn="ctr" indent="0" marL="0">
                        <a:buNone/>
                      </a:pPr>
                      <a:r>
                        <a:rPr lang="es-PE" sz="1700" b="1" dirty="0">
                          <a:solidFill>
                            <a:schemeClr val="accent1"/>
                          </a:solidFill>
                        </a:rPr>
                        <a:t>q₀</a:t>
                      </a:r>
                      <a:endParaRPr lang="es-PE" sz="17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400" dirty="0">
                          <a:solidFill>
                            <a:schemeClr val="tx1"/>
                          </a:solidFill>
                          <a:latin typeface="Consolas" pitchFamily="34" charset="0"/>
                          <a:ea typeface="Consolas" pitchFamily="34" charset="-122"/>
                          <a:cs typeface="Consolas" pitchFamily="34" charset="-120"/>
                        </a:rPr>
                        <a:t>inicial</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400" dirty="0">
                          <a:solidFill>
                            <a:schemeClr val="tx1"/>
                          </a:solidFill>
                        </a:rPr>
                        <a:t>Reposo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20624">
                <a:tc>
                  <a:txBody>
                    <a:bodyPr/>
                    <a:lstStyle/>
                    <a:p>
                      <a:pPr algn="ctr" indent="0" marL="0">
                        <a:buNone/>
                      </a:pPr>
                      <a:r>
                        <a:rPr lang="es-PE" sz="1700" b="1" dirty="0">
                          <a:solidFill>
                            <a:schemeClr val="accent1"/>
                          </a:solidFill>
                        </a:rPr>
                        <a:t>F</a:t>
                      </a:r>
                      <a:endParaRPr lang="es-PE" sz="17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latin typeface="Consolas" pitchFamily="34" charset="0"/>
                          <a:ea typeface="Consolas" pitchFamily="34" charset="-122"/>
                          <a:cs typeface="Consolas" pitchFamily="34" charset="-120"/>
                        </a:rPr>
                        <a:t>final</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400" dirty="0">
                          <a:solidFill>
                            <a:schemeClr val="tx1"/>
                          </a:solidFill>
                        </a:rPr>
                        <a:t>Derrotado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16" name="Text 12"/>
          <p:cNvSpPr txBox="1"/>
          <p:nvPr/>
        </p:nvSpPr>
        <p:spPr>
          <a:xfrm>
            <a:off x="7589520" y="3474720"/>
            <a:ext cx="4050792" cy="502920"/>
          </a:xfrm>
          <a:prstGeom prst="rect">
            <a:avLst/>
          </a:prstGeom>
          <a:noFill/>
          <a:ln/>
        </p:spPr>
        <p:txBody>
          <a:bodyPr wrap="square" lIns="0" tIns="0" rIns="0" bIns="0" rtlCol="0" anchor="t"/>
          <a:lstStyle/>
          <a:p>
            <a:pPr indent="0" marL="0">
              <a:buNone/>
            </a:pPr>
            <a:r>
              <a:rPr lang="es-PE" sz="2400" b="1" dirty="0">
                <a:solidFill>
                  <a:schemeClr val="accent1"/>
                </a:solidFill>
                <a:latin typeface="Consolas" pitchFamily="34" charset="0"/>
                <a:ea typeface="Consolas" pitchFamily="34" charset="-122"/>
                <a:cs typeface="Consolas" pitchFamily="34" charset="-120"/>
              </a:rPr>
              <a:t>A = {Q, Σ, δ, q</a:t>
            </a:r>
            <a:r>
              <a:rPr lang="es-PE" sz="2400" b="1" baseline="-40000" dirty="0">
                <a:solidFill>
                  <a:schemeClr val="accent1"/>
                </a:solidFill>
                <a:latin typeface="Consolas" pitchFamily="34" charset="0"/>
                <a:ea typeface="Consolas" pitchFamily="34" charset="-122"/>
                <a:cs typeface="Consolas" pitchFamily="34" charset="-120"/>
              </a:rPr>
              <a:t>0</a:t>
            </a:r>
            <a:r>
              <a:rPr lang="es-PE" sz="2400" b="1" dirty="0">
                <a:solidFill>
                  <a:schemeClr val="accent1"/>
                </a:solidFill>
                <a:latin typeface="Consolas" pitchFamily="34" charset="0"/>
                <a:ea typeface="Consolas" pitchFamily="34" charset="-122"/>
                <a:cs typeface="Consolas" pitchFamily="34" charset="-120"/>
              </a:rPr>
              <a:t>, F}</a:t>
            </a:r>
            <a:endParaRPr lang="es-PE" sz="2400" dirty="0"/>
          </a:p>
        </p:txBody>
      </p:sp>
      <p:sp>
        <p:nvSpPr>
          <p:cNvPr id="17" name="Text 13"/>
          <p:cNvSpPr txBox="1"/>
          <p:nvPr/>
        </p:nvSpPr>
        <p:spPr>
          <a:xfrm>
            <a:off x="7589520" y="4114800"/>
            <a:ext cx="4050792" cy="960120"/>
          </a:xfrm>
          <a:prstGeom prst="rect">
            <a:avLst/>
          </a:prstGeom>
          <a:noFill/>
          <a:ln/>
        </p:spPr>
        <p:txBody>
          <a:bodyPr wrap="square" lIns="0" tIns="0" rIns="0" bIns="0" rtlCol="0" anchor="t"/>
          <a:lstStyle/>
          <a:p>
            <a:pPr indent="0" marL="0">
              <a:buNone/>
            </a:pPr>
            <a:r>
              <a:rPr lang="es-PE" sz="1500" dirty="0">
                <a:solidFill>
                  <a:schemeClr val="tx2"/>
                </a:solidFill>
              </a:rPr>
              <a:t>Un lenguaje de dominio específico permite analizar y verificar los programas en términos del dominio (Mernik et al., 2005).</a:t>
            </a:r>
            <a:endParaRPr lang="es-PE" sz="1500" dirty="0"/>
          </a:p>
        </p:txBody>
      </p:sp>
      <p:sp>
        <p:nvSpPr>
          <p:cNvPr id="18" name="Text 14"/>
          <p:cNvSpPr txBox="1"/>
          <p:nvPr/>
        </p:nvSpPr>
        <p:spPr>
          <a:xfrm>
            <a:off x="7589520" y="5212080"/>
            <a:ext cx="4050792" cy="731520"/>
          </a:xfrm>
          <a:prstGeom prst="rect">
            <a:avLst/>
          </a:prstGeom>
          <a:noFill/>
          <a:ln/>
        </p:spPr>
        <p:txBody>
          <a:bodyPr wrap="square" lIns="0" tIns="0" rIns="0" bIns="0" rtlCol="0" anchor="t"/>
          <a:lstStyle/>
          <a:p>
            <a:pPr indent="0" marL="0">
              <a:buNone/>
            </a:pPr>
            <a:r>
              <a:rPr lang="es-PE" sz="1700" b="1" dirty="0">
                <a:solidFill>
                  <a:schemeClr val="tx1"/>
                </a:solidFill>
              </a:rPr>
              <a:t>El compilador verifica que el autómata de cada personaje esté bien formado.</a:t>
            </a:r>
            <a:endParaRPr lang="es-PE" sz="17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4</a:t>
            </a:fld>
            <a:endParaRPr lang="es-P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Objetivos</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Objetivo: verificar la máquina al compilar</a:t>
            </a:r>
            <a:endParaRPr lang="es-PE" sz="2800" dirty="0"/>
          </a:p>
        </p:txBody>
      </p:sp>
      <p:sp>
        <p:nvSpPr>
          <p:cNvPr id="5" name="Text 2"/>
          <p:cNvSpPr txBox="1"/>
          <p:nvPr/>
        </p:nvSpPr>
        <p:spPr>
          <a:xfrm>
            <a:off x="548640" y="1536192"/>
            <a:ext cx="3657600" cy="274320"/>
          </a:xfrm>
          <a:prstGeom prst="rect">
            <a:avLst/>
          </a:prstGeom>
          <a:noFill/>
          <a:ln/>
        </p:spPr>
        <p:txBody>
          <a:bodyPr wrap="square" lIns="0" tIns="0" rIns="0" bIns="0" rtlCol="0" anchor="t"/>
          <a:lstStyle/>
          <a:p>
            <a:pPr indent="0" marL="0">
              <a:buNone/>
            </a:pPr>
            <a:r>
              <a:rPr lang="es-PE" sz="1200" b="1" dirty="0">
                <a:solidFill>
                  <a:schemeClr val="accent5"/>
                </a:solidFill>
              </a:rPr>
              <a:t>Objetivo general</a:t>
            </a:r>
            <a:endParaRPr lang="es-PE" sz="1200" dirty="0"/>
          </a:p>
        </p:txBody>
      </p:sp>
      <p:sp>
        <p:nvSpPr>
          <p:cNvPr id="6" name="Text 3"/>
          <p:cNvSpPr txBox="1"/>
          <p:nvPr/>
        </p:nvSpPr>
        <p:spPr>
          <a:xfrm>
            <a:off x="548640" y="1810512"/>
            <a:ext cx="11091672" cy="822960"/>
          </a:xfrm>
          <a:prstGeom prst="rect">
            <a:avLst/>
          </a:prstGeom>
          <a:noFill/>
          <a:ln/>
        </p:spPr>
        <p:txBody>
          <a:bodyPr wrap="square" lIns="0" tIns="0" rIns="0" bIns="0" rtlCol="0" anchor="t"/>
          <a:lstStyle/>
          <a:p>
            <a:pPr indent="0" marL="0">
              <a:buNone/>
            </a:pPr>
            <a:r>
              <a:rPr lang="es-PE" sz="1900" dirty="0">
                <a:solidFill>
                  <a:schemeClr val="tx1"/>
                </a:solidFill>
              </a:rPr>
              <a:t>Desarrollar un compilador para PixelLang que verifique, al compilar, que la máquina de estados de cada personaje esté bien formada, y que la traduzca a código ejecutable.</a:t>
            </a:r>
            <a:endParaRPr lang="es-PE" sz="1900" dirty="0"/>
          </a:p>
        </p:txBody>
      </p:sp>
      <p:sp>
        <p:nvSpPr>
          <p:cNvPr id="7" name="Text 4"/>
          <p:cNvSpPr txBox="1"/>
          <p:nvPr/>
        </p:nvSpPr>
        <p:spPr>
          <a:xfrm>
            <a:off x="548640" y="2788920"/>
            <a:ext cx="3657600" cy="274320"/>
          </a:xfrm>
          <a:prstGeom prst="rect">
            <a:avLst/>
          </a:prstGeom>
          <a:noFill/>
          <a:ln/>
        </p:spPr>
        <p:txBody>
          <a:bodyPr wrap="square" lIns="0" tIns="0" rIns="0" bIns="0" rtlCol="0" anchor="t"/>
          <a:lstStyle/>
          <a:p>
            <a:pPr indent="0" marL="0">
              <a:buNone/>
            </a:pPr>
            <a:r>
              <a:rPr lang="es-PE" sz="1200" b="1" dirty="0">
                <a:solidFill>
                  <a:schemeClr val="accent5"/>
                </a:solidFill>
              </a:rPr>
              <a:t>Objetivos específicos</a:t>
            </a:r>
            <a:endParaRPr lang="es-PE" sz="1200" dirty="0"/>
          </a:p>
        </p:txBody>
      </p:sp>
      <p:sp>
        <p:nvSpPr>
          <p:cNvPr id="8" name="Tarjeta"/>
          <p:cNvSpPr/>
          <p:nvPr/>
        </p:nvSpPr>
        <p:spPr>
          <a:xfrm>
            <a:off x="548640" y="3063240"/>
            <a:ext cx="2514600" cy="2194560"/>
          </a:xfrm>
          <a:prstGeom prst="rect">
            <a:avLst/>
          </a:prstGeom>
          <a:solidFill>
            <a:schemeClr val="bg2"/>
          </a:solidFill>
          <a:ln w="12700">
            <a:solidFill>
              <a:schemeClr val="bg2"/>
            </a:solidFill>
            <a:prstDash val="solid"/>
          </a:ln>
        </p:spPr>
      </p:sp>
      <p:sp>
        <p:nvSpPr>
          <p:cNvPr id="9" name="Número 1"/>
          <p:cNvSpPr txBox="1"/>
          <p:nvPr/>
        </p:nvSpPr>
        <p:spPr>
          <a:xfrm>
            <a:off x="777240" y="3273552"/>
            <a:ext cx="411480" cy="411480"/>
          </a:xfrm>
          <a:prstGeom prst="rect">
            <a:avLst/>
          </a:prstGeom>
          <a:solidFill>
            <a:schemeClr val="accent1"/>
          </a:solidFill>
          <a:ln/>
        </p:spPr>
        <p:txBody>
          <a:bodyPr wrap="square" lIns="0" tIns="0" rIns="0" bIns="0" rtlCol="0" anchor="ctr"/>
          <a:lstStyle/>
          <a:p>
            <a:pPr algn="ctr" indent="0" marL="0">
              <a:buNone/>
            </a:pPr>
            <a:r>
              <a:rPr lang="es-PE" sz="1600" b="1" dirty="0">
                <a:solidFill>
                  <a:schemeClr val="bg1"/>
                </a:solidFill>
                <a:latin typeface="Consolas" pitchFamily="34" charset="0"/>
                <a:ea typeface="Consolas" pitchFamily="34" charset="-122"/>
                <a:cs typeface="Consolas" pitchFamily="34" charset="-120"/>
              </a:rPr>
              <a:t>1</a:t>
            </a:r>
            <a:endParaRPr lang="es-PE" sz="1600" dirty="0"/>
          </a:p>
        </p:txBody>
      </p:sp>
      <p:sp>
        <p:nvSpPr>
          <p:cNvPr id="10" name="Text 7"/>
          <p:cNvSpPr txBox="1"/>
          <p:nvPr/>
        </p:nvSpPr>
        <p:spPr>
          <a:xfrm>
            <a:off x="777240" y="3822192"/>
            <a:ext cx="2103120" cy="384048"/>
          </a:xfrm>
          <a:prstGeom prst="rect">
            <a:avLst/>
          </a:prstGeom>
          <a:noFill/>
          <a:ln/>
        </p:spPr>
        <p:txBody>
          <a:bodyPr wrap="square" lIns="0" tIns="0" rIns="0" bIns="0" rtlCol="0" anchor="t"/>
          <a:lstStyle/>
          <a:p>
            <a:pPr indent="0" marL="0">
              <a:buNone/>
            </a:pPr>
            <a:r>
              <a:rPr lang="es-PE" sz="1900" b="1" dirty="0">
                <a:solidFill>
                  <a:schemeClr val="tx1"/>
                </a:solidFill>
              </a:rPr>
              <a:t>Léxico</a:t>
            </a:r>
            <a:endParaRPr lang="es-PE" sz="1900" dirty="0"/>
          </a:p>
        </p:txBody>
      </p:sp>
      <p:sp>
        <p:nvSpPr>
          <p:cNvPr id="11" name="Text 8"/>
          <p:cNvSpPr txBox="1"/>
          <p:nvPr/>
        </p:nvSpPr>
        <p:spPr>
          <a:xfrm>
            <a:off x="777240" y="4224528"/>
            <a:ext cx="2103120" cy="914400"/>
          </a:xfrm>
          <a:prstGeom prst="rect">
            <a:avLst/>
          </a:prstGeom>
          <a:noFill/>
          <a:ln/>
        </p:spPr>
        <p:txBody>
          <a:bodyPr wrap="square" lIns="0" tIns="0" rIns="0" bIns="0" rtlCol="0" anchor="t"/>
          <a:lstStyle/>
          <a:p>
            <a:pPr indent="0" marL="0">
              <a:buNone/>
            </a:pPr>
            <a:r>
              <a:rPr lang="es-PE" sz="1400" dirty="0">
                <a:solidFill>
                  <a:schemeClr val="tx2"/>
                </a:solidFill>
              </a:rPr>
              <a:t>Definir el léxico e implementarlo con expresiones regulares en ANTLR4</a:t>
            </a:r>
            <a:endParaRPr lang="es-PE" sz="1400" dirty="0"/>
          </a:p>
        </p:txBody>
      </p:sp>
      <p:sp>
        <p:nvSpPr>
          <p:cNvPr id="12" name="Flecha"/>
          <p:cNvSpPr/>
          <p:nvPr/>
        </p:nvSpPr>
        <p:spPr>
          <a:xfrm>
            <a:off x="3118104" y="4160520"/>
            <a:ext cx="234696" cy="0"/>
          </a:xfrm>
          <a:prstGeom prst="line">
            <a:avLst/>
          </a:prstGeom>
          <a:noFill/>
          <a:ln w="19050">
            <a:solidFill>
              <a:schemeClr val="accent5"/>
            </a:solidFill>
            <a:prstDash val="solid"/>
            <a:tailEnd type="triangle"/>
          </a:ln>
        </p:spPr>
      </p:sp>
      <p:sp>
        <p:nvSpPr>
          <p:cNvPr id="13" name="Tarjeta"/>
          <p:cNvSpPr/>
          <p:nvPr/>
        </p:nvSpPr>
        <p:spPr>
          <a:xfrm>
            <a:off x="3407664" y="3063240"/>
            <a:ext cx="2514600" cy="2194560"/>
          </a:xfrm>
          <a:prstGeom prst="rect">
            <a:avLst/>
          </a:prstGeom>
          <a:solidFill>
            <a:schemeClr val="bg2"/>
          </a:solidFill>
          <a:ln w="12700">
            <a:solidFill>
              <a:schemeClr val="bg2"/>
            </a:solidFill>
            <a:prstDash val="solid"/>
          </a:ln>
        </p:spPr>
      </p:sp>
      <p:sp>
        <p:nvSpPr>
          <p:cNvPr id="14" name="Número 2"/>
          <p:cNvSpPr txBox="1"/>
          <p:nvPr/>
        </p:nvSpPr>
        <p:spPr>
          <a:xfrm>
            <a:off x="3636264" y="3273552"/>
            <a:ext cx="411480" cy="411480"/>
          </a:xfrm>
          <a:prstGeom prst="rect">
            <a:avLst/>
          </a:prstGeom>
          <a:solidFill>
            <a:schemeClr val="accent1"/>
          </a:solidFill>
          <a:ln/>
        </p:spPr>
        <p:txBody>
          <a:bodyPr wrap="square" lIns="0" tIns="0" rIns="0" bIns="0" rtlCol="0" anchor="ctr"/>
          <a:lstStyle/>
          <a:p>
            <a:pPr algn="ctr" indent="0" marL="0">
              <a:buNone/>
            </a:pPr>
            <a:r>
              <a:rPr lang="es-PE" sz="1600" b="1" dirty="0">
                <a:solidFill>
                  <a:schemeClr val="bg1"/>
                </a:solidFill>
                <a:latin typeface="Consolas" pitchFamily="34" charset="0"/>
                <a:ea typeface="Consolas" pitchFamily="34" charset="-122"/>
                <a:cs typeface="Consolas" pitchFamily="34" charset="-120"/>
              </a:rPr>
              <a:t>2</a:t>
            </a:r>
            <a:endParaRPr lang="es-PE" sz="1600" dirty="0"/>
          </a:p>
        </p:txBody>
      </p:sp>
      <p:sp>
        <p:nvSpPr>
          <p:cNvPr id="15" name="Text 12"/>
          <p:cNvSpPr txBox="1"/>
          <p:nvPr/>
        </p:nvSpPr>
        <p:spPr>
          <a:xfrm>
            <a:off x="3636264" y="3822192"/>
            <a:ext cx="2103120" cy="384048"/>
          </a:xfrm>
          <a:prstGeom prst="rect">
            <a:avLst/>
          </a:prstGeom>
          <a:noFill/>
          <a:ln/>
        </p:spPr>
        <p:txBody>
          <a:bodyPr wrap="square" lIns="0" tIns="0" rIns="0" bIns="0" rtlCol="0" anchor="t"/>
          <a:lstStyle/>
          <a:p>
            <a:pPr indent="0" marL="0">
              <a:buNone/>
            </a:pPr>
            <a:r>
              <a:rPr lang="es-PE" sz="1900" b="1" dirty="0">
                <a:solidFill>
                  <a:schemeClr val="tx1"/>
                </a:solidFill>
              </a:rPr>
              <a:t>Sintáctico</a:t>
            </a:r>
            <a:endParaRPr lang="es-PE" sz="1900" dirty="0"/>
          </a:p>
        </p:txBody>
      </p:sp>
      <p:sp>
        <p:nvSpPr>
          <p:cNvPr id="16" name="Text 13"/>
          <p:cNvSpPr txBox="1"/>
          <p:nvPr/>
        </p:nvSpPr>
        <p:spPr>
          <a:xfrm>
            <a:off x="3636264" y="4224528"/>
            <a:ext cx="2103120" cy="914400"/>
          </a:xfrm>
          <a:prstGeom prst="rect">
            <a:avLst/>
          </a:prstGeom>
          <a:noFill/>
          <a:ln/>
        </p:spPr>
        <p:txBody>
          <a:bodyPr wrap="square" lIns="0" tIns="0" rIns="0" bIns="0" rtlCol="0" anchor="t"/>
          <a:lstStyle/>
          <a:p>
            <a:pPr indent="0" marL="0">
              <a:buNone/>
            </a:pPr>
            <a:r>
              <a:rPr lang="es-PE" sz="1400" dirty="0">
                <a:solidFill>
                  <a:schemeClr val="tx2"/>
                </a:solidFill>
              </a:rPr>
              <a:t>Diseñar una GLC por construcción, validarla con derivaciones e implementar el parser en ANTLR4</a:t>
            </a:r>
            <a:endParaRPr lang="es-PE" sz="1400" dirty="0"/>
          </a:p>
        </p:txBody>
      </p:sp>
      <p:sp>
        <p:nvSpPr>
          <p:cNvPr id="17" name="Flecha"/>
          <p:cNvSpPr/>
          <p:nvPr/>
        </p:nvSpPr>
        <p:spPr>
          <a:xfrm>
            <a:off x="5977128" y="4160520"/>
            <a:ext cx="234696" cy="0"/>
          </a:xfrm>
          <a:prstGeom prst="line">
            <a:avLst/>
          </a:prstGeom>
          <a:noFill/>
          <a:ln w="19050">
            <a:solidFill>
              <a:schemeClr val="accent5"/>
            </a:solidFill>
            <a:prstDash val="solid"/>
            <a:tailEnd type="triangle"/>
          </a:ln>
        </p:spPr>
      </p:sp>
      <p:sp>
        <p:nvSpPr>
          <p:cNvPr id="18" name="Tarjeta"/>
          <p:cNvSpPr/>
          <p:nvPr/>
        </p:nvSpPr>
        <p:spPr>
          <a:xfrm>
            <a:off x="6266688" y="3063240"/>
            <a:ext cx="2514600" cy="2194560"/>
          </a:xfrm>
          <a:prstGeom prst="rect">
            <a:avLst/>
          </a:prstGeom>
          <a:solidFill>
            <a:schemeClr val="bg2"/>
          </a:solidFill>
          <a:ln w="12700">
            <a:solidFill>
              <a:schemeClr val="bg2"/>
            </a:solidFill>
            <a:prstDash val="solid"/>
          </a:ln>
        </p:spPr>
      </p:sp>
      <p:sp>
        <p:nvSpPr>
          <p:cNvPr id="19" name="Número 3"/>
          <p:cNvSpPr txBox="1"/>
          <p:nvPr/>
        </p:nvSpPr>
        <p:spPr>
          <a:xfrm>
            <a:off x="6495288" y="3273552"/>
            <a:ext cx="411480" cy="411480"/>
          </a:xfrm>
          <a:prstGeom prst="rect">
            <a:avLst/>
          </a:prstGeom>
          <a:solidFill>
            <a:schemeClr val="accent1"/>
          </a:solidFill>
          <a:ln/>
        </p:spPr>
        <p:txBody>
          <a:bodyPr wrap="square" lIns="0" tIns="0" rIns="0" bIns="0" rtlCol="0" anchor="ctr"/>
          <a:lstStyle/>
          <a:p>
            <a:pPr algn="ctr" indent="0" marL="0">
              <a:buNone/>
            </a:pPr>
            <a:r>
              <a:rPr lang="es-PE" sz="1600" b="1" dirty="0">
                <a:solidFill>
                  <a:schemeClr val="bg1"/>
                </a:solidFill>
                <a:latin typeface="Consolas" pitchFamily="34" charset="0"/>
                <a:ea typeface="Consolas" pitchFamily="34" charset="-122"/>
                <a:cs typeface="Consolas" pitchFamily="34" charset="-120"/>
              </a:rPr>
              <a:t>3</a:t>
            </a:r>
            <a:endParaRPr lang="es-PE" sz="1600" dirty="0"/>
          </a:p>
        </p:txBody>
      </p:sp>
      <p:sp>
        <p:nvSpPr>
          <p:cNvPr id="20" name="Text 17"/>
          <p:cNvSpPr txBox="1"/>
          <p:nvPr/>
        </p:nvSpPr>
        <p:spPr>
          <a:xfrm>
            <a:off x="6495288" y="3822192"/>
            <a:ext cx="2103120" cy="384048"/>
          </a:xfrm>
          <a:prstGeom prst="rect">
            <a:avLst/>
          </a:prstGeom>
          <a:noFill/>
          <a:ln/>
        </p:spPr>
        <p:txBody>
          <a:bodyPr wrap="square" lIns="0" tIns="0" rIns="0" bIns="0" rtlCol="0" anchor="t"/>
          <a:lstStyle/>
          <a:p>
            <a:pPr indent="0" marL="0">
              <a:buNone/>
            </a:pPr>
            <a:r>
              <a:rPr lang="es-PE" sz="1900" b="1" dirty="0">
                <a:solidFill>
                  <a:schemeClr val="tx1"/>
                </a:solidFill>
              </a:rPr>
              <a:t>Semántico</a:t>
            </a:r>
            <a:endParaRPr lang="es-PE" sz="1900" dirty="0"/>
          </a:p>
        </p:txBody>
      </p:sp>
      <p:sp>
        <p:nvSpPr>
          <p:cNvPr id="21" name="Text 18"/>
          <p:cNvSpPr txBox="1"/>
          <p:nvPr/>
        </p:nvSpPr>
        <p:spPr>
          <a:xfrm>
            <a:off x="6495288" y="4224528"/>
            <a:ext cx="2103120" cy="914400"/>
          </a:xfrm>
          <a:prstGeom prst="rect">
            <a:avLst/>
          </a:prstGeom>
          <a:noFill/>
          <a:ln/>
        </p:spPr>
        <p:txBody>
          <a:bodyPr wrap="square" lIns="0" tIns="0" rIns="0" bIns="0" rtlCol="0" anchor="t"/>
          <a:lstStyle/>
          <a:p>
            <a:pPr indent="0" marL="0">
              <a:buNone/>
            </a:pPr>
            <a:r>
              <a:rPr lang="es-PE" sz="1400" dirty="0">
                <a:solidFill>
                  <a:schemeClr val="tx2"/>
                </a:solidFill>
              </a:rPr>
              <a:t>Construir la tabla de símbolos por personaje y detectar los errores del autómata</a:t>
            </a:r>
            <a:endParaRPr lang="es-PE" sz="1400" dirty="0"/>
          </a:p>
        </p:txBody>
      </p:sp>
      <p:sp>
        <p:nvSpPr>
          <p:cNvPr id="22" name="Flecha"/>
          <p:cNvSpPr/>
          <p:nvPr/>
        </p:nvSpPr>
        <p:spPr>
          <a:xfrm>
            <a:off x="8836152" y="4160520"/>
            <a:ext cx="234696" cy="0"/>
          </a:xfrm>
          <a:prstGeom prst="line">
            <a:avLst/>
          </a:prstGeom>
          <a:noFill/>
          <a:ln w="19050">
            <a:solidFill>
              <a:schemeClr val="accent5"/>
            </a:solidFill>
            <a:prstDash val="solid"/>
            <a:tailEnd type="triangle"/>
          </a:ln>
        </p:spPr>
      </p:sp>
      <p:sp>
        <p:nvSpPr>
          <p:cNvPr id="23" name="Etapa futura"/>
          <p:cNvSpPr/>
          <p:nvPr/>
        </p:nvSpPr>
        <p:spPr>
          <a:xfrm>
            <a:off x="9125712" y="3063240"/>
            <a:ext cx="2514600" cy="2194560"/>
          </a:xfrm>
          <a:prstGeom prst="rect">
            <a:avLst/>
          </a:prstGeom>
          <a:solidFill>
            <a:schemeClr val="bg1"/>
          </a:solidFill>
          <a:ln w="15875">
            <a:solidFill>
              <a:schemeClr val="accent6"/>
            </a:solidFill>
            <a:prstDash val="dash"/>
          </a:ln>
        </p:spPr>
      </p:sp>
      <p:sp>
        <p:nvSpPr>
          <p:cNvPr id="24" name="Número 4"/>
          <p:cNvSpPr txBox="1"/>
          <p:nvPr/>
        </p:nvSpPr>
        <p:spPr>
          <a:xfrm>
            <a:off x="9354312" y="3273552"/>
            <a:ext cx="411480" cy="411480"/>
          </a:xfrm>
          <a:prstGeom prst="rect">
            <a:avLst/>
          </a:prstGeom>
          <a:solidFill>
            <a:schemeClr val="accent5"/>
          </a:solidFill>
          <a:ln/>
        </p:spPr>
        <p:txBody>
          <a:bodyPr wrap="square" lIns="0" tIns="0" rIns="0" bIns="0" rtlCol="0" anchor="ctr"/>
          <a:lstStyle/>
          <a:p>
            <a:pPr algn="ctr" indent="0" marL="0">
              <a:buNone/>
            </a:pPr>
            <a:r>
              <a:rPr lang="es-PE" sz="1600" b="1" dirty="0">
                <a:solidFill>
                  <a:schemeClr val="bg1"/>
                </a:solidFill>
                <a:latin typeface="Consolas" pitchFamily="34" charset="0"/>
                <a:ea typeface="Consolas" pitchFamily="34" charset="-122"/>
                <a:cs typeface="Consolas" pitchFamily="34" charset="-120"/>
              </a:rPr>
              <a:t>4</a:t>
            </a:r>
            <a:endParaRPr lang="es-PE" sz="1600" dirty="0"/>
          </a:p>
        </p:txBody>
      </p:sp>
      <p:sp>
        <p:nvSpPr>
          <p:cNvPr id="25" name="Text 22"/>
          <p:cNvSpPr txBox="1"/>
          <p:nvPr/>
        </p:nvSpPr>
        <p:spPr>
          <a:xfrm>
            <a:off x="9354312" y="3822192"/>
            <a:ext cx="2103120" cy="384048"/>
          </a:xfrm>
          <a:prstGeom prst="rect">
            <a:avLst/>
          </a:prstGeom>
          <a:noFill/>
          <a:ln/>
        </p:spPr>
        <p:txBody>
          <a:bodyPr wrap="square" lIns="0" tIns="0" rIns="0" bIns="0" rtlCol="0" anchor="t"/>
          <a:lstStyle/>
          <a:p>
            <a:pPr indent="0" marL="0">
              <a:buNone/>
            </a:pPr>
            <a:r>
              <a:rPr lang="es-PE" sz="1900" b="1" dirty="0">
                <a:solidFill>
                  <a:schemeClr val="tx1"/>
                </a:solidFill>
              </a:rPr>
              <a:t>Código LLVM</a:t>
            </a:r>
            <a:endParaRPr lang="es-PE" sz="1900" dirty="0"/>
          </a:p>
        </p:txBody>
      </p:sp>
      <p:sp>
        <p:nvSpPr>
          <p:cNvPr id="26" name="Text 23"/>
          <p:cNvSpPr txBox="1"/>
          <p:nvPr/>
        </p:nvSpPr>
        <p:spPr>
          <a:xfrm>
            <a:off x="9354312" y="4224528"/>
            <a:ext cx="2103120" cy="914400"/>
          </a:xfrm>
          <a:prstGeom prst="rect">
            <a:avLst/>
          </a:prstGeom>
          <a:noFill/>
          <a:ln/>
        </p:spPr>
        <p:txBody>
          <a:bodyPr wrap="square" lIns="0" tIns="0" rIns="0" bIns="0" rtlCol="0" anchor="t"/>
          <a:lstStyle/>
          <a:p>
            <a:pPr indent="0" marL="0">
              <a:buNone/>
            </a:pPr>
            <a:r>
              <a:rPr lang="es-PE" sz="1400" dirty="0">
                <a:solidFill>
                  <a:schemeClr val="tx2"/>
                </a:solidFill>
              </a:rPr>
              <a:t>Generar código ejecutable con LLVM (Lattner y Adve, 2004)</a:t>
            </a:r>
            <a:endParaRPr lang="es-PE" sz="1400" dirty="0"/>
          </a:p>
        </p:txBody>
      </p:sp>
      <p:sp>
        <p:nvSpPr>
          <p:cNvPr id="27" name="Hito"/>
          <p:cNvSpPr txBox="1"/>
          <p:nvPr/>
        </p:nvSpPr>
        <p:spPr>
          <a:xfrm>
            <a:off x="548640" y="5440680"/>
            <a:ext cx="8232648" cy="384048"/>
          </a:xfrm>
          <a:prstGeom prst="rect">
            <a:avLst/>
          </a:prstGeom>
          <a:solidFill>
            <a:schemeClr val="accent1"/>
          </a:solidFill>
          <a:ln/>
        </p:spPr>
        <p:txBody>
          <a:bodyPr wrap="square" lIns="0" tIns="0" rIns="0" bIns="0" rtlCol="0" anchor="ctr"/>
          <a:lstStyle/>
          <a:p>
            <a:pPr algn="ctr" indent="0" marL="0">
              <a:buNone/>
            </a:pPr>
            <a:r>
              <a:rPr lang="es-PE" sz="1400" b="1" dirty="0">
                <a:solidFill>
                  <a:schemeClr val="bg1"/>
                </a:solidFill>
              </a:rPr>
              <a:t>Hito 1: este trabajo</a:t>
            </a:r>
            <a:endParaRPr lang="es-PE" sz="1400" dirty="0"/>
          </a:p>
        </p:txBody>
      </p:sp>
      <p:sp>
        <p:nvSpPr>
          <p:cNvPr id="28" name="Hito"/>
          <p:cNvSpPr txBox="1"/>
          <p:nvPr/>
        </p:nvSpPr>
        <p:spPr>
          <a:xfrm>
            <a:off x="9125712" y="5440680"/>
            <a:ext cx="2514600" cy="384048"/>
          </a:xfrm>
          <a:prstGeom prst="rect">
            <a:avLst/>
          </a:prstGeom>
          <a:solidFill>
            <a:schemeClr val="bg2"/>
          </a:solidFill>
          <a:ln/>
        </p:spPr>
        <p:txBody>
          <a:bodyPr wrap="square" lIns="0" tIns="0" rIns="0" bIns="0" rtlCol="0" anchor="ctr"/>
          <a:lstStyle/>
          <a:p>
            <a:pPr algn="ctr" indent="0" marL="0">
              <a:buNone/>
            </a:pPr>
            <a:r>
              <a:rPr lang="es-PE" sz="1400" b="1" dirty="0">
                <a:solidFill>
                  <a:schemeClr val="tx2"/>
                </a:solidFill>
              </a:rPr>
              <a:t>Hito 3</a:t>
            </a:r>
            <a:endParaRPr lang="es-PE"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5</a:t>
            </a:fld>
            <a:endParaRPr lang="es-P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Construcciones del lenguaje</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Programa, atributos y eventos</a:t>
            </a:r>
            <a:endParaRPr lang="es-PE" sz="2800" dirty="0"/>
          </a:p>
        </p:txBody>
      </p:sp>
      <p:sp>
        <p:nvSpPr>
          <p:cNvPr id="5" name="Tarjeta"/>
          <p:cNvSpPr/>
          <p:nvPr/>
        </p:nvSpPr>
        <p:spPr>
          <a:xfrm>
            <a:off x="548640" y="1554480"/>
            <a:ext cx="11091672" cy="1956816"/>
          </a:xfrm>
          <a:prstGeom prst="rect">
            <a:avLst/>
          </a:prstGeom>
          <a:solidFill>
            <a:schemeClr val="bg2"/>
          </a:solidFill>
          <a:ln w="12700">
            <a:solidFill>
              <a:schemeClr val="bg2"/>
            </a:solidFill>
            <a:prstDash val="solid"/>
          </a:ln>
        </p:spPr>
      </p:sp>
      <p:sp>
        <p:nvSpPr>
          <p:cNvPr id="6" name="Número 1"/>
          <p:cNvSpPr txBox="1"/>
          <p:nvPr/>
        </p:nvSpPr>
        <p:spPr>
          <a:xfrm>
            <a:off x="731520" y="1700784"/>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1</a:t>
            </a:r>
            <a:endParaRPr lang="es-PE" sz="1500" dirty="0"/>
          </a:p>
        </p:txBody>
      </p:sp>
      <p:sp>
        <p:nvSpPr>
          <p:cNvPr id="7" name="Text 4"/>
          <p:cNvSpPr txBox="1"/>
          <p:nvPr/>
        </p:nvSpPr>
        <p:spPr>
          <a:xfrm>
            <a:off x="1280160" y="1664208"/>
            <a:ext cx="4297680" cy="310896"/>
          </a:xfrm>
          <a:prstGeom prst="rect">
            <a:avLst/>
          </a:prstGeom>
          <a:noFill/>
          <a:ln/>
        </p:spPr>
        <p:txBody>
          <a:bodyPr wrap="square" lIns="0" tIns="0" rIns="0" bIns="0" rtlCol="0" anchor="t"/>
          <a:lstStyle/>
          <a:p>
            <a:pPr indent="0" marL="0">
              <a:buNone/>
            </a:pPr>
            <a:r>
              <a:rPr lang="es-PE" sz="1700" b="1" dirty="0">
                <a:solidFill>
                  <a:schemeClr val="tx1"/>
                </a:solidFill>
              </a:rPr>
              <a:t>Programa y personaje</a:t>
            </a:r>
            <a:r>
              <a:rPr lang="es-PE" sz="1200" dirty="0">
                <a:solidFill>
                  <a:schemeClr val="accent5"/>
                </a:solidFill>
                <a:latin typeface="Consolas" pitchFamily="34" charset="0"/>
                <a:ea typeface="Consolas" pitchFamily="34" charset="-122"/>
                <a:cs typeface="Consolas" pitchFamily="34" charset="-120"/>
              </a:rPr>
              <a:t>   ejemplo 1.2</a:t>
            </a:r>
            <a:endParaRPr lang="es-PE" sz="1700" dirty="0"/>
          </a:p>
        </p:txBody>
      </p:sp>
      <p:sp>
        <p:nvSpPr>
          <p:cNvPr id="8" name="Text 5"/>
          <p:cNvSpPr txBox="1"/>
          <p:nvPr/>
        </p:nvSpPr>
        <p:spPr>
          <a:xfrm>
            <a:off x="1280160" y="1975104"/>
            <a:ext cx="4297680" cy="1499616"/>
          </a:xfrm>
          <a:prstGeom prst="rect">
            <a:avLst/>
          </a:prstGeom>
          <a:noFill/>
          <a:ln/>
        </p:spPr>
        <p:txBody>
          <a:bodyPr wrap="square" lIns="0" tIns="0" rIns="0" bIns="0" rtlCol="0" anchor="t"/>
          <a:lstStyle/>
          <a:p>
            <a:pPr indent="0" marL="0">
              <a:buNone/>
            </a:pPr>
            <a:r>
              <a:rPr lang="es-PE" sz="1300" dirty="0">
                <a:solidFill>
                  <a:schemeClr val="tx2"/>
                </a:solidFill>
              </a:rPr>
              <a:t>Lista de personajes seguida de simulaciones. Un personaje contiene sus atributos, sus eventos y al menos un estado.</a:t>
            </a:r>
            <a:endParaRPr lang="es-PE" sz="1300" dirty="0"/>
          </a:p>
        </p:txBody>
      </p:sp>
      <p:sp>
        <p:nvSpPr>
          <p:cNvPr id="9" name="Código"/>
          <p:cNvSpPr txBox="1"/>
          <p:nvPr/>
        </p:nvSpPr>
        <p:spPr>
          <a:xfrm>
            <a:off x="5669280" y="1650492"/>
            <a:ext cx="5833872" cy="1764792"/>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personaje</a:t>
            </a:r>
            <a:r>
              <a:rPr lang="es-PE" sz="1300" dirty="0">
                <a:solidFill>
                  <a:schemeClr val="bg1"/>
                </a:solidFill>
                <a:latin typeface="Consolas" pitchFamily="34" charset="0"/>
                <a:ea typeface="Consolas" pitchFamily="34" charset="-122"/>
                <a:cs typeface="Consolas" pitchFamily="34" charset="-120"/>
              </a:rPr>
              <a:t> Puerta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eventos</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ser_abierta</a:t>
            </a:r>
            <a:r>
              <a:rPr lang="es-PE" sz="1300" dirty="0">
                <a:solidFill>
                  <a:schemeClr val="bg1"/>
                </a:solidFill>
                <a:latin typeface="Consolas" pitchFamily="34" charset="0"/>
                <a:ea typeface="Consolas" pitchFamily="34" charset="-122"/>
                <a:cs typeface="Consolas" pitchFamily="34" charset="-120"/>
              </a:rPr>
              <a:t>;</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inicial</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estado</a:t>
            </a:r>
            <a:r>
              <a:rPr lang="es-PE" sz="1300" dirty="0">
                <a:solidFill>
                  <a:schemeClr val="bg1"/>
                </a:solidFill>
                <a:latin typeface="Consolas" pitchFamily="34" charset="0"/>
                <a:ea typeface="Consolas" pitchFamily="34" charset="-122"/>
                <a:cs typeface="Consolas" pitchFamily="34" charset="-120"/>
              </a:rPr>
              <a:t> Cerrada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ser_abierta</a:t>
            </a:r>
            <a:r>
              <a:rPr lang="es-PE" sz="1300" dirty="0">
                <a:solidFill>
                  <a:schemeClr val="bg1"/>
                </a:solidFill>
                <a:latin typeface="Consolas" pitchFamily="34" charset="0"/>
                <a:ea typeface="Consolas" pitchFamily="34" charset="-122"/>
                <a:cs typeface="Consolas" pitchFamily="34" charset="-120"/>
              </a:rPr>
              <a:t> -&gt; Abierta;</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final</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estado</a:t>
            </a:r>
            <a:r>
              <a:rPr lang="es-PE" sz="1300" dirty="0">
                <a:solidFill>
                  <a:schemeClr val="bg1"/>
                </a:solidFill>
                <a:latin typeface="Consolas" pitchFamily="34" charset="0"/>
                <a:ea typeface="Consolas" pitchFamily="34" charset="-122"/>
                <a:cs typeface="Consolas" pitchFamily="34" charset="-120"/>
              </a:rPr>
              <a:t> Abierta {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a:t>
            </a:r>
            <a:endParaRPr lang="es-PE" sz="1300" dirty="0"/>
          </a:p>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simular</a:t>
            </a:r>
            <a:r>
              <a:rPr lang="es-PE" sz="1300" dirty="0">
                <a:solidFill>
                  <a:schemeClr val="bg1"/>
                </a:solidFill>
                <a:latin typeface="Consolas" pitchFamily="34" charset="0"/>
                <a:ea typeface="Consolas" pitchFamily="34" charset="-122"/>
                <a:cs typeface="Consolas" pitchFamily="34" charset="-120"/>
              </a:rPr>
              <a:t> Puerta: </a:t>
            </a:r>
            <a:r>
              <a:rPr lang="es-PE" sz="1300" dirty="0">
                <a:solidFill>
                  <a:schemeClr val="bg1"/>
                </a:solidFill>
                <a:latin typeface="Consolas" pitchFamily="34" charset="0"/>
                <a:ea typeface="Consolas" pitchFamily="34" charset="-122"/>
                <a:cs typeface="Consolas" pitchFamily="34" charset="-120"/>
              </a:rPr>
              <a:t>ser_abierta</a:t>
            </a:r>
            <a:r>
              <a:rPr lang="es-PE" sz="1300" dirty="0">
                <a:solidFill>
                  <a:schemeClr val="bg1"/>
                </a:solidFill>
                <a:latin typeface="Consolas" pitchFamily="34" charset="0"/>
                <a:ea typeface="Consolas" pitchFamily="34" charset="-122"/>
                <a:cs typeface="Consolas" pitchFamily="34" charset="-120"/>
              </a:rPr>
              <a:t>;</a:t>
            </a:r>
            <a:endParaRPr lang="es-PE" sz="1300" dirty="0"/>
          </a:p>
        </p:txBody>
      </p:sp>
      <p:sp>
        <p:nvSpPr>
          <p:cNvPr id="10" name="Tarjeta"/>
          <p:cNvSpPr/>
          <p:nvPr/>
        </p:nvSpPr>
        <p:spPr>
          <a:xfrm>
            <a:off x="548640" y="3621024"/>
            <a:ext cx="11091672" cy="822960"/>
          </a:xfrm>
          <a:prstGeom prst="rect">
            <a:avLst/>
          </a:prstGeom>
          <a:solidFill>
            <a:schemeClr val="bg2"/>
          </a:solidFill>
          <a:ln w="12700">
            <a:solidFill>
              <a:schemeClr val="bg2"/>
            </a:solidFill>
            <a:prstDash val="solid"/>
          </a:ln>
        </p:spPr>
      </p:sp>
      <p:sp>
        <p:nvSpPr>
          <p:cNvPr id="11" name="Número 2"/>
          <p:cNvSpPr txBox="1"/>
          <p:nvPr/>
        </p:nvSpPr>
        <p:spPr>
          <a:xfrm>
            <a:off x="731520" y="3767328"/>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2</a:t>
            </a:r>
            <a:endParaRPr lang="es-PE" sz="1500" dirty="0"/>
          </a:p>
        </p:txBody>
      </p:sp>
      <p:sp>
        <p:nvSpPr>
          <p:cNvPr id="12" name="Text 9"/>
          <p:cNvSpPr txBox="1"/>
          <p:nvPr/>
        </p:nvSpPr>
        <p:spPr>
          <a:xfrm>
            <a:off x="1280160" y="3730752"/>
            <a:ext cx="4297680" cy="310896"/>
          </a:xfrm>
          <a:prstGeom prst="rect">
            <a:avLst/>
          </a:prstGeom>
          <a:noFill/>
          <a:ln/>
        </p:spPr>
        <p:txBody>
          <a:bodyPr wrap="square" lIns="0" tIns="0" rIns="0" bIns="0" rtlCol="0" anchor="t"/>
          <a:lstStyle/>
          <a:p>
            <a:pPr indent="0" marL="0">
              <a:buNone/>
            </a:pPr>
            <a:r>
              <a:rPr lang="es-PE" sz="1700" b="1" dirty="0">
                <a:solidFill>
                  <a:schemeClr val="tx1"/>
                </a:solidFill>
              </a:rPr>
              <a:t>Declaración de atributos</a:t>
            </a:r>
            <a:r>
              <a:rPr lang="es-PE" sz="1200" dirty="0">
                <a:solidFill>
                  <a:schemeClr val="accent5"/>
                </a:solidFill>
                <a:latin typeface="Consolas" pitchFamily="34" charset="0"/>
                <a:ea typeface="Consolas" pitchFamily="34" charset="-122"/>
                <a:cs typeface="Consolas" pitchFamily="34" charset="-120"/>
              </a:rPr>
              <a:t>   ejemplo 2.1</a:t>
            </a:r>
            <a:endParaRPr lang="es-PE" sz="1700" dirty="0"/>
          </a:p>
        </p:txBody>
      </p:sp>
      <p:sp>
        <p:nvSpPr>
          <p:cNvPr id="13" name="Text 10"/>
          <p:cNvSpPr txBox="1"/>
          <p:nvPr/>
        </p:nvSpPr>
        <p:spPr>
          <a:xfrm>
            <a:off x="1280160" y="4041648"/>
            <a:ext cx="4297680" cy="365760"/>
          </a:xfrm>
          <a:prstGeom prst="rect">
            <a:avLst/>
          </a:prstGeom>
          <a:noFill/>
          <a:ln/>
        </p:spPr>
        <p:txBody>
          <a:bodyPr wrap="square" lIns="0" tIns="0" rIns="0" bIns="0" rtlCol="0" anchor="t"/>
          <a:lstStyle/>
          <a:p>
            <a:pPr indent="0" marL="0">
              <a:buNone/>
            </a:pPr>
            <a:r>
              <a:rPr lang="es-PE" sz="1300" dirty="0">
                <a:solidFill>
                  <a:schemeClr val="tx2"/>
                </a:solidFill>
              </a:rPr>
              <a:t>Variable del personaje con nombre, tipo y valor inicial.</a:t>
            </a:r>
            <a:endParaRPr lang="es-PE" sz="1300" dirty="0"/>
          </a:p>
        </p:txBody>
      </p:sp>
      <p:sp>
        <p:nvSpPr>
          <p:cNvPr id="14" name="Código"/>
          <p:cNvSpPr txBox="1"/>
          <p:nvPr/>
        </p:nvSpPr>
        <p:spPr>
          <a:xfrm>
            <a:off x="5669280" y="3826193"/>
            <a:ext cx="5833872" cy="412623"/>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vida</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entero</a:t>
            </a:r>
            <a:r>
              <a:rPr lang="es-PE" sz="1300" dirty="0">
                <a:solidFill>
                  <a:schemeClr val="bg1"/>
                </a:solidFill>
                <a:latin typeface="Consolas" pitchFamily="34" charset="0"/>
                <a:ea typeface="Consolas" pitchFamily="34" charset="-122"/>
                <a:cs typeface="Consolas" pitchFamily="34" charset="-120"/>
              </a:rPr>
              <a:t> = 100;</a:t>
            </a:r>
            <a:endParaRPr lang="es-PE" sz="1300" dirty="0"/>
          </a:p>
        </p:txBody>
      </p:sp>
      <p:sp>
        <p:nvSpPr>
          <p:cNvPr id="15" name="Tarjeta"/>
          <p:cNvSpPr/>
          <p:nvPr/>
        </p:nvSpPr>
        <p:spPr>
          <a:xfrm>
            <a:off x="548640" y="4553712"/>
            <a:ext cx="11091672" cy="822960"/>
          </a:xfrm>
          <a:prstGeom prst="rect">
            <a:avLst/>
          </a:prstGeom>
          <a:solidFill>
            <a:schemeClr val="bg2"/>
          </a:solidFill>
          <a:ln w="12700">
            <a:solidFill>
              <a:schemeClr val="bg2"/>
            </a:solidFill>
            <a:prstDash val="solid"/>
          </a:ln>
        </p:spPr>
      </p:sp>
      <p:sp>
        <p:nvSpPr>
          <p:cNvPr id="16" name="Número 3"/>
          <p:cNvSpPr txBox="1"/>
          <p:nvPr/>
        </p:nvSpPr>
        <p:spPr>
          <a:xfrm>
            <a:off x="731520" y="4700016"/>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3</a:t>
            </a:r>
            <a:endParaRPr lang="es-PE" sz="1500" dirty="0"/>
          </a:p>
        </p:txBody>
      </p:sp>
      <p:sp>
        <p:nvSpPr>
          <p:cNvPr id="17" name="Text 14"/>
          <p:cNvSpPr txBox="1"/>
          <p:nvPr/>
        </p:nvSpPr>
        <p:spPr>
          <a:xfrm>
            <a:off x="1280160" y="4663440"/>
            <a:ext cx="4297680" cy="310896"/>
          </a:xfrm>
          <a:prstGeom prst="rect">
            <a:avLst/>
          </a:prstGeom>
          <a:noFill/>
          <a:ln/>
        </p:spPr>
        <p:txBody>
          <a:bodyPr wrap="square" lIns="0" tIns="0" rIns="0" bIns="0" rtlCol="0" anchor="t"/>
          <a:lstStyle/>
          <a:p>
            <a:pPr indent="0" marL="0">
              <a:buNone/>
            </a:pPr>
            <a:r>
              <a:rPr lang="es-PE" sz="1700" b="1" dirty="0">
                <a:solidFill>
                  <a:schemeClr val="tx1"/>
                </a:solidFill>
              </a:rPr>
              <a:t>Declaración de eventos</a:t>
            </a:r>
            <a:r>
              <a:rPr lang="es-PE" sz="1200" dirty="0">
                <a:solidFill>
                  <a:schemeClr val="accent5"/>
                </a:solidFill>
                <a:latin typeface="Consolas" pitchFamily="34" charset="0"/>
                <a:ea typeface="Consolas" pitchFamily="34" charset="-122"/>
                <a:cs typeface="Consolas" pitchFamily="34" charset="-120"/>
              </a:rPr>
              <a:t>   ejemplo 3.2</a:t>
            </a:r>
            <a:endParaRPr lang="es-PE" sz="1700" dirty="0"/>
          </a:p>
        </p:txBody>
      </p:sp>
      <p:sp>
        <p:nvSpPr>
          <p:cNvPr id="18" name="Text 15"/>
          <p:cNvSpPr txBox="1"/>
          <p:nvPr/>
        </p:nvSpPr>
        <p:spPr>
          <a:xfrm>
            <a:off x="1280160" y="4974336"/>
            <a:ext cx="4297680" cy="365760"/>
          </a:xfrm>
          <a:prstGeom prst="rect">
            <a:avLst/>
          </a:prstGeom>
          <a:noFill/>
          <a:ln/>
        </p:spPr>
        <p:txBody>
          <a:bodyPr wrap="square" lIns="0" tIns="0" rIns="0" bIns="0" rtlCol="0" anchor="t"/>
          <a:lstStyle/>
          <a:p>
            <a:pPr indent="0" marL="0">
              <a:buNone/>
            </a:pPr>
            <a:r>
              <a:rPr lang="es-PE" sz="1300" dirty="0">
                <a:solidFill>
                  <a:schemeClr val="tx2"/>
                </a:solidFill>
              </a:rPr>
              <a:t>Lista de los eventos del personaje, que forman su alfabeto.</a:t>
            </a:r>
            <a:endParaRPr lang="es-PE" sz="1300" dirty="0"/>
          </a:p>
        </p:txBody>
      </p:sp>
      <p:sp>
        <p:nvSpPr>
          <p:cNvPr id="19" name="Código"/>
          <p:cNvSpPr txBox="1"/>
          <p:nvPr/>
        </p:nvSpPr>
        <p:spPr>
          <a:xfrm>
            <a:off x="5669280" y="4758881"/>
            <a:ext cx="5833872" cy="412623"/>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eventos</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saltar</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atacar</a:t>
            </a:r>
            <a:r>
              <a:rPr lang="es-PE" sz="1300" dirty="0">
                <a:solidFill>
                  <a:schemeClr val="bg1"/>
                </a:solidFill>
                <a:latin typeface="Consolas" pitchFamily="34" charset="0"/>
                <a:ea typeface="Consolas" pitchFamily="34" charset="-122"/>
                <a:cs typeface="Consolas" pitchFamily="34" charset="-120"/>
              </a:rPr>
              <a:t>;</a:t>
            </a:r>
            <a:endParaRPr lang="es-PE" sz="1300" dirty="0"/>
          </a:p>
        </p:txBody>
      </p:sp>
      <p:sp>
        <p:nvSpPr>
          <p:cNvPr id="20" name="Pixel"/>
          <p:cNvSpPr/>
          <p:nvPr/>
        </p:nvSpPr>
        <p:spPr>
          <a:xfrm>
            <a:off x="548640" y="5669280"/>
            <a:ext cx="128016" cy="128016"/>
          </a:xfrm>
          <a:prstGeom prst="rect">
            <a:avLst/>
          </a:prstGeom>
          <a:solidFill>
            <a:schemeClr val="accent1"/>
          </a:solidFill>
          <a:ln w="12700">
            <a:solidFill>
              <a:schemeClr val="accent1"/>
            </a:solidFill>
            <a:prstDash val="solid"/>
          </a:ln>
        </p:spPr>
      </p:sp>
      <p:sp>
        <p:nvSpPr>
          <p:cNvPr id="21" name="Text 18"/>
          <p:cNvSpPr txBox="1"/>
          <p:nvPr/>
        </p:nvSpPr>
        <p:spPr>
          <a:xfrm>
            <a:off x="868680" y="5559552"/>
            <a:ext cx="10771632" cy="594360"/>
          </a:xfrm>
          <a:prstGeom prst="rect">
            <a:avLst/>
          </a:prstGeom>
          <a:noFill/>
          <a:ln/>
        </p:spPr>
        <p:txBody>
          <a:bodyPr wrap="square" lIns="0" tIns="0" rIns="0" bIns="0" rtlCol="0" anchor="t"/>
          <a:lstStyle/>
          <a:p>
            <a:pPr indent="0" marL="0">
              <a:buNone/>
            </a:pPr>
            <a:r>
              <a:rPr lang="es-PE" sz="1500" dirty="0">
                <a:solidFill>
                  <a:schemeClr val="tx1"/>
                </a:solidFill>
              </a:rPr>
              <a:t>Un programa declara uno o más personajes y, al final, cero o más simulaciones. Dentro de un personaje van los atributos, los eventos y los estados, en ese orden.</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6</a:t>
            </a:fld>
            <a:endParaRPr lang="es-P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Construcciones del lenguaje</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Estados, transiciones, acciones y expresiones</a:t>
            </a:r>
            <a:endParaRPr lang="es-PE" sz="2800" dirty="0"/>
          </a:p>
        </p:txBody>
      </p:sp>
      <p:sp>
        <p:nvSpPr>
          <p:cNvPr id="5" name="Tarjeta"/>
          <p:cNvSpPr/>
          <p:nvPr/>
        </p:nvSpPr>
        <p:spPr>
          <a:xfrm>
            <a:off x="548640" y="1554480"/>
            <a:ext cx="11091672" cy="1377315"/>
          </a:xfrm>
          <a:prstGeom prst="rect">
            <a:avLst/>
          </a:prstGeom>
          <a:solidFill>
            <a:schemeClr val="bg2"/>
          </a:solidFill>
          <a:ln w="12700">
            <a:solidFill>
              <a:schemeClr val="bg2"/>
            </a:solidFill>
            <a:prstDash val="solid"/>
          </a:ln>
        </p:spPr>
      </p:sp>
      <p:sp>
        <p:nvSpPr>
          <p:cNvPr id="6" name="Número 4"/>
          <p:cNvSpPr txBox="1"/>
          <p:nvPr/>
        </p:nvSpPr>
        <p:spPr>
          <a:xfrm>
            <a:off x="731520" y="1700784"/>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4</a:t>
            </a:r>
            <a:endParaRPr lang="es-PE" sz="1500" dirty="0"/>
          </a:p>
        </p:txBody>
      </p:sp>
      <p:sp>
        <p:nvSpPr>
          <p:cNvPr id="7" name="Text 4"/>
          <p:cNvSpPr txBox="1"/>
          <p:nvPr/>
        </p:nvSpPr>
        <p:spPr>
          <a:xfrm>
            <a:off x="1280160" y="1664208"/>
            <a:ext cx="4297680" cy="310896"/>
          </a:xfrm>
          <a:prstGeom prst="rect">
            <a:avLst/>
          </a:prstGeom>
          <a:noFill/>
          <a:ln/>
        </p:spPr>
        <p:txBody>
          <a:bodyPr wrap="square" lIns="0" tIns="0" rIns="0" bIns="0" rtlCol="0" anchor="t"/>
          <a:lstStyle/>
          <a:p>
            <a:pPr indent="0" marL="0">
              <a:buNone/>
            </a:pPr>
            <a:r>
              <a:rPr lang="es-PE" sz="1700" b="1" dirty="0">
                <a:solidFill>
                  <a:schemeClr val="tx1"/>
                </a:solidFill>
              </a:rPr>
              <a:t>Declaración de estados</a:t>
            </a:r>
            <a:r>
              <a:rPr lang="es-PE" sz="1200" dirty="0">
                <a:solidFill>
                  <a:schemeClr val="accent5"/>
                </a:solidFill>
                <a:latin typeface="Consolas" pitchFamily="34" charset="0"/>
                <a:ea typeface="Consolas" pitchFamily="34" charset="-122"/>
                <a:cs typeface="Consolas" pitchFamily="34" charset="-120"/>
              </a:rPr>
              <a:t>   ejemplo 4.5</a:t>
            </a:r>
            <a:endParaRPr lang="es-PE" sz="1700" dirty="0"/>
          </a:p>
        </p:txBody>
      </p:sp>
      <p:sp>
        <p:nvSpPr>
          <p:cNvPr id="8" name="Text 5"/>
          <p:cNvSpPr txBox="1"/>
          <p:nvPr/>
        </p:nvSpPr>
        <p:spPr>
          <a:xfrm>
            <a:off x="1280160" y="1975104"/>
            <a:ext cx="4297680" cy="920115"/>
          </a:xfrm>
          <a:prstGeom prst="rect">
            <a:avLst/>
          </a:prstGeom>
          <a:noFill/>
          <a:ln/>
        </p:spPr>
        <p:txBody>
          <a:bodyPr wrap="square" lIns="0" tIns="0" rIns="0" bIns="0" rtlCol="0" anchor="t"/>
          <a:lstStyle/>
          <a:p>
            <a:pPr indent="0" marL="0">
              <a:buNone/>
            </a:pPr>
            <a:r>
              <a:rPr lang="es-PE" sz="1300" dirty="0">
                <a:solidFill>
                  <a:schemeClr val="tx2"/>
                </a:solidFill>
              </a:rPr>
              <a:t>Estado con un modificador opcional (inicial o final), acciones al entrar y transiciones.</a:t>
            </a:r>
            <a:endParaRPr lang="es-PE" sz="1300" dirty="0"/>
          </a:p>
        </p:txBody>
      </p:sp>
      <p:sp>
        <p:nvSpPr>
          <p:cNvPr id="9" name="Código"/>
          <p:cNvSpPr txBox="1"/>
          <p:nvPr/>
        </p:nvSpPr>
        <p:spPr>
          <a:xfrm>
            <a:off x="5669280" y="1650492"/>
            <a:ext cx="5833872" cy="1185291"/>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estado</a:t>
            </a:r>
            <a:r>
              <a:rPr lang="es-PE" sz="1300" dirty="0">
                <a:solidFill>
                  <a:schemeClr val="bg1"/>
                </a:solidFill>
                <a:latin typeface="Consolas" pitchFamily="34" charset="0"/>
                <a:ea typeface="Consolas" pitchFamily="34" charset="-122"/>
                <a:cs typeface="Consolas" pitchFamily="34" charset="-120"/>
              </a:rPr>
              <a:t> Saltando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al_entrar</a:t>
            </a:r>
            <a:r>
              <a:rPr lang="es-PE" sz="1300" dirty="0">
                <a:solidFill>
                  <a:schemeClr val="bg1"/>
                </a:solidFill>
                <a:latin typeface="Consolas" pitchFamily="34" charset="0"/>
                <a:ea typeface="Consolas" pitchFamily="34" charset="-122"/>
                <a:cs typeface="Consolas" pitchFamily="34" charset="-120"/>
              </a:rPr>
              <a:t> { </a:t>
            </a:r>
            <a:r>
              <a:rPr lang="es-PE" sz="1300" dirty="0">
                <a:solidFill>
                  <a:schemeClr val="bg1"/>
                </a:solidFill>
                <a:latin typeface="Consolas" pitchFamily="34" charset="0"/>
                <a:ea typeface="Consolas" pitchFamily="34" charset="-122"/>
                <a:cs typeface="Consolas" pitchFamily="34" charset="-120"/>
              </a:rPr>
              <a:t>y</a:t>
            </a:r>
            <a:r>
              <a:rPr lang="es-PE" sz="1300" dirty="0">
                <a:solidFill>
                  <a:schemeClr val="bg1"/>
                </a:solidFill>
                <a:latin typeface="Consolas" pitchFamily="34" charset="0"/>
                <a:ea typeface="Consolas" pitchFamily="34" charset="-122"/>
                <a:cs typeface="Consolas" pitchFamily="34" charset="-120"/>
              </a:rPr>
              <a:t> = </a:t>
            </a:r>
            <a:r>
              <a:rPr lang="es-PE" sz="1300" dirty="0">
                <a:solidFill>
                  <a:schemeClr val="bg1"/>
                </a:solidFill>
                <a:latin typeface="Consolas" pitchFamily="34" charset="0"/>
                <a:ea typeface="Consolas" pitchFamily="34" charset="-122"/>
                <a:cs typeface="Consolas" pitchFamily="34" charset="-120"/>
              </a:rPr>
              <a:t>y</a:t>
            </a:r>
            <a:r>
              <a:rPr lang="es-PE" sz="1300" dirty="0">
                <a:solidFill>
                  <a:schemeClr val="bg1"/>
                </a:solidFill>
                <a:latin typeface="Consolas" pitchFamily="34" charset="0"/>
                <a:ea typeface="Consolas" pitchFamily="34" charset="-122"/>
                <a:cs typeface="Consolas" pitchFamily="34" charset="-120"/>
              </a:rPr>
              <a:t> + 2.5; }</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aterrizar</a:t>
            </a:r>
            <a:r>
              <a:rPr lang="es-PE" sz="1300" dirty="0">
                <a:solidFill>
                  <a:schemeClr val="bg1"/>
                </a:solidFill>
                <a:latin typeface="Consolas" pitchFamily="34" charset="0"/>
                <a:ea typeface="Consolas" pitchFamily="34" charset="-122"/>
                <a:cs typeface="Consolas" pitchFamily="34" charset="-120"/>
              </a:rPr>
              <a:t> -&gt; Reposo;</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recibir_golpe</a:t>
            </a:r>
            <a:r>
              <a:rPr lang="es-PE" sz="1300" dirty="0">
                <a:solidFill>
                  <a:schemeClr val="bg1"/>
                </a:solidFill>
                <a:latin typeface="Consolas" pitchFamily="34" charset="0"/>
                <a:ea typeface="Consolas" pitchFamily="34" charset="-122"/>
                <a:cs typeface="Consolas" pitchFamily="34" charset="-120"/>
              </a:rPr>
              <a:t> -&gt; Aturdido;</a:t>
            </a:r>
            <a:endParaRPr lang="es-PE" sz="1300" dirty="0"/>
          </a:p>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a:t>
            </a:r>
            <a:endParaRPr lang="es-PE" sz="1300" dirty="0"/>
          </a:p>
        </p:txBody>
      </p:sp>
      <p:sp>
        <p:nvSpPr>
          <p:cNvPr id="10" name="Tarjeta"/>
          <p:cNvSpPr/>
          <p:nvPr/>
        </p:nvSpPr>
        <p:spPr>
          <a:xfrm>
            <a:off x="548640" y="3023235"/>
            <a:ext cx="11091672" cy="822960"/>
          </a:xfrm>
          <a:prstGeom prst="rect">
            <a:avLst/>
          </a:prstGeom>
          <a:solidFill>
            <a:schemeClr val="bg2"/>
          </a:solidFill>
          <a:ln w="12700">
            <a:solidFill>
              <a:schemeClr val="bg2"/>
            </a:solidFill>
            <a:prstDash val="solid"/>
          </a:ln>
        </p:spPr>
      </p:sp>
      <p:sp>
        <p:nvSpPr>
          <p:cNvPr id="11" name="Número 5"/>
          <p:cNvSpPr txBox="1"/>
          <p:nvPr/>
        </p:nvSpPr>
        <p:spPr>
          <a:xfrm>
            <a:off x="731520" y="3169539"/>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5</a:t>
            </a:r>
            <a:endParaRPr lang="es-PE" sz="1500" dirty="0"/>
          </a:p>
        </p:txBody>
      </p:sp>
      <p:sp>
        <p:nvSpPr>
          <p:cNvPr id="12" name="Text 9"/>
          <p:cNvSpPr txBox="1"/>
          <p:nvPr/>
        </p:nvSpPr>
        <p:spPr>
          <a:xfrm>
            <a:off x="1280160" y="3132963"/>
            <a:ext cx="4297680" cy="310896"/>
          </a:xfrm>
          <a:prstGeom prst="rect">
            <a:avLst/>
          </a:prstGeom>
          <a:noFill/>
          <a:ln/>
        </p:spPr>
        <p:txBody>
          <a:bodyPr wrap="square" lIns="0" tIns="0" rIns="0" bIns="0" rtlCol="0" anchor="t"/>
          <a:lstStyle/>
          <a:p>
            <a:pPr indent="0" marL="0">
              <a:buNone/>
            </a:pPr>
            <a:r>
              <a:rPr lang="es-PE" sz="1700" b="1" dirty="0">
                <a:solidFill>
                  <a:schemeClr val="tx1"/>
                </a:solidFill>
              </a:rPr>
              <a:t>Transiciones</a:t>
            </a:r>
            <a:r>
              <a:rPr lang="es-PE" sz="1200" dirty="0">
                <a:solidFill>
                  <a:schemeClr val="accent5"/>
                </a:solidFill>
                <a:latin typeface="Consolas" pitchFamily="34" charset="0"/>
                <a:ea typeface="Consolas" pitchFamily="34" charset="-122"/>
                <a:cs typeface="Consolas" pitchFamily="34" charset="-120"/>
              </a:rPr>
              <a:t>   ejemplo 5.2</a:t>
            </a:r>
            <a:endParaRPr lang="es-PE" sz="1700" dirty="0"/>
          </a:p>
        </p:txBody>
      </p:sp>
      <p:sp>
        <p:nvSpPr>
          <p:cNvPr id="13" name="Text 10"/>
          <p:cNvSpPr txBox="1"/>
          <p:nvPr/>
        </p:nvSpPr>
        <p:spPr>
          <a:xfrm>
            <a:off x="1280160" y="3443859"/>
            <a:ext cx="4297680" cy="365760"/>
          </a:xfrm>
          <a:prstGeom prst="rect">
            <a:avLst/>
          </a:prstGeom>
          <a:noFill/>
          <a:ln/>
        </p:spPr>
        <p:txBody>
          <a:bodyPr wrap="square" lIns="0" tIns="0" rIns="0" bIns="0" rtlCol="0" anchor="t"/>
          <a:lstStyle/>
          <a:p>
            <a:pPr indent="0" marL="0">
              <a:buNone/>
            </a:pPr>
            <a:r>
              <a:rPr lang="es-PE" sz="1300" dirty="0">
                <a:solidFill>
                  <a:schemeClr val="tx2"/>
                </a:solidFill>
              </a:rPr>
              <a:t>Evento que la dispara, guarda opcional con si y estado destino.</a:t>
            </a:r>
            <a:endParaRPr lang="es-PE" sz="1300" dirty="0"/>
          </a:p>
        </p:txBody>
      </p:sp>
      <p:sp>
        <p:nvSpPr>
          <p:cNvPr id="14" name="Código"/>
          <p:cNvSpPr txBox="1"/>
          <p:nvPr/>
        </p:nvSpPr>
        <p:spPr>
          <a:xfrm>
            <a:off x="5669280" y="3228404"/>
            <a:ext cx="5833872" cy="412623"/>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fin_aturdimiento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si</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vida</a:t>
            </a:r>
            <a:r>
              <a:rPr lang="es-PE" sz="1300" dirty="0">
                <a:solidFill>
                  <a:schemeClr val="bg1"/>
                </a:solidFill>
                <a:latin typeface="Consolas" pitchFamily="34" charset="0"/>
                <a:ea typeface="Consolas" pitchFamily="34" charset="-122"/>
                <a:cs typeface="Consolas" pitchFamily="34" charset="-120"/>
              </a:rPr>
              <a:t> &lt;= 0 -&gt; Derrotado;</a:t>
            </a:r>
            <a:endParaRPr lang="es-PE" sz="1300" dirty="0"/>
          </a:p>
        </p:txBody>
      </p:sp>
      <p:sp>
        <p:nvSpPr>
          <p:cNvPr id="15" name="Tarjeta"/>
          <p:cNvSpPr/>
          <p:nvPr/>
        </p:nvSpPr>
        <p:spPr>
          <a:xfrm>
            <a:off x="548640" y="3937635"/>
            <a:ext cx="11091672" cy="822960"/>
          </a:xfrm>
          <a:prstGeom prst="rect">
            <a:avLst/>
          </a:prstGeom>
          <a:solidFill>
            <a:schemeClr val="bg2"/>
          </a:solidFill>
          <a:ln w="12700">
            <a:solidFill>
              <a:schemeClr val="bg2"/>
            </a:solidFill>
            <a:prstDash val="solid"/>
          </a:ln>
        </p:spPr>
      </p:sp>
      <p:sp>
        <p:nvSpPr>
          <p:cNvPr id="16" name="Número 6"/>
          <p:cNvSpPr txBox="1"/>
          <p:nvPr/>
        </p:nvSpPr>
        <p:spPr>
          <a:xfrm>
            <a:off x="731520" y="4083939"/>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6</a:t>
            </a:r>
            <a:endParaRPr lang="es-PE" sz="1500" dirty="0"/>
          </a:p>
        </p:txBody>
      </p:sp>
      <p:sp>
        <p:nvSpPr>
          <p:cNvPr id="17" name="Text 14"/>
          <p:cNvSpPr txBox="1"/>
          <p:nvPr/>
        </p:nvSpPr>
        <p:spPr>
          <a:xfrm>
            <a:off x="1280160" y="4047363"/>
            <a:ext cx="4297680" cy="310896"/>
          </a:xfrm>
          <a:prstGeom prst="rect">
            <a:avLst/>
          </a:prstGeom>
          <a:noFill/>
          <a:ln/>
        </p:spPr>
        <p:txBody>
          <a:bodyPr wrap="square" lIns="0" tIns="0" rIns="0" bIns="0" rtlCol="0" anchor="t"/>
          <a:lstStyle/>
          <a:p>
            <a:pPr indent="0" marL="0">
              <a:buNone/>
            </a:pPr>
            <a:r>
              <a:rPr lang="es-PE" sz="1700" b="1" dirty="0">
                <a:solidFill>
                  <a:schemeClr val="tx1"/>
                </a:solidFill>
              </a:rPr>
              <a:t>Acciones</a:t>
            </a:r>
            <a:r>
              <a:rPr lang="es-PE" sz="1200" dirty="0">
                <a:solidFill>
                  <a:schemeClr val="accent5"/>
                </a:solidFill>
                <a:latin typeface="Consolas" pitchFamily="34" charset="0"/>
                <a:ea typeface="Consolas" pitchFamily="34" charset="-122"/>
                <a:cs typeface="Consolas" pitchFamily="34" charset="-120"/>
              </a:rPr>
              <a:t>   ejemplo 6.3</a:t>
            </a:r>
            <a:endParaRPr lang="es-PE" sz="1700" dirty="0"/>
          </a:p>
        </p:txBody>
      </p:sp>
      <p:sp>
        <p:nvSpPr>
          <p:cNvPr id="18" name="Text 15"/>
          <p:cNvSpPr txBox="1"/>
          <p:nvPr/>
        </p:nvSpPr>
        <p:spPr>
          <a:xfrm>
            <a:off x="1280160" y="4358259"/>
            <a:ext cx="4297680" cy="365760"/>
          </a:xfrm>
          <a:prstGeom prst="rect">
            <a:avLst/>
          </a:prstGeom>
          <a:noFill/>
          <a:ln/>
        </p:spPr>
        <p:txBody>
          <a:bodyPr wrap="square" lIns="0" tIns="0" rIns="0" bIns="0" rtlCol="0" anchor="t"/>
          <a:lstStyle/>
          <a:p>
            <a:pPr indent="0" marL="0">
              <a:buNone/>
            </a:pPr>
            <a:r>
              <a:rPr lang="es-PE" sz="1300" dirty="0">
                <a:solidFill>
                  <a:schemeClr val="tx2"/>
                </a:solidFill>
              </a:rPr>
              <a:t>Asignación a un atributo y selección si con sino opcional.</a:t>
            </a:r>
            <a:endParaRPr lang="es-PE" sz="1300" dirty="0"/>
          </a:p>
        </p:txBody>
      </p:sp>
      <p:sp>
        <p:nvSpPr>
          <p:cNvPr id="19" name="Código"/>
          <p:cNvSpPr txBox="1"/>
          <p:nvPr/>
        </p:nvSpPr>
        <p:spPr>
          <a:xfrm>
            <a:off x="5669280" y="4142804"/>
            <a:ext cx="5833872" cy="412623"/>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accent4"/>
                </a:solidFill>
                <a:latin typeface="Consolas" pitchFamily="34" charset="0"/>
                <a:ea typeface="Consolas" pitchFamily="34" charset="-122"/>
                <a:cs typeface="Consolas" pitchFamily="34" charset="-120"/>
              </a:rPr>
              <a:t>si</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vida</a:t>
            </a:r>
            <a:r>
              <a:rPr lang="es-PE" sz="1300" dirty="0">
                <a:solidFill>
                  <a:schemeClr val="bg1"/>
                </a:solidFill>
                <a:latin typeface="Consolas" pitchFamily="34" charset="0"/>
                <a:ea typeface="Consolas" pitchFamily="34" charset="-122"/>
                <a:cs typeface="Consolas" pitchFamily="34" charset="-120"/>
              </a:rPr>
              <a:t> &lt; 50 { </a:t>
            </a:r>
            <a:r>
              <a:rPr lang="es-PE" sz="1300" dirty="0">
                <a:solidFill>
                  <a:schemeClr val="bg1"/>
                </a:solidFill>
                <a:latin typeface="Consolas" pitchFamily="34" charset="0"/>
                <a:ea typeface="Consolas" pitchFamily="34" charset="-122"/>
                <a:cs typeface="Consolas" pitchFamily="34" charset="-120"/>
              </a:rPr>
              <a:t>velocidad</a:t>
            </a:r>
            <a:r>
              <a:rPr lang="es-PE" sz="1300" dirty="0">
                <a:solidFill>
                  <a:schemeClr val="bg1"/>
                </a:solidFill>
                <a:latin typeface="Consolas" pitchFamily="34" charset="0"/>
                <a:ea typeface="Consolas" pitchFamily="34" charset="-122"/>
                <a:cs typeface="Consolas" pitchFamily="34" charset="-120"/>
              </a:rPr>
              <a:t> = 1.0; }</a:t>
            </a:r>
            <a:endParaRPr lang="es-PE" sz="1300" dirty="0"/>
          </a:p>
        </p:txBody>
      </p:sp>
      <p:sp>
        <p:nvSpPr>
          <p:cNvPr id="20" name="Tarjeta"/>
          <p:cNvSpPr/>
          <p:nvPr/>
        </p:nvSpPr>
        <p:spPr>
          <a:xfrm>
            <a:off x="548640" y="4852035"/>
            <a:ext cx="11091672" cy="822960"/>
          </a:xfrm>
          <a:prstGeom prst="rect">
            <a:avLst/>
          </a:prstGeom>
          <a:solidFill>
            <a:schemeClr val="bg2"/>
          </a:solidFill>
          <a:ln w="12700">
            <a:solidFill>
              <a:schemeClr val="bg2"/>
            </a:solidFill>
            <a:prstDash val="solid"/>
          </a:ln>
        </p:spPr>
      </p:sp>
      <p:sp>
        <p:nvSpPr>
          <p:cNvPr id="21" name="Número 7"/>
          <p:cNvSpPr txBox="1"/>
          <p:nvPr/>
        </p:nvSpPr>
        <p:spPr>
          <a:xfrm>
            <a:off x="731520" y="4998339"/>
            <a:ext cx="384048" cy="384048"/>
          </a:xfrm>
          <a:prstGeom prst="rect">
            <a:avLst/>
          </a:prstGeom>
          <a:solidFill>
            <a:schemeClr val="accent1"/>
          </a:solidFill>
          <a:ln/>
        </p:spPr>
        <p:txBody>
          <a:bodyPr wrap="square" lIns="0" tIns="0" rIns="0" bIns="0" rtlCol="0" anchor="ctr"/>
          <a:lstStyle/>
          <a:p>
            <a:pPr algn="ctr" indent="0" marL="0">
              <a:buNone/>
            </a:pPr>
            <a:r>
              <a:rPr lang="es-PE" sz="1500" b="1" dirty="0">
                <a:solidFill>
                  <a:schemeClr val="bg1"/>
                </a:solidFill>
                <a:latin typeface="Consolas" pitchFamily="34" charset="0"/>
                <a:ea typeface="Consolas" pitchFamily="34" charset="-122"/>
                <a:cs typeface="Consolas" pitchFamily="34" charset="-120"/>
              </a:rPr>
              <a:t>7</a:t>
            </a:r>
            <a:endParaRPr lang="es-PE" sz="1500" dirty="0"/>
          </a:p>
        </p:txBody>
      </p:sp>
      <p:sp>
        <p:nvSpPr>
          <p:cNvPr id="22" name="Text 19"/>
          <p:cNvSpPr txBox="1"/>
          <p:nvPr/>
        </p:nvSpPr>
        <p:spPr>
          <a:xfrm>
            <a:off x="1280160" y="4961763"/>
            <a:ext cx="4297680" cy="310896"/>
          </a:xfrm>
          <a:prstGeom prst="rect">
            <a:avLst/>
          </a:prstGeom>
          <a:noFill/>
          <a:ln/>
        </p:spPr>
        <p:txBody>
          <a:bodyPr wrap="square" lIns="0" tIns="0" rIns="0" bIns="0" rtlCol="0" anchor="t"/>
          <a:lstStyle/>
          <a:p>
            <a:pPr indent="0" marL="0">
              <a:buNone/>
            </a:pPr>
            <a:r>
              <a:rPr lang="es-PE" sz="1700" b="1" dirty="0">
                <a:solidFill>
                  <a:schemeClr val="tx1"/>
                </a:solidFill>
              </a:rPr>
              <a:t>Expresiones</a:t>
            </a:r>
            <a:r>
              <a:rPr lang="es-PE" sz="1200" dirty="0">
                <a:solidFill>
                  <a:schemeClr val="accent5"/>
                </a:solidFill>
                <a:latin typeface="Consolas" pitchFamily="34" charset="0"/>
                <a:ea typeface="Consolas" pitchFamily="34" charset="-122"/>
                <a:cs typeface="Consolas" pitchFamily="34" charset="-120"/>
              </a:rPr>
              <a:t>   ejemplo 7.4</a:t>
            </a:r>
            <a:endParaRPr lang="es-PE" sz="1700" dirty="0"/>
          </a:p>
        </p:txBody>
      </p:sp>
      <p:sp>
        <p:nvSpPr>
          <p:cNvPr id="23" name="Text 20"/>
          <p:cNvSpPr txBox="1"/>
          <p:nvPr/>
        </p:nvSpPr>
        <p:spPr>
          <a:xfrm>
            <a:off x="1280160" y="5272659"/>
            <a:ext cx="4297680" cy="365760"/>
          </a:xfrm>
          <a:prstGeom prst="rect">
            <a:avLst/>
          </a:prstGeom>
          <a:noFill/>
          <a:ln/>
        </p:spPr>
        <p:txBody>
          <a:bodyPr wrap="square" lIns="0" tIns="0" rIns="0" bIns="0" rtlCol="0" anchor="t"/>
          <a:lstStyle/>
          <a:p>
            <a:pPr indent="0" marL="0">
              <a:buNone/>
            </a:pPr>
            <a:r>
              <a:rPr lang="es-PE" sz="1300" dirty="0">
                <a:solidFill>
                  <a:schemeClr val="tx2"/>
                </a:solidFill>
              </a:rPr>
              <a:t>Operaciones lógicas, relacionales y aritméticas con precedencia.</a:t>
            </a:r>
            <a:endParaRPr lang="es-PE" sz="1300" dirty="0"/>
          </a:p>
        </p:txBody>
      </p:sp>
      <p:sp>
        <p:nvSpPr>
          <p:cNvPr id="24" name="Código"/>
          <p:cNvSpPr txBox="1"/>
          <p:nvPr/>
        </p:nvSpPr>
        <p:spPr>
          <a:xfrm>
            <a:off x="5669280" y="5057204"/>
            <a:ext cx="5833872" cy="412623"/>
          </a:xfrm>
          <a:prstGeom prst="rect">
            <a:avLst/>
          </a:prstGeom>
          <a:solidFill>
            <a:schemeClr val="accent3"/>
          </a:solidFill>
          <a:ln/>
        </p:spPr>
        <p:txBody>
          <a:bodyPr wrap="square" lIns="76200" tIns="127000" rIns="127000" bIns="76200" rtlCol="0" anchor="ctr"/>
          <a:lstStyle/>
          <a:p>
            <a:pPr indent="0" marL="0">
              <a:lnSpc>
                <a:spcPct val="100000"/>
              </a:lnSpc>
              <a:buNone/>
            </a:pPr>
            <a:r>
              <a:rPr lang="es-PE" sz="1300" dirty="0">
                <a:solidFill>
                  <a:schemeClr val="bg1"/>
                </a:solidFill>
                <a:latin typeface="Consolas" pitchFamily="34" charset="0"/>
                <a:ea typeface="Consolas" pitchFamily="34" charset="-122"/>
                <a:cs typeface="Consolas" pitchFamily="34" charset="-120"/>
              </a:rPr>
              <a:t>municion</a:t>
            </a:r>
            <a:r>
              <a:rPr lang="es-PE" sz="1300" dirty="0">
                <a:solidFill>
                  <a:schemeClr val="bg1"/>
                </a:solidFill>
                <a:latin typeface="Consolas" pitchFamily="34" charset="0"/>
                <a:ea typeface="Consolas" pitchFamily="34" charset="-122"/>
                <a:cs typeface="Consolas" pitchFamily="34" charset="-120"/>
              </a:rPr>
              <a:t> &gt; 0 &amp;&amp; </a:t>
            </a:r>
            <a:r>
              <a:rPr lang="es-PE" sz="1300" dirty="0">
                <a:solidFill>
                  <a:schemeClr val="bg1"/>
                </a:solidFill>
                <a:latin typeface="Consolas" pitchFamily="34" charset="0"/>
                <a:ea typeface="Consolas" pitchFamily="34" charset="-122"/>
                <a:cs typeface="Consolas" pitchFamily="34" charset="-120"/>
              </a:rPr>
              <a:t>escudo</a:t>
            </a:r>
            <a:r>
              <a:rPr lang="es-PE" sz="1300" dirty="0">
                <a:solidFill>
                  <a:schemeClr val="bg1"/>
                </a:solidFill>
                <a:latin typeface="Consolas" pitchFamily="34" charset="0"/>
                <a:ea typeface="Consolas" pitchFamily="34" charset="-122"/>
                <a:cs typeface="Consolas" pitchFamily="34" charset="-120"/>
              </a:rPr>
              <a:t> != </a:t>
            </a:r>
            <a:r>
              <a:rPr lang="es-PE" sz="1300" dirty="0">
                <a:solidFill>
                  <a:schemeClr val="accent4"/>
                </a:solidFill>
                <a:latin typeface="Consolas" pitchFamily="34" charset="0"/>
                <a:ea typeface="Consolas" pitchFamily="34" charset="-122"/>
                <a:cs typeface="Consolas" pitchFamily="34" charset="-120"/>
              </a:rPr>
              <a:t>verdadero</a:t>
            </a:r>
            <a:endParaRPr lang="es-PE" sz="1300" dirty="0"/>
          </a:p>
        </p:txBody>
      </p:sp>
      <p:sp>
        <p:nvSpPr>
          <p:cNvPr id="25" name="Número 35"/>
          <p:cNvSpPr txBox="1"/>
          <p:nvPr/>
        </p:nvSpPr>
        <p:spPr>
          <a:xfrm>
            <a:off x="548640" y="5857875"/>
            <a:ext cx="384048" cy="384048"/>
          </a:xfrm>
          <a:prstGeom prst="rect">
            <a:avLst/>
          </a:prstGeom>
          <a:solidFill>
            <a:schemeClr val="accent4"/>
          </a:solidFill>
          <a:ln/>
        </p:spPr>
        <p:txBody>
          <a:bodyPr wrap="square" lIns="0" tIns="0" rIns="0" bIns="0" rtlCol="0" anchor="ctr"/>
          <a:lstStyle/>
          <a:p>
            <a:pPr algn="ctr" indent="0" marL="0">
              <a:buNone/>
            </a:pPr>
            <a:r>
              <a:rPr lang="es-PE" sz="1500" b="1" dirty="0">
                <a:solidFill>
                  <a:schemeClr val="tx1"/>
                </a:solidFill>
                <a:latin typeface="Consolas" pitchFamily="34" charset="0"/>
                <a:ea typeface="Consolas" pitchFamily="34" charset="-122"/>
                <a:cs typeface="Consolas" pitchFamily="34" charset="-120"/>
              </a:rPr>
              <a:t>35</a:t>
            </a:r>
            <a:endParaRPr lang="es-PE" sz="1500" dirty="0"/>
          </a:p>
        </p:txBody>
      </p:sp>
      <p:sp>
        <p:nvSpPr>
          <p:cNvPr id="26" name="Text 23"/>
          <p:cNvSpPr txBox="1"/>
          <p:nvPr/>
        </p:nvSpPr>
        <p:spPr>
          <a:xfrm>
            <a:off x="1097280" y="5857875"/>
            <a:ext cx="10543032" cy="384048"/>
          </a:xfrm>
          <a:prstGeom prst="rect">
            <a:avLst/>
          </a:prstGeom>
          <a:noFill/>
          <a:ln/>
        </p:spPr>
        <p:txBody>
          <a:bodyPr wrap="square" lIns="0" tIns="0" rIns="0" bIns="0" rtlCol="0" anchor="ctr"/>
          <a:lstStyle/>
          <a:p>
            <a:pPr indent="0" marL="0">
              <a:buNone/>
            </a:pPr>
            <a:r>
              <a:rPr lang="es-PE" sz="1500" dirty="0">
                <a:solidFill>
                  <a:schemeClr val="tx1"/>
                </a:solidFill>
              </a:rPr>
              <a:t>ejemplos en total, cinco por construcción (Apéndice A del informe). El parser los acepta todos.</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7</a:t>
            </a:fld>
            <a:endParaRPr lang="es-P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Analizador léxico</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43 tokens definidos con expresiones regulares</a:t>
            </a:r>
            <a:endParaRPr lang="es-PE" sz="2800" dirty="0"/>
          </a:p>
        </p:txBody>
      </p:sp>
      <p:sp>
        <p:nvSpPr>
          <p:cNvPr id="5" name="Tarjeta"/>
          <p:cNvSpPr/>
          <p:nvPr/>
        </p:nvSpPr>
        <p:spPr>
          <a:xfrm>
            <a:off x="548640" y="1600200"/>
            <a:ext cx="4069080" cy="640080"/>
          </a:xfrm>
          <a:prstGeom prst="rect">
            <a:avLst/>
          </a:prstGeom>
          <a:solidFill>
            <a:schemeClr val="bg2"/>
          </a:solidFill>
          <a:ln w="12700">
            <a:solidFill>
              <a:schemeClr val="bg2"/>
            </a:solidFill>
            <a:prstDash val="solid"/>
          </a:ln>
        </p:spPr>
      </p:sp>
      <p:sp>
        <p:nvSpPr>
          <p:cNvPr id="6" name="Text 3"/>
          <p:cNvSpPr txBox="1"/>
          <p:nvPr/>
        </p:nvSpPr>
        <p:spPr>
          <a:xfrm>
            <a:off x="731520" y="1600200"/>
            <a:ext cx="731520" cy="640080"/>
          </a:xfrm>
          <a:prstGeom prst="rect">
            <a:avLst/>
          </a:prstGeom>
          <a:noFill/>
          <a:ln/>
        </p:spPr>
        <p:txBody>
          <a:bodyPr wrap="square" lIns="0" tIns="0" rIns="0" bIns="0" rtlCol="0" anchor="ctr"/>
          <a:lstStyle/>
          <a:p>
            <a:pPr indent="0" marL="0">
              <a:buNone/>
            </a:pPr>
            <a:r>
              <a:rPr lang="es-PE" sz="2600" b="1" dirty="0">
                <a:solidFill>
                  <a:schemeClr val="accent1"/>
                </a:solidFill>
                <a:latin typeface="Consolas" pitchFamily="34" charset="0"/>
                <a:ea typeface="Consolas" pitchFamily="34" charset="-122"/>
                <a:cs typeface="Consolas" pitchFamily="34" charset="-120"/>
              </a:rPr>
              <a:t>10</a:t>
            </a:r>
            <a:endParaRPr lang="es-PE" sz="2600" dirty="0"/>
          </a:p>
        </p:txBody>
      </p:sp>
      <p:sp>
        <p:nvSpPr>
          <p:cNvPr id="7" name="Text 4"/>
          <p:cNvSpPr txBox="1"/>
          <p:nvPr/>
        </p:nvSpPr>
        <p:spPr>
          <a:xfrm>
            <a:off x="1508760" y="1600200"/>
            <a:ext cx="3017520" cy="640080"/>
          </a:xfrm>
          <a:prstGeom prst="rect">
            <a:avLst/>
          </a:prstGeom>
          <a:noFill/>
          <a:ln/>
        </p:spPr>
        <p:txBody>
          <a:bodyPr wrap="square" lIns="0" tIns="0" rIns="0" bIns="0" rtlCol="0" anchor="ctr"/>
          <a:lstStyle/>
          <a:p>
            <a:pPr indent="0" marL="0">
              <a:buNone/>
            </a:pPr>
            <a:r>
              <a:rPr lang="es-PE" sz="1500" dirty="0">
                <a:solidFill>
                  <a:schemeClr val="tx1"/>
                </a:solidFill>
              </a:rPr>
              <a:t>palabras reservadas</a:t>
            </a:r>
            <a:endParaRPr lang="es-PE" sz="1500" dirty="0"/>
          </a:p>
        </p:txBody>
      </p:sp>
      <p:sp>
        <p:nvSpPr>
          <p:cNvPr id="8" name="Tarjeta"/>
          <p:cNvSpPr/>
          <p:nvPr/>
        </p:nvSpPr>
        <p:spPr>
          <a:xfrm>
            <a:off x="548640" y="2331720"/>
            <a:ext cx="4069080" cy="640080"/>
          </a:xfrm>
          <a:prstGeom prst="rect">
            <a:avLst/>
          </a:prstGeom>
          <a:solidFill>
            <a:schemeClr val="bg2"/>
          </a:solidFill>
          <a:ln w="12700">
            <a:solidFill>
              <a:schemeClr val="bg2"/>
            </a:solidFill>
            <a:prstDash val="solid"/>
          </a:ln>
        </p:spPr>
      </p:sp>
      <p:sp>
        <p:nvSpPr>
          <p:cNvPr id="9" name="Text 6"/>
          <p:cNvSpPr txBox="1"/>
          <p:nvPr/>
        </p:nvSpPr>
        <p:spPr>
          <a:xfrm>
            <a:off x="731520" y="2331720"/>
            <a:ext cx="731520" cy="640080"/>
          </a:xfrm>
          <a:prstGeom prst="rect">
            <a:avLst/>
          </a:prstGeom>
          <a:noFill/>
          <a:ln/>
        </p:spPr>
        <p:txBody>
          <a:bodyPr wrap="square" lIns="0" tIns="0" rIns="0" bIns="0" rtlCol="0" anchor="ctr"/>
          <a:lstStyle/>
          <a:p>
            <a:pPr indent="0" marL="0">
              <a:buNone/>
            </a:pPr>
            <a:r>
              <a:rPr lang="es-PE" sz="2600" b="1" dirty="0">
                <a:solidFill>
                  <a:schemeClr val="accent1"/>
                </a:solidFill>
                <a:latin typeface="Consolas" pitchFamily="34" charset="0"/>
                <a:ea typeface="Consolas" pitchFamily="34" charset="-122"/>
                <a:cs typeface="Consolas" pitchFamily="34" charset="-120"/>
              </a:rPr>
              <a:t>5</a:t>
            </a:r>
            <a:endParaRPr lang="es-PE" sz="2600" dirty="0"/>
          </a:p>
        </p:txBody>
      </p:sp>
      <p:sp>
        <p:nvSpPr>
          <p:cNvPr id="10" name="Text 7"/>
          <p:cNvSpPr txBox="1"/>
          <p:nvPr/>
        </p:nvSpPr>
        <p:spPr>
          <a:xfrm>
            <a:off x="1508760" y="2331720"/>
            <a:ext cx="3017520" cy="640080"/>
          </a:xfrm>
          <a:prstGeom prst="rect">
            <a:avLst/>
          </a:prstGeom>
          <a:noFill/>
          <a:ln/>
        </p:spPr>
        <p:txBody>
          <a:bodyPr wrap="square" lIns="0" tIns="0" rIns="0" bIns="0" rtlCol="0" anchor="ctr"/>
          <a:lstStyle/>
          <a:p>
            <a:pPr indent="0" marL="0">
              <a:buNone/>
            </a:pPr>
            <a:r>
              <a:rPr lang="es-PE" sz="1500" dirty="0">
                <a:solidFill>
                  <a:schemeClr val="tx1"/>
                </a:solidFill>
              </a:rPr>
              <a:t>tipos y valores lógicos</a:t>
            </a:r>
            <a:endParaRPr lang="es-PE" sz="1500" dirty="0"/>
          </a:p>
        </p:txBody>
      </p:sp>
      <p:sp>
        <p:nvSpPr>
          <p:cNvPr id="11" name="Tarjeta"/>
          <p:cNvSpPr/>
          <p:nvPr/>
        </p:nvSpPr>
        <p:spPr>
          <a:xfrm>
            <a:off x="548640" y="3063240"/>
            <a:ext cx="4069080" cy="640080"/>
          </a:xfrm>
          <a:prstGeom prst="rect">
            <a:avLst/>
          </a:prstGeom>
          <a:solidFill>
            <a:schemeClr val="bg2"/>
          </a:solidFill>
          <a:ln w="12700">
            <a:solidFill>
              <a:schemeClr val="bg2"/>
            </a:solidFill>
            <a:prstDash val="solid"/>
          </a:ln>
        </p:spPr>
      </p:sp>
      <p:sp>
        <p:nvSpPr>
          <p:cNvPr id="12" name="Text 9"/>
          <p:cNvSpPr txBox="1"/>
          <p:nvPr/>
        </p:nvSpPr>
        <p:spPr>
          <a:xfrm>
            <a:off x="731520" y="3063240"/>
            <a:ext cx="731520" cy="640080"/>
          </a:xfrm>
          <a:prstGeom prst="rect">
            <a:avLst/>
          </a:prstGeom>
          <a:noFill/>
          <a:ln/>
        </p:spPr>
        <p:txBody>
          <a:bodyPr wrap="square" lIns="0" tIns="0" rIns="0" bIns="0" rtlCol="0" anchor="ctr"/>
          <a:lstStyle/>
          <a:p>
            <a:pPr indent="0" marL="0">
              <a:buNone/>
            </a:pPr>
            <a:r>
              <a:rPr lang="es-PE" sz="2600" b="1" dirty="0">
                <a:solidFill>
                  <a:schemeClr val="accent1"/>
                </a:solidFill>
                <a:latin typeface="Consolas" pitchFamily="34" charset="0"/>
                <a:ea typeface="Consolas" pitchFamily="34" charset="-122"/>
                <a:cs typeface="Consolas" pitchFamily="34" charset="-120"/>
              </a:rPr>
              <a:t>15</a:t>
            </a:r>
            <a:endParaRPr lang="es-PE" sz="2600" dirty="0"/>
          </a:p>
        </p:txBody>
      </p:sp>
      <p:sp>
        <p:nvSpPr>
          <p:cNvPr id="13" name="Text 10"/>
          <p:cNvSpPr txBox="1"/>
          <p:nvPr/>
        </p:nvSpPr>
        <p:spPr>
          <a:xfrm>
            <a:off x="1508760" y="3063240"/>
            <a:ext cx="3017520" cy="640080"/>
          </a:xfrm>
          <a:prstGeom prst="rect">
            <a:avLst/>
          </a:prstGeom>
          <a:noFill/>
          <a:ln/>
        </p:spPr>
        <p:txBody>
          <a:bodyPr wrap="square" lIns="0" tIns="0" rIns="0" bIns="0" rtlCol="0" anchor="ctr"/>
          <a:lstStyle/>
          <a:p>
            <a:pPr indent="0" marL="0">
              <a:buNone/>
            </a:pPr>
            <a:r>
              <a:rPr lang="es-PE" sz="1500" dirty="0">
                <a:solidFill>
                  <a:schemeClr val="tx1"/>
                </a:solidFill>
              </a:rPr>
              <a:t>operadores</a:t>
            </a:r>
            <a:endParaRPr lang="es-PE" sz="1500" dirty="0"/>
          </a:p>
        </p:txBody>
      </p:sp>
      <p:sp>
        <p:nvSpPr>
          <p:cNvPr id="14" name="Tarjeta"/>
          <p:cNvSpPr/>
          <p:nvPr/>
        </p:nvSpPr>
        <p:spPr>
          <a:xfrm>
            <a:off x="548640" y="3794760"/>
            <a:ext cx="4069080" cy="640080"/>
          </a:xfrm>
          <a:prstGeom prst="rect">
            <a:avLst/>
          </a:prstGeom>
          <a:solidFill>
            <a:schemeClr val="bg2"/>
          </a:solidFill>
          <a:ln w="12700">
            <a:solidFill>
              <a:schemeClr val="bg2"/>
            </a:solidFill>
            <a:prstDash val="solid"/>
          </a:ln>
        </p:spPr>
      </p:sp>
      <p:sp>
        <p:nvSpPr>
          <p:cNvPr id="15" name="Text 12"/>
          <p:cNvSpPr txBox="1"/>
          <p:nvPr/>
        </p:nvSpPr>
        <p:spPr>
          <a:xfrm>
            <a:off x="731520" y="3794760"/>
            <a:ext cx="731520" cy="640080"/>
          </a:xfrm>
          <a:prstGeom prst="rect">
            <a:avLst/>
          </a:prstGeom>
          <a:noFill/>
          <a:ln/>
        </p:spPr>
        <p:txBody>
          <a:bodyPr wrap="square" lIns="0" tIns="0" rIns="0" bIns="0" rtlCol="0" anchor="ctr"/>
          <a:lstStyle/>
          <a:p>
            <a:pPr indent="0" marL="0">
              <a:buNone/>
            </a:pPr>
            <a:r>
              <a:rPr lang="es-PE" sz="2600" b="1" dirty="0">
                <a:solidFill>
                  <a:schemeClr val="accent1"/>
                </a:solidFill>
                <a:latin typeface="Consolas" pitchFamily="34" charset="0"/>
                <a:ea typeface="Consolas" pitchFamily="34" charset="-122"/>
                <a:cs typeface="Consolas" pitchFamily="34" charset="-120"/>
              </a:rPr>
              <a:t>7</a:t>
            </a:r>
            <a:endParaRPr lang="es-PE" sz="2600" dirty="0"/>
          </a:p>
        </p:txBody>
      </p:sp>
      <p:sp>
        <p:nvSpPr>
          <p:cNvPr id="16" name="Text 13"/>
          <p:cNvSpPr txBox="1"/>
          <p:nvPr/>
        </p:nvSpPr>
        <p:spPr>
          <a:xfrm>
            <a:off x="1508760" y="3794760"/>
            <a:ext cx="3017520" cy="640080"/>
          </a:xfrm>
          <a:prstGeom prst="rect">
            <a:avLst/>
          </a:prstGeom>
          <a:noFill/>
          <a:ln/>
        </p:spPr>
        <p:txBody>
          <a:bodyPr wrap="square" lIns="0" tIns="0" rIns="0" bIns="0" rtlCol="0" anchor="ctr"/>
          <a:lstStyle/>
          <a:p>
            <a:pPr indent="0" marL="0">
              <a:buNone/>
            </a:pPr>
            <a:r>
              <a:rPr lang="es-PE" sz="1500" dirty="0">
                <a:solidFill>
                  <a:schemeClr val="tx1"/>
                </a:solidFill>
              </a:rPr>
              <a:t>signos de puntuación</a:t>
            </a:r>
            <a:endParaRPr lang="es-PE" sz="1500" dirty="0"/>
          </a:p>
        </p:txBody>
      </p:sp>
      <p:sp>
        <p:nvSpPr>
          <p:cNvPr id="17" name="Tarjeta"/>
          <p:cNvSpPr/>
          <p:nvPr/>
        </p:nvSpPr>
        <p:spPr>
          <a:xfrm>
            <a:off x="548640" y="4526280"/>
            <a:ext cx="4069080" cy="640080"/>
          </a:xfrm>
          <a:prstGeom prst="rect">
            <a:avLst/>
          </a:prstGeom>
          <a:solidFill>
            <a:schemeClr val="bg2"/>
          </a:solidFill>
          <a:ln w="12700">
            <a:solidFill>
              <a:schemeClr val="bg2"/>
            </a:solidFill>
            <a:prstDash val="solid"/>
          </a:ln>
        </p:spPr>
      </p:sp>
      <p:sp>
        <p:nvSpPr>
          <p:cNvPr id="18" name="Text 15"/>
          <p:cNvSpPr txBox="1"/>
          <p:nvPr/>
        </p:nvSpPr>
        <p:spPr>
          <a:xfrm>
            <a:off x="731520" y="4526280"/>
            <a:ext cx="731520" cy="640080"/>
          </a:xfrm>
          <a:prstGeom prst="rect">
            <a:avLst/>
          </a:prstGeom>
          <a:noFill/>
          <a:ln/>
        </p:spPr>
        <p:txBody>
          <a:bodyPr wrap="square" lIns="0" tIns="0" rIns="0" bIns="0" rtlCol="0" anchor="ctr"/>
          <a:lstStyle/>
          <a:p>
            <a:pPr indent="0" marL="0">
              <a:buNone/>
            </a:pPr>
            <a:r>
              <a:rPr lang="es-PE" sz="2600" b="1" dirty="0">
                <a:solidFill>
                  <a:schemeClr val="accent1"/>
                </a:solidFill>
                <a:latin typeface="Consolas" pitchFamily="34" charset="0"/>
                <a:ea typeface="Consolas" pitchFamily="34" charset="-122"/>
                <a:cs typeface="Consolas" pitchFamily="34" charset="-120"/>
              </a:rPr>
              <a:t>3</a:t>
            </a:r>
            <a:endParaRPr lang="es-PE" sz="2600" dirty="0"/>
          </a:p>
        </p:txBody>
      </p:sp>
      <p:sp>
        <p:nvSpPr>
          <p:cNvPr id="19" name="Text 16"/>
          <p:cNvSpPr txBox="1"/>
          <p:nvPr/>
        </p:nvSpPr>
        <p:spPr>
          <a:xfrm>
            <a:off x="1508760" y="4526280"/>
            <a:ext cx="3017520" cy="640080"/>
          </a:xfrm>
          <a:prstGeom prst="rect">
            <a:avLst/>
          </a:prstGeom>
          <a:noFill/>
          <a:ln/>
        </p:spPr>
        <p:txBody>
          <a:bodyPr wrap="square" lIns="0" tIns="0" rIns="0" bIns="0" rtlCol="0" anchor="ctr"/>
          <a:lstStyle/>
          <a:p>
            <a:pPr indent="0" marL="0">
              <a:buNone/>
            </a:pPr>
            <a:r>
              <a:rPr lang="es-PE" sz="1500" dirty="0">
                <a:solidFill>
                  <a:schemeClr val="tx1"/>
                </a:solidFill>
              </a:rPr>
              <a:t>números e identificadores</a:t>
            </a:r>
            <a:endParaRPr lang="es-PE" sz="1500" dirty="0"/>
          </a:p>
        </p:txBody>
      </p:sp>
      <p:sp>
        <p:nvSpPr>
          <p:cNvPr id="20" name="Tarjeta"/>
          <p:cNvSpPr/>
          <p:nvPr/>
        </p:nvSpPr>
        <p:spPr>
          <a:xfrm>
            <a:off x="548640" y="5257800"/>
            <a:ext cx="4069080" cy="640080"/>
          </a:xfrm>
          <a:prstGeom prst="rect">
            <a:avLst/>
          </a:prstGeom>
          <a:solidFill>
            <a:schemeClr val="bg2"/>
          </a:solidFill>
          <a:ln w="12700">
            <a:solidFill>
              <a:schemeClr val="bg2"/>
            </a:solidFill>
            <a:prstDash val="solid"/>
          </a:ln>
        </p:spPr>
      </p:sp>
      <p:sp>
        <p:nvSpPr>
          <p:cNvPr id="21" name="Text 18"/>
          <p:cNvSpPr txBox="1"/>
          <p:nvPr/>
        </p:nvSpPr>
        <p:spPr>
          <a:xfrm>
            <a:off x="731520" y="5257800"/>
            <a:ext cx="731520" cy="640080"/>
          </a:xfrm>
          <a:prstGeom prst="rect">
            <a:avLst/>
          </a:prstGeom>
          <a:noFill/>
          <a:ln/>
        </p:spPr>
        <p:txBody>
          <a:bodyPr wrap="square" lIns="0" tIns="0" rIns="0" bIns="0" rtlCol="0" anchor="ctr"/>
          <a:lstStyle/>
          <a:p>
            <a:pPr indent="0" marL="0">
              <a:buNone/>
            </a:pPr>
            <a:r>
              <a:rPr lang="es-PE" sz="2600" b="1" dirty="0">
                <a:solidFill>
                  <a:schemeClr val="accent5"/>
                </a:solidFill>
                <a:latin typeface="Consolas" pitchFamily="34" charset="0"/>
                <a:ea typeface="Consolas" pitchFamily="34" charset="-122"/>
                <a:cs typeface="Consolas" pitchFamily="34" charset="-120"/>
              </a:rPr>
              <a:t>3</a:t>
            </a:r>
            <a:endParaRPr lang="es-PE" sz="2600" dirty="0"/>
          </a:p>
        </p:txBody>
      </p:sp>
      <p:sp>
        <p:nvSpPr>
          <p:cNvPr id="22" name="Text 19"/>
          <p:cNvSpPr txBox="1"/>
          <p:nvPr/>
        </p:nvSpPr>
        <p:spPr>
          <a:xfrm>
            <a:off x="1508760" y="5257800"/>
            <a:ext cx="3017520" cy="640080"/>
          </a:xfrm>
          <a:prstGeom prst="rect">
            <a:avLst/>
          </a:prstGeom>
          <a:noFill/>
          <a:ln/>
        </p:spPr>
        <p:txBody>
          <a:bodyPr wrap="square" lIns="0" tIns="0" rIns="0" bIns="0" rtlCol="0" anchor="ctr"/>
          <a:lstStyle/>
          <a:p>
            <a:pPr indent="0" marL="0">
              <a:buNone/>
            </a:pPr>
            <a:r>
              <a:rPr lang="es-PE" sz="1500" dirty="0">
                <a:solidFill>
                  <a:schemeClr val="tx1"/>
                </a:solidFill>
              </a:rPr>
              <a:t>se descartan: comentarios y espacios</a:t>
            </a:r>
            <a:endParaRPr lang="es-PE" sz="1500" dirty="0"/>
          </a:p>
        </p:txBody>
      </p:sp>
      <p:sp>
        <p:nvSpPr>
          <p:cNvPr id="23" name="Text 20"/>
          <p:cNvSpPr txBox="1"/>
          <p:nvPr/>
        </p:nvSpPr>
        <p:spPr>
          <a:xfrm>
            <a:off x="4937760" y="1536192"/>
            <a:ext cx="6702552" cy="274320"/>
          </a:xfrm>
          <a:prstGeom prst="rect">
            <a:avLst/>
          </a:prstGeom>
          <a:noFill/>
          <a:ln/>
        </p:spPr>
        <p:txBody>
          <a:bodyPr wrap="square" lIns="0" tIns="0" rIns="0" bIns="0" rtlCol="0" anchor="t"/>
          <a:lstStyle/>
          <a:p>
            <a:pPr indent="0" marL="0">
              <a:buNone/>
            </a:pPr>
            <a:r>
              <a:rPr lang="es-PE" sz="1200" b="1" dirty="0">
                <a:solidFill>
                  <a:schemeClr val="accent5"/>
                </a:solidFill>
              </a:rPr>
              <a:t>Extracto en la forma token: lista de lexemas</a:t>
            </a:r>
            <a:endParaRPr lang="es-PE" sz="1200" dirty="0"/>
          </a:p>
        </p:txBody>
      </p:sp>
      <p:sp>
        <p:nvSpPr>
          <p:cNvPr id="24" name="Código"/>
          <p:cNvSpPr txBox="1"/>
          <p:nvPr/>
        </p:nvSpPr>
        <p:spPr>
          <a:xfrm>
            <a:off x="4937760" y="1810512"/>
            <a:ext cx="6702552" cy="1024128"/>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300" b="1"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cuando      </a:t>
            </a:r>
            <a:r>
              <a:rPr lang="es-PE" sz="1300" b="1" dirty="0">
                <a:solidFill>
                  <a:schemeClr val="accent4"/>
                </a:solidFill>
                <a:latin typeface="Consolas" pitchFamily="34" charset="0"/>
                <a:ea typeface="Consolas" pitchFamily="34" charset="-122"/>
                <a:cs typeface="Consolas" pitchFamily="34" charset="-120"/>
              </a:rPr>
              <a:t>SI</a:t>
            </a:r>
            <a:r>
              <a:rPr lang="es-PE" sz="1300" dirty="0">
                <a:solidFill>
                  <a:schemeClr val="bg1"/>
                </a:solidFill>
                <a:latin typeface="Consolas" pitchFamily="34" charset="0"/>
                <a:ea typeface="Consolas" pitchFamily="34" charset="-122"/>
                <a:cs typeface="Consolas" pitchFamily="34" charset="-120"/>
              </a:rPr>
              <a:t>: si      </a:t>
            </a:r>
            <a:r>
              <a:rPr lang="es-PE" sz="1300" b="1" dirty="0">
                <a:solidFill>
                  <a:schemeClr val="accent4"/>
                </a:solidFill>
                <a:latin typeface="Consolas" pitchFamily="34" charset="0"/>
                <a:ea typeface="Consolas" pitchFamily="34" charset="-122"/>
                <a:cs typeface="Consolas" pitchFamily="34" charset="-120"/>
              </a:rPr>
              <a:t>FLECHA</a:t>
            </a:r>
            <a:r>
              <a:rPr lang="es-PE" sz="1300" dirty="0">
                <a:solidFill>
                  <a:schemeClr val="bg1"/>
                </a:solidFill>
                <a:latin typeface="Consolas" pitchFamily="34" charset="0"/>
                <a:ea typeface="Consolas" pitchFamily="34" charset="-122"/>
                <a:cs typeface="Consolas" pitchFamily="34" charset="-120"/>
              </a:rPr>
              <a:t>: -&gt;</a:t>
            </a:r>
            <a:endParaRPr lang="es-PE" sz="1300" dirty="0"/>
          </a:p>
          <a:p>
            <a:pPr indent="0" marL="0">
              <a:lnSpc>
                <a:spcPct val="100000"/>
              </a:lnSpc>
              <a:buNone/>
            </a:pPr>
            <a:r>
              <a:rPr lang="es-PE" sz="1300" b="1" dirty="0">
                <a:solidFill>
                  <a:schemeClr val="accent4"/>
                </a:solidFill>
                <a:latin typeface="Consolas" pitchFamily="34" charset="0"/>
                <a:ea typeface="Consolas" pitchFamily="34" charset="-122"/>
                <a:cs typeface="Consolas" pitchFamily="34" charset="-120"/>
              </a:rPr>
              <a:t>LOGICO</a:t>
            </a:r>
            <a:r>
              <a:rPr lang="es-PE" sz="1300" dirty="0">
                <a:solidFill>
                  <a:schemeClr val="bg1"/>
                </a:solidFill>
                <a:latin typeface="Consolas" pitchFamily="34" charset="0"/>
                <a:ea typeface="Consolas" pitchFamily="34" charset="-122"/>
                <a:cs typeface="Consolas" pitchFamily="34" charset="-120"/>
              </a:rPr>
              <a:t>: logico, lógico       </a:t>
            </a:r>
            <a:r>
              <a:rPr lang="es-PE" sz="1300" b="1" dirty="0">
                <a:solidFill>
                  <a:schemeClr val="accent4"/>
                </a:solidFill>
                <a:latin typeface="Consolas" pitchFamily="34" charset="0"/>
                <a:ea typeface="Consolas" pitchFamily="34" charset="-122"/>
                <a:cs typeface="Consolas" pitchFamily="34" charset="-120"/>
              </a:rPr>
              <a:t>MENOR_IGUAL</a:t>
            </a:r>
            <a:r>
              <a:rPr lang="es-PE" sz="1300" dirty="0">
                <a:solidFill>
                  <a:schemeClr val="bg1"/>
                </a:solidFill>
                <a:latin typeface="Consolas" pitchFamily="34" charset="0"/>
                <a:ea typeface="Consolas" pitchFamily="34" charset="-122"/>
                <a:cs typeface="Consolas" pitchFamily="34" charset="-120"/>
              </a:rPr>
              <a:t>: &lt;=</a:t>
            </a:r>
            <a:endParaRPr lang="es-PE" sz="1300" dirty="0"/>
          </a:p>
          <a:p>
            <a:pPr indent="0" marL="0">
              <a:lnSpc>
                <a:spcPct val="100000"/>
              </a:lnSpc>
              <a:buNone/>
            </a:pPr>
            <a:r>
              <a:rPr lang="es-PE" sz="1300" b="1" dirty="0">
                <a:solidFill>
                  <a:schemeClr val="accent4"/>
                </a:solidFill>
                <a:latin typeface="Consolas" pitchFamily="34" charset="0"/>
                <a:ea typeface="Consolas" pitchFamily="34" charset="-122"/>
                <a:cs typeface="Consolas" pitchFamily="34" charset="-120"/>
              </a:rPr>
              <a:t>NUM_REAL</a:t>
            </a:r>
            <a:r>
              <a:rPr lang="es-PE" sz="1300" dirty="0">
                <a:solidFill>
                  <a:schemeClr val="bg1"/>
                </a:solidFill>
                <a:latin typeface="Consolas" pitchFamily="34" charset="0"/>
                <a:ea typeface="Consolas" pitchFamily="34" charset="-122"/>
                <a:cs typeface="Consolas" pitchFamily="34" charset="-120"/>
              </a:rPr>
              <a:t>: [0-9]+ '.' [0-9]+</a:t>
            </a:r>
            <a:endParaRPr lang="es-PE" sz="1300" dirty="0"/>
          </a:p>
          <a:p>
            <a:pPr indent="0" marL="0">
              <a:lnSpc>
                <a:spcPct val="100000"/>
              </a:lnSpc>
              <a:buNone/>
            </a:pPr>
            <a:r>
              <a:rPr lang="es-PE" sz="1300" b="1" dirty="0">
                <a:solidFill>
                  <a:schemeClr val="accent4"/>
                </a:solidFill>
                <a:latin typeface="Consolas" pitchFamily="34" charset="0"/>
                <a:ea typeface="Consolas" pitchFamily="34" charset="-122"/>
                <a:cs typeface="Consolas" pitchFamily="34" charset="-120"/>
              </a:rPr>
              <a:t>ID</a:t>
            </a:r>
            <a:r>
              <a:rPr lang="es-PE" sz="1300" dirty="0">
                <a:solidFill>
                  <a:schemeClr val="bg1"/>
                </a:solidFill>
                <a:latin typeface="Consolas" pitchFamily="34" charset="0"/>
                <a:ea typeface="Consolas" pitchFamily="34" charset="-122"/>
                <a:cs typeface="Consolas" pitchFamily="34" charset="-120"/>
              </a:rPr>
              <a:t>: LETRA (LETRA | DIGITO)*</a:t>
            </a:r>
            <a:endParaRPr lang="es-PE" sz="1300" dirty="0"/>
          </a:p>
        </p:txBody>
      </p:sp>
      <p:sp>
        <p:nvSpPr>
          <p:cNvPr id="25" name="Text 22"/>
          <p:cNvSpPr txBox="1"/>
          <p:nvPr/>
        </p:nvSpPr>
        <p:spPr>
          <a:xfrm>
            <a:off x="4937760" y="3017520"/>
            <a:ext cx="6702552" cy="274320"/>
          </a:xfrm>
          <a:prstGeom prst="rect">
            <a:avLst/>
          </a:prstGeom>
          <a:noFill/>
          <a:ln/>
        </p:spPr>
        <p:txBody>
          <a:bodyPr wrap="square" lIns="0" tIns="0" rIns="0" bIns="0" rtlCol="0" anchor="t"/>
          <a:lstStyle/>
          <a:p>
            <a:pPr indent="0" marL="0">
              <a:buNone/>
            </a:pPr>
            <a:r>
              <a:rPr lang="es-PE" sz="1200" b="1" dirty="0">
                <a:solidFill>
                  <a:schemeClr val="accent5"/>
                </a:solidFill>
              </a:rPr>
              <a:t>Entrada y tokens</a:t>
            </a:r>
            <a:endParaRPr lang="es-PE" sz="1200" dirty="0"/>
          </a:p>
        </p:txBody>
      </p:sp>
      <p:sp>
        <p:nvSpPr>
          <p:cNvPr id="26" name="Código"/>
          <p:cNvSpPr txBox="1"/>
          <p:nvPr/>
        </p:nvSpPr>
        <p:spPr>
          <a:xfrm>
            <a:off x="4937760" y="3291840"/>
            <a:ext cx="6702552" cy="1115568"/>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200" dirty="0">
                <a:solidFill>
                  <a:schemeClr val="bg1"/>
                </a:solidFill>
                <a:latin typeface="Consolas" pitchFamily="34" charset="0"/>
                <a:ea typeface="Consolas" pitchFamily="34" charset="-122"/>
                <a:cs typeface="Consolas" pitchFamily="34" charset="-120"/>
              </a:rPr>
              <a:t>daño_golpe</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entero</a:t>
            </a:r>
            <a:r>
              <a:rPr lang="es-PE" sz="1200" dirty="0">
                <a:solidFill>
                  <a:schemeClr val="bg1"/>
                </a:solidFill>
                <a:latin typeface="Consolas" pitchFamily="34" charset="0"/>
                <a:ea typeface="Consolas" pitchFamily="34" charset="-122"/>
                <a:cs typeface="Consolas" pitchFamily="34" charset="-120"/>
              </a:rPr>
              <a:t> = 25;</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cuando</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bg1"/>
                </a:solidFill>
                <a:latin typeface="Consolas" pitchFamily="34" charset="0"/>
                <a:ea typeface="Consolas" pitchFamily="34" charset="-122"/>
                <a:cs typeface="Consolas" pitchFamily="34" charset="-120"/>
              </a:rPr>
              <a:t>fin_aturdimiento</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si</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bg1"/>
                </a:solidFill>
                <a:latin typeface="Consolas" pitchFamily="34" charset="0"/>
                <a:ea typeface="Consolas" pitchFamily="34" charset="-122"/>
                <a:cs typeface="Consolas" pitchFamily="34" charset="-120"/>
              </a:rPr>
              <a:t>vida</a:t>
            </a:r>
            <a:r>
              <a:rPr lang="es-PE" sz="1200" dirty="0">
                <a:solidFill>
                  <a:schemeClr val="bg1"/>
                </a:solidFill>
                <a:latin typeface="Consolas" pitchFamily="34" charset="0"/>
                <a:ea typeface="Consolas" pitchFamily="34" charset="-122"/>
                <a:cs typeface="Consolas" pitchFamily="34" charset="-120"/>
              </a:rPr>
              <a:t> &lt;= 0 -&gt; Derrotado; // </a:t>
            </a:r>
            <a:r>
              <a:rPr lang="es-PE" sz="1200" dirty="0">
                <a:solidFill>
                  <a:schemeClr val="bg1"/>
                </a:solidFill>
                <a:latin typeface="Consolas" pitchFamily="34" charset="0"/>
                <a:ea typeface="Consolas" pitchFamily="34" charset="-122"/>
                <a:cs typeface="Consolas" pitchFamily="34" charset="-120"/>
              </a:rPr>
              <a:t>comentario</a:t>
            </a:r>
            <a:endParaRPr lang="es-PE" sz="1200" dirty="0"/>
          </a:p>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ID DOS_PUNTOS ENTERO ASIGNA NUM_ENTERO PUNTO_COMA</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CUANDO ID SI ID MENOR_IGUAL NUM_ENTERO FLECHA ID PUNTO_COMA</a:t>
            </a:r>
            <a:endParaRPr lang="es-PE" sz="1200" dirty="0"/>
          </a:p>
        </p:txBody>
      </p:sp>
      <p:sp>
        <p:nvSpPr>
          <p:cNvPr id="27" name="Regla"/>
          <p:cNvSpPr/>
          <p:nvPr/>
        </p:nvSpPr>
        <p:spPr>
          <a:xfrm>
            <a:off x="4937760" y="4617720"/>
            <a:ext cx="3214116" cy="1280160"/>
          </a:xfrm>
          <a:prstGeom prst="rect">
            <a:avLst/>
          </a:prstGeom>
          <a:solidFill>
            <a:schemeClr val="bg1"/>
          </a:solidFill>
          <a:ln w="12700">
            <a:solidFill>
              <a:schemeClr val="accent6"/>
            </a:solidFill>
            <a:prstDash val="solid"/>
          </a:ln>
        </p:spPr>
      </p:sp>
      <p:sp>
        <p:nvSpPr>
          <p:cNvPr id="28" name="Número 1"/>
          <p:cNvSpPr txBox="1"/>
          <p:nvPr/>
        </p:nvSpPr>
        <p:spPr>
          <a:xfrm>
            <a:off x="5120640" y="4782312"/>
            <a:ext cx="329184" cy="329184"/>
          </a:xfrm>
          <a:prstGeom prst="rect">
            <a:avLst/>
          </a:prstGeom>
          <a:solidFill>
            <a:schemeClr val="accent1"/>
          </a:solidFill>
          <a:ln/>
        </p:spPr>
        <p:txBody>
          <a:bodyPr wrap="square" lIns="0" tIns="0" rIns="0" bIns="0" rtlCol="0" anchor="ctr"/>
          <a:lstStyle/>
          <a:p>
            <a:pPr algn="ctr" indent="0" marL="0">
              <a:buNone/>
            </a:pPr>
            <a:r>
              <a:rPr lang="es-PE" sz="1300" b="1" dirty="0">
                <a:solidFill>
                  <a:schemeClr val="bg1"/>
                </a:solidFill>
                <a:latin typeface="Consolas" pitchFamily="34" charset="0"/>
                <a:ea typeface="Consolas" pitchFamily="34" charset="-122"/>
                <a:cs typeface="Consolas" pitchFamily="34" charset="-120"/>
              </a:rPr>
              <a:t>1</a:t>
            </a:r>
            <a:endParaRPr lang="es-PE" sz="1300" dirty="0"/>
          </a:p>
        </p:txBody>
      </p:sp>
      <p:sp>
        <p:nvSpPr>
          <p:cNvPr id="29" name="Text 26"/>
          <p:cNvSpPr txBox="1"/>
          <p:nvPr/>
        </p:nvSpPr>
        <p:spPr>
          <a:xfrm>
            <a:off x="5577840" y="4736592"/>
            <a:ext cx="2436876" cy="548640"/>
          </a:xfrm>
          <a:prstGeom prst="rect">
            <a:avLst/>
          </a:prstGeom>
          <a:noFill/>
          <a:ln/>
        </p:spPr>
        <p:txBody>
          <a:bodyPr wrap="square" lIns="0" tIns="0" rIns="0" bIns="0" rtlCol="0" anchor="t"/>
          <a:lstStyle/>
          <a:p>
            <a:pPr indent="0" marL="0">
              <a:buNone/>
            </a:pPr>
            <a:r>
              <a:rPr lang="es-PE" sz="1500" b="1" dirty="0">
                <a:solidFill>
                  <a:schemeClr val="tx1"/>
                </a:solidFill>
              </a:rPr>
              <a:t>Siempre gana el lexema más largo</a:t>
            </a:r>
            <a:endParaRPr lang="es-PE" sz="1500" dirty="0"/>
          </a:p>
        </p:txBody>
      </p:sp>
      <p:sp>
        <p:nvSpPr>
          <p:cNvPr id="30" name="Text 27"/>
          <p:cNvSpPr txBox="1"/>
          <p:nvPr/>
        </p:nvSpPr>
        <p:spPr>
          <a:xfrm>
            <a:off x="5577840" y="5285232"/>
            <a:ext cx="2436876" cy="548640"/>
          </a:xfrm>
          <a:prstGeom prst="rect">
            <a:avLst/>
          </a:prstGeom>
          <a:noFill/>
          <a:ln/>
        </p:spPr>
        <p:txBody>
          <a:bodyPr wrap="square" lIns="0" tIns="0" rIns="0" bIns="0" rtlCol="0" anchor="t"/>
          <a:lstStyle/>
          <a:p>
            <a:pPr indent="0" marL="0">
              <a:buNone/>
            </a:pPr>
            <a:r>
              <a:rPr lang="es-PE" sz="1400" dirty="0">
                <a:solidFill>
                  <a:schemeClr val="tx2"/>
                </a:solidFill>
              </a:rPr>
              <a:t>Por eso siguiente es un ID y &lt;= es un solo token.</a:t>
            </a:r>
            <a:endParaRPr lang="es-PE" sz="1400" dirty="0"/>
          </a:p>
        </p:txBody>
      </p:sp>
      <p:sp>
        <p:nvSpPr>
          <p:cNvPr id="31" name="Regla"/>
          <p:cNvSpPr/>
          <p:nvPr/>
        </p:nvSpPr>
        <p:spPr>
          <a:xfrm>
            <a:off x="8426196" y="4617720"/>
            <a:ext cx="3214116" cy="1280160"/>
          </a:xfrm>
          <a:prstGeom prst="rect">
            <a:avLst/>
          </a:prstGeom>
          <a:solidFill>
            <a:schemeClr val="bg1"/>
          </a:solidFill>
          <a:ln w="12700">
            <a:solidFill>
              <a:schemeClr val="accent6"/>
            </a:solidFill>
            <a:prstDash val="solid"/>
          </a:ln>
        </p:spPr>
      </p:sp>
      <p:sp>
        <p:nvSpPr>
          <p:cNvPr id="32" name="Número 2"/>
          <p:cNvSpPr txBox="1"/>
          <p:nvPr/>
        </p:nvSpPr>
        <p:spPr>
          <a:xfrm>
            <a:off x="8609076" y="4782312"/>
            <a:ext cx="329184" cy="329184"/>
          </a:xfrm>
          <a:prstGeom prst="rect">
            <a:avLst/>
          </a:prstGeom>
          <a:solidFill>
            <a:schemeClr val="accent1"/>
          </a:solidFill>
          <a:ln/>
        </p:spPr>
        <p:txBody>
          <a:bodyPr wrap="square" lIns="0" tIns="0" rIns="0" bIns="0" rtlCol="0" anchor="ctr"/>
          <a:lstStyle/>
          <a:p>
            <a:pPr algn="ctr" indent="0" marL="0">
              <a:buNone/>
            </a:pPr>
            <a:r>
              <a:rPr lang="es-PE" sz="1300" b="1" dirty="0">
                <a:solidFill>
                  <a:schemeClr val="bg1"/>
                </a:solidFill>
                <a:latin typeface="Consolas" pitchFamily="34" charset="0"/>
                <a:ea typeface="Consolas" pitchFamily="34" charset="-122"/>
                <a:cs typeface="Consolas" pitchFamily="34" charset="-120"/>
              </a:rPr>
              <a:t>2</a:t>
            </a:r>
            <a:endParaRPr lang="es-PE" sz="1300" dirty="0"/>
          </a:p>
        </p:txBody>
      </p:sp>
      <p:sp>
        <p:nvSpPr>
          <p:cNvPr id="33" name="Text 30"/>
          <p:cNvSpPr txBox="1"/>
          <p:nvPr/>
        </p:nvSpPr>
        <p:spPr>
          <a:xfrm>
            <a:off x="9066276" y="4736592"/>
            <a:ext cx="2436876" cy="548640"/>
          </a:xfrm>
          <a:prstGeom prst="rect">
            <a:avLst/>
          </a:prstGeom>
          <a:noFill/>
          <a:ln/>
        </p:spPr>
        <p:txBody>
          <a:bodyPr wrap="square" lIns="0" tIns="0" rIns="0" bIns="0" rtlCol="0" anchor="t"/>
          <a:lstStyle/>
          <a:p>
            <a:pPr indent="0" marL="0">
              <a:buNone/>
            </a:pPr>
            <a:r>
              <a:rPr lang="es-PE" sz="1500" b="1" dirty="0">
                <a:solidFill>
                  <a:schemeClr val="tx1"/>
                </a:solidFill>
              </a:rPr>
              <a:t>A igual longitud, gana la primera regla</a:t>
            </a:r>
            <a:endParaRPr lang="es-PE" sz="1500" dirty="0"/>
          </a:p>
        </p:txBody>
      </p:sp>
      <p:sp>
        <p:nvSpPr>
          <p:cNvPr id="34" name="Text 31"/>
          <p:cNvSpPr txBox="1"/>
          <p:nvPr/>
        </p:nvSpPr>
        <p:spPr>
          <a:xfrm>
            <a:off x="9066276" y="5285232"/>
            <a:ext cx="2436876" cy="548640"/>
          </a:xfrm>
          <a:prstGeom prst="rect">
            <a:avLst/>
          </a:prstGeom>
          <a:noFill/>
          <a:ln/>
        </p:spPr>
        <p:txBody>
          <a:bodyPr wrap="square" lIns="0" tIns="0" rIns="0" bIns="0" rtlCol="0" anchor="t"/>
          <a:lstStyle/>
          <a:p>
            <a:pPr indent="0" marL="0">
              <a:buNone/>
            </a:pPr>
            <a:r>
              <a:rPr lang="es-PE" sz="1400" dirty="0">
                <a:solidFill>
                  <a:schemeClr val="tx2"/>
                </a:solidFill>
              </a:rPr>
              <a:t>Por eso las palabras reservadas van antes que ID.</a:t>
            </a:r>
            <a:endParaRPr lang="es-PE" sz="1400" dirty="0"/>
          </a:p>
        </p:txBody>
      </p:sp>
      <p:sp>
        <p:nvSpPr>
          <p:cNvPr id="35" name="Text 32"/>
          <p:cNvSpPr txBox="1"/>
          <p:nvPr/>
        </p:nvSpPr>
        <p:spPr>
          <a:xfrm>
            <a:off x="4937760" y="5989320"/>
            <a:ext cx="6702552" cy="274320"/>
          </a:xfrm>
          <a:prstGeom prst="rect">
            <a:avLst/>
          </a:prstGeom>
          <a:noFill/>
          <a:ln/>
        </p:spPr>
        <p:txBody>
          <a:bodyPr wrap="square" lIns="0" tIns="0" rIns="0" bIns="0" rtlCol="0" anchor="t"/>
          <a:lstStyle/>
          <a:p>
            <a:pPr indent="0" marL="0">
              <a:buNone/>
            </a:pPr>
            <a:r>
              <a:rPr lang="es-PE" sz="1200" dirty="0">
                <a:solidFill>
                  <a:schemeClr val="accent5"/>
                </a:solidFill>
              </a:rPr>
              <a:t>Implementado en ANTLR4 (Parr, 2013).</a:t>
            </a:r>
            <a:endParaRPr lang="es-PE"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8</a:t>
            </a:fld>
            <a:endParaRPr lang="es-P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Analizador sintáctico</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Una gramática libre de contexto por construcción</a:t>
            </a:r>
            <a:endParaRPr lang="es-PE" sz="2800" dirty="0"/>
          </a:p>
        </p:txBody>
      </p:sp>
      <p:sp>
        <p:nvSpPr>
          <p:cNvPr id="5" name="Tarjeta"/>
          <p:cNvSpPr/>
          <p:nvPr/>
        </p:nvSpPr>
        <p:spPr>
          <a:xfrm>
            <a:off x="548640" y="1600200"/>
            <a:ext cx="4983480" cy="2514600"/>
          </a:xfrm>
          <a:prstGeom prst="rect">
            <a:avLst/>
          </a:prstGeom>
          <a:solidFill>
            <a:schemeClr val="bg2"/>
          </a:solidFill>
          <a:ln w="12700">
            <a:solidFill>
              <a:schemeClr val="bg2"/>
            </a:solidFill>
            <a:prstDash val="solid"/>
          </a:ln>
        </p:spPr>
      </p:sp>
      <p:sp>
        <p:nvSpPr>
          <p:cNvPr id="6" name="Text 3"/>
          <p:cNvSpPr txBox="1"/>
          <p:nvPr/>
        </p:nvSpPr>
        <p:spPr>
          <a:xfrm>
            <a:off x="777240" y="1755648"/>
            <a:ext cx="4572000" cy="1051560"/>
          </a:xfrm>
          <a:prstGeom prst="rect">
            <a:avLst/>
          </a:prstGeom>
          <a:noFill/>
          <a:ln/>
        </p:spPr>
        <p:txBody>
          <a:bodyPr wrap="square" lIns="0" tIns="0" rIns="0" bIns="0" rtlCol="0" anchor="t"/>
          <a:lstStyle/>
          <a:p>
            <a:pPr indent="0" marL="0">
              <a:spcAft>
                <a:spcPts val="500"/>
              </a:spcAft>
              <a:buNone/>
            </a:pPr>
            <a:r>
              <a:rPr lang="es-PE" sz="1400" b="1" dirty="0">
                <a:solidFill>
                  <a:schemeClr val="accent1"/>
                </a:solidFill>
              </a:rPr>
              <a:t>G5. Transiciones</a:t>
            </a:r>
            <a:endParaRPr lang="es-PE" sz="1400" dirty="0"/>
          </a:p>
          <a:p>
            <a:pPr indent="0" marL="0">
              <a:spcAft>
                <a:spcPts val="500"/>
              </a:spcAft>
              <a:buNone/>
            </a:pPr>
            <a:r>
              <a:rPr lang="es-PE" sz="1700" i="1" dirty="0">
                <a:solidFill>
                  <a:schemeClr val="tx1"/>
                </a:solidFill>
              </a:rPr>
              <a:t>transicion</a:t>
            </a:r>
            <a:r>
              <a:rPr lang="es-PE" sz="1700" dirty="0">
                <a:solidFill>
                  <a:schemeClr val="tx1"/>
                </a:solidFill>
              </a:rPr>
              <a:t> → </a:t>
            </a:r>
            <a:r>
              <a:rPr lang="es-PE" sz="1700" b="1" dirty="0">
                <a:solidFill>
                  <a:schemeClr val="tx1"/>
                </a:solidFill>
              </a:rPr>
              <a:t>cuando</a:t>
            </a:r>
            <a:r>
              <a:rPr lang="es-PE" sz="1700" dirty="0">
                <a:solidFill>
                  <a:schemeClr val="tx1"/>
                </a:solidFill>
              </a:rPr>
              <a:t> </a:t>
            </a:r>
            <a:r>
              <a:rPr lang="es-PE" sz="1700" b="1" dirty="0">
                <a:solidFill>
                  <a:schemeClr val="tx1"/>
                </a:solidFill>
              </a:rPr>
              <a:t>id</a:t>
            </a:r>
            <a:r>
              <a:rPr lang="es-PE" sz="1700" dirty="0">
                <a:solidFill>
                  <a:schemeClr val="tx1"/>
                </a:solidFill>
              </a:rPr>
              <a:t> </a:t>
            </a:r>
            <a:r>
              <a:rPr lang="es-PE" sz="1700" i="1" dirty="0">
                <a:solidFill>
                  <a:schemeClr val="tx1"/>
                </a:solidFill>
              </a:rPr>
              <a:t>guarda</a:t>
            </a:r>
            <a:r>
              <a:rPr lang="es-PE" sz="1700" dirty="0">
                <a:solidFill>
                  <a:schemeClr val="tx1"/>
                </a:solidFill>
              </a:rPr>
              <a:t> </a:t>
            </a:r>
            <a:r>
              <a:rPr lang="es-PE" sz="1700" b="1" dirty="0">
                <a:solidFill>
                  <a:schemeClr val="tx1"/>
                </a:solidFill>
              </a:rPr>
              <a:t>-&gt;</a:t>
            </a:r>
            <a:r>
              <a:rPr lang="es-PE" sz="1700" dirty="0">
                <a:solidFill>
                  <a:schemeClr val="tx1"/>
                </a:solidFill>
              </a:rPr>
              <a:t> </a:t>
            </a:r>
            <a:r>
              <a:rPr lang="es-PE" sz="1700" b="1" dirty="0">
                <a:solidFill>
                  <a:schemeClr val="tx1"/>
                </a:solidFill>
              </a:rPr>
              <a:t>id</a:t>
            </a:r>
            <a:r>
              <a:rPr lang="es-PE" sz="1700" dirty="0">
                <a:solidFill>
                  <a:schemeClr val="tx1"/>
                </a:solidFill>
              </a:rPr>
              <a:t> </a:t>
            </a:r>
            <a:r>
              <a:rPr lang="es-PE" sz="1700" b="1" dirty="0">
                <a:solidFill>
                  <a:schemeClr val="tx1"/>
                </a:solidFill>
              </a:rPr>
              <a:t>;</a:t>
            </a:r>
            <a:endParaRPr lang="es-PE" sz="1400" dirty="0"/>
          </a:p>
          <a:p>
            <a:pPr indent="0" marL="0">
              <a:spcAft>
                <a:spcPts val="500"/>
              </a:spcAft>
              <a:buNone/>
            </a:pPr>
            <a:r>
              <a:rPr lang="es-PE" sz="1700" i="1" dirty="0">
                <a:solidFill>
                  <a:schemeClr val="tx1"/>
                </a:solidFill>
              </a:rPr>
              <a:t>guarda</a:t>
            </a:r>
            <a:r>
              <a:rPr lang="es-PE" sz="1700" dirty="0">
                <a:solidFill>
                  <a:schemeClr val="tx1"/>
                </a:solidFill>
              </a:rPr>
              <a:t> → </a:t>
            </a:r>
            <a:r>
              <a:rPr lang="es-PE" sz="1700" b="1" dirty="0">
                <a:solidFill>
                  <a:schemeClr val="tx1"/>
                </a:solidFill>
              </a:rPr>
              <a:t>si</a:t>
            </a:r>
            <a:r>
              <a:rPr lang="es-PE" sz="1700" dirty="0">
                <a:solidFill>
                  <a:schemeClr val="tx1"/>
                </a:solidFill>
              </a:rPr>
              <a:t> </a:t>
            </a:r>
            <a:r>
              <a:rPr lang="es-PE" sz="1700" i="1" dirty="0">
                <a:solidFill>
                  <a:schemeClr val="tx1"/>
                </a:solidFill>
              </a:rPr>
              <a:t>expr</a:t>
            </a:r>
            <a:r>
              <a:rPr lang="es-PE" sz="1700" dirty="0">
                <a:solidFill>
                  <a:schemeClr val="tx1"/>
                </a:solidFill>
              </a:rPr>
              <a:t> | </a:t>
            </a:r>
            <a:r>
              <a:rPr lang="es-PE" sz="1700" dirty="0">
                <a:solidFill>
                  <a:schemeClr val="tx1"/>
                </a:solidFill>
              </a:rPr>
              <a:t>ε</a:t>
            </a:r>
            <a:endParaRPr lang="es-PE" sz="1400" dirty="0"/>
          </a:p>
        </p:txBody>
      </p:sp>
      <p:sp>
        <p:nvSpPr>
          <p:cNvPr id="7" name="Text 4"/>
          <p:cNvSpPr txBox="1"/>
          <p:nvPr/>
        </p:nvSpPr>
        <p:spPr>
          <a:xfrm>
            <a:off x="777240" y="2926080"/>
            <a:ext cx="4572000" cy="1051560"/>
          </a:xfrm>
          <a:prstGeom prst="rect">
            <a:avLst/>
          </a:prstGeom>
          <a:noFill/>
          <a:ln/>
        </p:spPr>
        <p:txBody>
          <a:bodyPr wrap="square" lIns="0" tIns="0" rIns="0" bIns="0" rtlCol="0" anchor="t"/>
          <a:lstStyle/>
          <a:p>
            <a:pPr indent="0" marL="0">
              <a:spcAft>
                <a:spcPts val="500"/>
              </a:spcAft>
              <a:buNone/>
            </a:pPr>
            <a:r>
              <a:rPr lang="es-PE" sz="1400" b="1" dirty="0">
                <a:solidFill>
                  <a:schemeClr val="accent1"/>
                </a:solidFill>
              </a:rPr>
              <a:t>G3. Eventos</a:t>
            </a:r>
            <a:endParaRPr lang="es-PE" sz="1400" dirty="0"/>
          </a:p>
          <a:p>
            <a:pPr indent="0" marL="0">
              <a:spcAft>
                <a:spcPts val="500"/>
              </a:spcAft>
              <a:buNone/>
            </a:pPr>
            <a:r>
              <a:rPr lang="es-PE" sz="1700" i="1" dirty="0">
                <a:solidFill>
                  <a:schemeClr val="tx1"/>
                </a:solidFill>
              </a:rPr>
              <a:t>decl_evs</a:t>
            </a:r>
            <a:r>
              <a:rPr lang="es-PE" sz="1700" dirty="0">
                <a:solidFill>
                  <a:schemeClr val="tx1"/>
                </a:solidFill>
              </a:rPr>
              <a:t> → </a:t>
            </a:r>
            <a:r>
              <a:rPr lang="es-PE" sz="1700" b="1" dirty="0">
                <a:solidFill>
                  <a:schemeClr val="tx1"/>
                </a:solidFill>
              </a:rPr>
              <a:t>eventos</a:t>
            </a:r>
            <a:r>
              <a:rPr lang="es-PE" sz="1700" dirty="0">
                <a:solidFill>
                  <a:schemeClr val="tx1"/>
                </a:solidFill>
              </a:rPr>
              <a:t> </a:t>
            </a:r>
            <a:r>
              <a:rPr lang="es-PE" sz="1700" i="1" dirty="0">
                <a:solidFill>
                  <a:schemeClr val="tx1"/>
                </a:solidFill>
              </a:rPr>
              <a:t>lista_ids</a:t>
            </a:r>
            <a:r>
              <a:rPr lang="es-PE" sz="1700" dirty="0">
                <a:solidFill>
                  <a:schemeClr val="tx1"/>
                </a:solidFill>
              </a:rPr>
              <a:t> </a:t>
            </a:r>
            <a:r>
              <a:rPr lang="es-PE" sz="1700" b="1" dirty="0">
                <a:solidFill>
                  <a:schemeClr val="tx1"/>
                </a:solidFill>
              </a:rPr>
              <a:t>;</a:t>
            </a:r>
            <a:endParaRPr lang="es-PE" sz="1400" dirty="0"/>
          </a:p>
          <a:p>
            <a:pPr indent="0" marL="0">
              <a:spcAft>
                <a:spcPts val="500"/>
              </a:spcAft>
              <a:buNone/>
            </a:pPr>
            <a:r>
              <a:rPr lang="es-PE" sz="1700" i="1" dirty="0">
                <a:solidFill>
                  <a:schemeClr val="tx1"/>
                </a:solidFill>
              </a:rPr>
              <a:t>lista_ids</a:t>
            </a:r>
            <a:r>
              <a:rPr lang="es-PE" sz="1700" dirty="0">
                <a:solidFill>
                  <a:schemeClr val="tx1"/>
                </a:solidFill>
              </a:rPr>
              <a:t> → </a:t>
            </a:r>
            <a:r>
              <a:rPr lang="es-PE" sz="1700" i="1" dirty="0">
                <a:solidFill>
                  <a:schemeClr val="tx1"/>
                </a:solidFill>
              </a:rPr>
              <a:t>lista_ids</a:t>
            </a:r>
            <a:r>
              <a:rPr lang="es-PE" sz="1700" dirty="0">
                <a:solidFill>
                  <a:schemeClr val="tx1"/>
                </a:solidFill>
              </a:rPr>
              <a:t> </a:t>
            </a:r>
            <a:r>
              <a:rPr lang="es-PE" sz="1700" b="1" dirty="0">
                <a:solidFill>
                  <a:schemeClr val="tx1"/>
                </a:solidFill>
              </a:rPr>
              <a:t>,</a:t>
            </a:r>
            <a:r>
              <a:rPr lang="es-PE" sz="1700" dirty="0">
                <a:solidFill>
                  <a:schemeClr val="tx1"/>
                </a:solidFill>
              </a:rPr>
              <a:t> </a:t>
            </a:r>
            <a:r>
              <a:rPr lang="es-PE" sz="1700" b="1" dirty="0">
                <a:solidFill>
                  <a:schemeClr val="tx1"/>
                </a:solidFill>
              </a:rPr>
              <a:t>id</a:t>
            </a:r>
            <a:r>
              <a:rPr lang="es-PE" sz="1700" dirty="0">
                <a:solidFill>
                  <a:schemeClr val="tx1"/>
                </a:solidFill>
              </a:rPr>
              <a:t> | </a:t>
            </a:r>
            <a:r>
              <a:rPr lang="es-PE" sz="1700" b="1" dirty="0">
                <a:solidFill>
                  <a:schemeClr val="tx1"/>
                </a:solidFill>
              </a:rPr>
              <a:t>id</a:t>
            </a:r>
            <a:endParaRPr lang="es-PE" sz="1400" dirty="0"/>
          </a:p>
        </p:txBody>
      </p:sp>
      <p:sp>
        <p:nvSpPr>
          <p:cNvPr id="8" name="Pixel"/>
          <p:cNvSpPr/>
          <p:nvPr/>
        </p:nvSpPr>
        <p:spPr>
          <a:xfrm>
            <a:off x="548640" y="4389120"/>
            <a:ext cx="128016" cy="128016"/>
          </a:xfrm>
          <a:prstGeom prst="rect">
            <a:avLst/>
          </a:prstGeom>
          <a:solidFill>
            <a:schemeClr val="accent1"/>
          </a:solidFill>
          <a:ln w="12700">
            <a:solidFill>
              <a:schemeClr val="accent1"/>
            </a:solidFill>
            <a:prstDash val="solid"/>
          </a:ln>
        </p:spPr>
      </p:sp>
      <p:sp>
        <p:nvSpPr>
          <p:cNvPr id="9" name="Text 6"/>
          <p:cNvSpPr txBox="1"/>
          <p:nvPr/>
        </p:nvSpPr>
        <p:spPr>
          <a:xfrm>
            <a:off x="868680" y="4315968"/>
            <a:ext cx="4663440" cy="731520"/>
          </a:xfrm>
          <a:prstGeom prst="rect">
            <a:avLst/>
          </a:prstGeom>
          <a:noFill/>
          <a:ln/>
        </p:spPr>
        <p:txBody>
          <a:bodyPr wrap="square" lIns="0" tIns="0" rIns="0" bIns="0" rtlCol="0" anchor="t"/>
          <a:lstStyle/>
          <a:p>
            <a:pPr indent="0" marL="0">
              <a:buNone/>
            </a:pPr>
            <a:r>
              <a:rPr lang="es-PE" sz="1500" dirty="0">
                <a:solidFill>
                  <a:schemeClr val="tx1"/>
                </a:solidFill>
              </a:rPr>
              <a:t>Notación de clase (Aho et al., 2006): no terminales en </a:t>
            </a:r>
            <a:r>
              <a:rPr lang="es-PE" sz="1500" i="1" dirty="0">
                <a:solidFill>
                  <a:schemeClr val="tx1"/>
                </a:solidFill>
              </a:rPr>
              <a:t>cursiva</a:t>
            </a:r>
            <a:r>
              <a:rPr lang="es-PE" sz="1500" dirty="0">
                <a:solidFill>
                  <a:schemeClr val="tx1"/>
                </a:solidFill>
              </a:rPr>
              <a:t>, terminales en </a:t>
            </a:r>
            <a:r>
              <a:rPr lang="es-PE" sz="1500" b="1" dirty="0">
                <a:solidFill>
                  <a:schemeClr val="tx1"/>
                </a:solidFill>
              </a:rPr>
              <a:t>negrita</a:t>
            </a:r>
            <a:r>
              <a:rPr lang="es-PE" sz="1500" dirty="0">
                <a:solidFill>
                  <a:schemeClr val="tx1"/>
                </a:solidFill>
              </a:rPr>
              <a:t>, | separa alternativas y ε es la cadena vacía.</a:t>
            </a:r>
            <a:endParaRPr lang="es-PE" sz="1500" dirty="0"/>
          </a:p>
        </p:txBody>
      </p:sp>
      <p:sp>
        <p:nvSpPr>
          <p:cNvPr id="10" name="Pixel"/>
          <p:cNvSpPr/>
          <p:nvPr/>
        </p:nvSpPr>
        <p:spPr>
          <a:xfrm>
            <a:off x="548640" y="5193792"/>
            <a:ext cx="128016" cy="128016"/>
          </a:xfrm>
          <a:prstGeom prst="rect">
            <a:avLst/>
          </a:prstGeom>
          <a:solidFill>
            <a:schemeClr val="accent1"/>
          </a:solidFill>
          <a:ln w="12700">
            <a:solidFill>
              <a:schemeClr val="accent1"/>
            </a:solidFill>
            <a:prstDash val="solid"/>
          </a:ln>
        </p:spPr>
      </p:sp>
      <p:sp>
        <p:nvSpPr>
          <p:cNvPr id="11" name="Text 8"/>
          <p:cNvSpPr txBox="1"/>
          <p:nvPr/>
        </p:nvSpPr>
        <p:spPr>
          <a:xfrm>
            <a:off x="868680" y="5120640"/>
            <a:ext cx="4663440" cy="475488"/>
          </a:xfrm>
          <a:prstGeom prst="rect">
            <a:avLst/>
          </a:prstGeom>
          <a:noFill/>
          <a:ln/>
        </p:spPr>
        <p:txBody>
          <a:bodyPr wrap="square" lIns="0" tIns="0" rIns="0" bIns="0" rtlCol="0" anchor="t"/>
          <a:lstStyle/>
          <a:p>
            <a:pPr indent="0" marL="0">
              <a:buNone/>
            </a:pPr>
            <a:r>
              <a:rPr lang="es-PE" sz="1500" b="1" dirty="0">
                <a:solidFill>
                  <a:schemeClr val="tx1"/>
                </a:solidFill>
              </a:rPr>
              <a:t>id</a:t>
            </a:r>
            <a:r>
              <a:rPr lang="es-PE" sz="1500" dirty="0">
                <a:solidFill>
                  <a:schemeClr val="tx1"/>
                </a:solidFill>
              </a:rPr>
              <a:t>, </a:t>
            </a:r>
            <a:r>
              <a:rPr lang="es-PE" sz="1500" b="1" dirty="0">
                <a:solidFill>
                  <a:schemeClr val="tx1"/>
                </a:solidFill>
              </a:rPr>
              <a:t>num</a:t>
            </a:r>
            <a:r>
              <a:rPr lang="es-PE" sz="1500" dirty="0">
                <a:solidFill>
                  <a:schemeClr val="tx1"/>
                </a:solidFill>
              </a:rPr>
              <a:t> y </a:t>
            </a:r>
            <a:r>
              <a:rPr lang="es-PE" sz="1500" b="1" dirty="0">
                <a:solidFill>
                  <a:schemeClr val="tx1"/>
                </a:solidFill>
              </a:rPr>
              <a:t>dec</a:t>
            </a:r>
            <a:r>
              <a:rPr lang="es-PE" sz="1500" dirty="0">
                <a:solidFill>
                  <a:schemeClr val="tx1"/>
                </a:solidFill>
              </a:rPr>
              <a:t> representan los tokens ID, NUM_ENTERO y NUM_REAL.</a:t>
            </a:r>
            <a:endParaRPr lang="es-PE" sz="1500" dirty="0"/>
          </a:p>
        </p:txBody>
      </p:sp>
      <p:sp>
        <p:nvSpPr>
          <p:cNvPr id="12" name="Pixel"/>
          <p:cNvSpPr/>
          <p:nvPr/>
        </p:nvSpPr>
        <p:spPr>
          <a:xfrm>
            <a:off x="548640" y="5742432"/>
            <a:ext cx="128016" cy="128016"/>
          </a:xfrm>
          <a:prstGeom prst="rect">
            <a:avLst/>
          </a:prstGeom>
          <a:solidFill>
            <a:schemeClr val="accent1"/>
          </a:solidFill>
          <a:ln w="12700">
            <a:solidFill>
              <a:schemeClr val="accent1"/>
            </a:solidFill>
            <a:prstDash val="solid"/>
          </a:ln>
        </p:spPr>
      </p:sp>
      <p:sp>
        <p:nvSpPr>
          <p:cNvPr id="13" name="Text 10"/>
          <p:cNvSpPr txBox="1"/>
          <p:nvPr/>
        </p:nvSpPr>
        <p:spPr>
          <a:xfrm>
            <a:off x="868680" y="5669280"/>
            <a:ext cx="4663440" cy="274320"/>
          </a:xfrm>
          <a:prstGeom prst="rect">
            <a:avLst/>
          </a:prstGeom>
          <a:noFill/>
          <a:ln/>
        </p:spPr>
        <p:txBody>
          <a:bodyPr wrap="square" lIns="0" tIns="0" rIns="0" bIns="0" rtlCol="0" anchor="t"/>
          <a:lstStyle/>
          <a:p>
            <a:pPr indent="0" marL="0">
              <a:buNone/>
            </a:pPr>
            <a:r>
              <a:rPr lang="es-PE" sz="1500" dirty="0">
                <a:solidFill>
                  <a:schemeClr val="tx1"/>
                </a:solidFill>
              </a:rPr>
              <a:t>Las listas usan recursión por la izquierda.</a:t>
            </a:r>
            <a:endParaRPr lang="es-PE" sz="1500" dirty="0"/>
          </a:p>
        </p:txBody>
      </p:sp>
      <p:sp>
        <p:nvSpPr>
          <p:cNvPr id="14" name="Tarjeta"/>
          <p:cNvSpPr/>
          <p:nvPr/>
        </p:nvSpPr>
        <p:spPr>
          <a:xfrm>
            <a:off x="5806440" y="1600200"/>
            <a:ext cx="5833872" cy="4343400"/>
          </a:xfrm>
          <a:prstGeom prst="rect">
            <a:avLst/>
          </a:prstGeom>
          <a:solidFill>
            <a:schemeClr val="bg2"/>
          </a:solidFill>
          <a:ln w="12700">
            <a:solidFill>
              <a:schemeClr val="bg2"/>
            </a:solidFill>
            <a:prstDash val="solid"/>
          </a:ln>
        </p:spPr>
      </p:sp>
      <p:sp>
        <p:nvSpPr>
          <p:cNvPr id="15" name="Text 12"/>
          <p:cNvSpPr txBox="1"/>
          <p:nvPr/>
        </p:nvSpPr>
        <p:spPr>
          <a:xfrm>
            <a:off x="6035040" y="1755648"/>
            <a:ext cx="5468112" cy="3291840"/>
          </a:xfrm>
          <a:prstGeom prst="rect">
            <a:avLst/>
          </a:prstGeom>
          <a:noFill/>
          <a:ln/>
        </p:spPr>
        <p:txBody>
          <a:bodyPr wrap="square" lIns="0" tIns="0" rIns="0" bIns="0" rtlCol="0" anchor="t"/>
          <a:lstStyle/>
          <a:p>
            <a:pPr indent="0" marL="0">
              <a:spcAft>
                <a:spcPts val="600"/>
              </a:spcAft>
              <a:buNone/>
            </a:pPr>
            <a:r>
              <a:rPr lang="es-PE" sz="1400" b="1" dirty="0">
                <a:solidFill>
                  <a:schemeClr val="accent1"/>
                </a:solidFill>
              </a:rPr>
              <a:t>G7. Expresiones</a:t>
            </a:r>
            <a:endParaRPr lang="es-PE" sz="1400" dirty="0"/>
          </a:p>
          <a:p>
            <a:pPr indent="0" marL="0">
              <a:spcAft>
                <a:spcPts val="600"/>
              </a:spcAft>
              <a:buNone/>
            </a:pPr>
            <a:r>
              <a:rPr lang="es-PE" sz="1500" i="1" dirty="0">
                <a:solidFill>
                  <a:schemeClr val="tx1"/>
                </a:solidFill>
              </a:rPr>
              <a:t>expr</a:t>
            </a:r>
            <a:r>
              <a:rPr lang="es-PE" sz="1500" dirty="0">
                <a:solidFill>
                  <a:schemeClr val="tx1"/>
                </a:solidFill>
              </a:rPr>
              <a:t> → </a:t>
            </a:r>
            <a:r>
              <a:rPr lang="es-PE" sz="1500" i="1" dirty="0">
                <a:solidFill>
                  <a:schemeClr val="tx1"/>
                </a:solidFill>
              </a:rPr>
              <a:t>expr</a:t>
            </a:r>
            <a:r>
              <a:rPr lang="es-PE" sz="1500" dirty="0">
                <a:solidFill>
                  <a:schemeClr val="tx1"/>
                </a:solidFill>
              </a:rPr>
              <a:t> </a:t>
            </a:r>
            <a:r>
              <a:rPr lang="es-PE" sz="1500" b="1" dirty="0">
                <a:solidFill>
                  <a:schemeClr val="tx1"/>
                </a:solidFill>
              </a:rPr>
              <a:t>||</a:t>
            </a:r>
            <a:r>
              <a:rPr lang="es-PE" sz="1500" dirty="0">
                <a:solidFill>
                  <a:schemeClr val="tx1"/>
                </a:solidFill>
              </a:rPr>
              <a:t> </a:t>
            </a:r>
            <a:r>
              <a:rPr lang="es-PE" sz="1500" i="1" dirty="0">
                <a:solidFill>
                  <a:schemeClr val="tx1"/>
                </a:solidFill>
              </a:rPr>
              <a:t>conj</a:t>
            </a:r>
            <a:r>
              <a:rPr lang="es-PE" sz="1500" dirty="0">
                <a:solidFill>
                  <a:schemeClr val="tx1"/>
                </a:solidFill>
              </a:rPr>
              <a:t> | </a:t>
            </a:r>
            <a:r>
              <a:rPr lang="es-PE" sz="1500" i="1" dirty="0">
                <a:solidFill>
                  <a:schemeClr val="tx1"/>
                </a:solidFill>
              </a:rPr>
              <a:t>conj</a:t>
            </a:r>
            <a:endParaRPr lang="es-PE" sz="1400" dirty="0"/>
          </a:p>
          <a:p>
            <a:pPr indent="0" marL="0">
              <a:spcAft>
                <a:spcPts val="600"/>
              </a:spcAft>
              <a:buNone/>
            </a:pPr>
            <a:r>
              <a:rPr lang="es-PE" sz="1500" i="1" dirty="0">
                <a:solidFill>
                  <a:schemeClr val="tx1"/>
                </a:solidFill>
              </a:rPr>
              <a:t>conj</a:t>
            </a:r>
            <a:r>
              <a:rPr lang="es-PE" sz="1500" dirty="0">
                <a:solidFill>
                  <a:schemeClr val="tx1"/>
                </a:solidFill>
              </a:rPr>
              <a:t> → </a:t>
            </a:r>
            <a:r>
              <a:rPr lang="es-PE" sz="1500" i="1" dirty="0">
                <a:solidFill>
                  <a:schemeClr val="tx1"/>
                </a:solidFill>
              </a:rPr>
              <a:t>conj</a:t>
            </a:r>
            <a:r>
              <a:rPr lang="es-PE" sz="1500" dirty="0">
                <a:solidFill>
                  <a:schemeClr val="tx1"/>
                </a:solidFill>
              </a:rPr>
              <a:t> </a:t>
            </a:r>
            <a:r>
              <a:rPr lang="es-PE" sz="1500" b="1" dirty="0">
                <a:solidFill>
                  <a:schemeClr val="tx1"/>
                </a:solidFill>
              </a:rPr>
              <a:t>&amp;&amp;</a:t>
            </a:r>
            <a:r>
              <a:rPr lang="es-PE" sz="1500" dirty="0">
                <a:solidFill>
                  <a:schemeClr val="tx1"/>
                </a:solidFill>
              </a:rPr>
              <a:t> </a:t>
            </a:r>
            <a:r>
              <a:rPr lang="es-PE" sz="1500" i="1" dirty="0">
                <a:solidFill>
                  <a:schemeClr val="tx1"/>
                </a:solidFill>
              </a:rPr>
              <a:t>rel</a:t>
            </a:r>
            <a:r>
              <a:rPr lang="es-PE" sz="1500" dirty="0">
                <a:solidFill>
                  <a:schemeClr val="tx1"/>
                </a:solidFill>
              </a:rPr>
              <a:t> | </a:t>
            </a:r>
            <a:r>
              <a:rPr lang="es-PE" sz="1500" i="1" dirty="0">
                <a:solidFill>
                  <a:schemeClr val="tx1"/>
                </a:solidFill>
              </a:rPr>
              <a:t>rel</a:t>
            </a:r>
            <a:endParaRPr lang="es-PE" sz="1400" dirty="0"/>
          </a:p>
          <a:p>
            <a:pPr indent="0" marL="0">
              <a:spcAft>
                <a:spcPts val="600"/>
              </a:spcAft>
              <a:buNone/>
            </a:pPr>
            <a:r>
              <a:rPr lang="es-PE" sz="1500" i="1" dirty="0">
                <a:solidFill>
                  <a:schemeClr val="tx1"/>
                </a:solidFill>
              </a:rPr>
              <a:t>rel</a:t>
            </a:r>
            <a:r>
              <a:rPr lang="es-PE" sz="1500" dirty="0">
                <a:solidFill>
                  <a:schemeClr val="tx1"/>
                </a:solidFill>
              </a:rPr>
              <a:t> → </a:t>
            </a:r>
            <a:r>
              <a:rPr lang="es-PE" sz="1500" i="1" dirty="0">
                <a:solidFill>
                  <a:schemeClr val="tx1"/>
                </a:solidFill>
              </a:rPr>
              <a:t>arit</a:t>
            </a:r>
            <a:r>
              <a:rPr lang="es-PE" sz="1500" dirty="0">
                <a:solidFill>
                  <a:schemeClr val="tx1"/>
                </a:solidFill>
              </a:rPr>
              <a:t> </a:t>
            </a:r>
            <a:r>
              <a:rPr lang="es-PE" sz="1500" i="1" dirty="0">
                <a:solidFill>
                  <a:schemeClr val="tx1"/>
                </a:solidFill>
              </a:rPr>
              <a:t>oprel</a:t>
            </a:r>
            <a:r>
              <a:rPr lang="es-PE" sz="1500" dirty="0">
                <a:solidFill>
                  <a:schemeClr val="tx1"/>
                </a:solidFill>
              </a:rPr>
              <a:t> </a:t>
            </a:r>
            <a:r>
              <a:rPr lang="es-PE" sz="1500" i="1" dirty="0">
                <a:solidFill>
                  <a:schemeClr val="tx1"/>
                </a:solidFill>
              </a:rPr>
              <a:t>arit</a:t>
            </a:r>
            <a:r>
              <a:rPr lang="es-PE" sz="1500" dirty="0">
                <a:solidFill>
                  <a:schemeClr val="tx1"/>
                </a:solidFill>
              </a:rPr>
              <a:t> | </a:t>
            </a:r>
            <a:r>
              <a:rPr lang="es-PE" sz="1500" i="1" dirty="0">
                <a:solidFill>
                  <a:schemeClr val="tx1"/>
                </a:solidFill>
              </a:rPr>
              <a:t>arit</a:t>
            </a:r>
            <a:endParaRPr lang="es-PE" sz="1400" dirty="0"/>
          </a:p>
          <a:p>
            <a:pPr indent="0" marL="0">
              <a:spcAft>
                <a:spcPts val="600"/>
              </a:spcAft>
              <a:buNone/>
            </a:pPr>
            <a:r>
              <a:rPr lang="es-PE" sz="1500" i="1" dirty="0">
                <a:solidFill>
                  <a:schemeClr val="tx1"/>
                </a:solidFill>
              </a:rPr>
              <a:t>oprel</a:t>
            </a:r>
            <a:r>
              <a:rPr lang="es-PE" sz="1500" dirty="0">
                <a:solidFill>
                  <a:schemeClr val="tx1"/>
                </a:solidFill>
              </a:rPr>
              <a:t> → </a:t>
            </a:r>
            <a:r>
              <a:rPr lang="es-PE" sz="1500" b="1" dirty="0">
                <a:solidFill>
                  <a:schemeClr val="tx1"/>
                </a:solidFill>
              </a:rPr>
              <a:t>&lt;</a:t>
            </a:r>
            <a:r>
              <a:rPr lang="es-PE" sz="1500" dirty="0">
                <a:solidFill>
                  <a:schemeClr val="tx1"/>
                </a:solidFill>
              </a:rPr>
              <a:t> | </a:t>
            </a:r>
            <a:r>
              <a:rPr lang="es-PE" sz="1500" b="1" dirty="0">
                <a:solidFill>
                  <a:schemeClr val="tx1"/>
                </a:solidFill>
              </a:rPr>
              <a:t>&gt;</a:t>
            </a:r>
            <a:r>
              <a:rPr lang="es-PE" sz="1500" dirty="0">
                <a:solidFill>
                  <a:schemeClr val="tx1"/>
                </a:solidFill>
              </a:rPr>
              <a:t> | </a:t>
            </a:r>
            <a:r>
              <a:rPr lang="es-PE" sz="1500" b="1" dirty="0">
                <a:solidFill>
                  <a:schemeClr val="tx1"/>
                </a:solidFill>
              </a:rPr>
              <a:t>&lt;=</a:t>
            </a:r>
            <a:r>
              <a:rPr lang="es-PE" sz="1500" dirty="0">
                <a:solidFill>
                  <a:schemeClr val="tx1"/>
                </a:solidFill>
              </a:rPr>
              <a:t> | </a:t>
            </a:r>
            <a:r>
              <a:rPr lang="es-PE" sz="1500" b="1" dirty="0">
                <a:solidFill>
                  <a:schemeClr val="tx1"/>
                </a:solidFill>
              </a:rPr>
              <a:t>&gt;=</a:t>
            </a:r>
            <a:r>
              <a:rPr lang="es-PE" sz="1500" dirty="0">
                <a:solidFill>
                  <a:schemeClr val="tx1"/>
                </a:solidFill>
              </a:rPr>
              <a:t> | </a:t>
            </a:r>
            <a:r>
              <a:rPr lang="es-PE" sz="1500" b="1" dirty="0">
                <a:solidFill>
                  <a:schemeClr val="tx1"/>
                </a:solidFill>
              </a:rPr>
              <a:t>==</a:t>
            </a:r>
            <a:r>
              <a:rPr lang="es-PE" sz="1500" dirty="0">
                <a:solidFill>
                  <a:schemeClr val="tx1"/>
                </a:solidFill>
              </a:rPr>
              <a:t> | </a:t>
            </a:r>
            <a:r>
              <a:rPr lang="es-PE" sz="1500" b="1" dirty="0">
                <a:solidFill>
                  <a:schemeClr val="tx1"/>
                </a:solidFill>
              </a:rPr>
              <a:t>!=</a:t>
            </a:r>
            <a:endParaRPr lang="es-PE" sz="1400" dirty="0"/>
          </a:p>
          <a:p>
            <a:pPr indent="0" marL="0">
              <a:spcAft>
                <a:spcPts val="600"/>
              </a:spcAft>
              <a:buNone/>
            </a:pPr>
            <a:r>
              <a:rPr lang="es-PE" sz="1500" i="1" dirty="0">
                <a:solidFill>
                  <a:schemeClr val="tx1"/>
                </a:solidFill>
              </a:rPr>
              <a:t>arit</a:t>
            </a:r>
            <a:r>
              <a:rPr lang="es-PE" sz="1500" dirty="0">
                <a:solidFill>
                  <a:schemeClr val="tx1"/>
                </a:solidFill>
              </a:rPr>
              <a:t> → </a:t>
            </a:r>
            <a:r>
              <a:rPr lang="es-PE" sz="1500" i="1" dirty="0">
                <a:solidFill>
                  <a:schemeClr val="tx1"/>
                </a:solidFill>
              </a:rPr>
              <a:t>arit</a:t>
            </a:r>
            <a:r>
              <a:rPr lang="es-PE" sz="1500" dirty="0">
                <a:solidFill>
                  <a:schemeClr val="tx1"/>
                </a:solidFill>
              </a:rPr>
              <a:t> </a:t>
            </a:r>
            <a:r>
              <a:rPr lang="es-PE" sz="1500" b="1" dirty="0">
                <a:solidFill>
                  <a:schemeClr val="tx1"/>
                </a:solidFill>
              </a:rPr>
              <a:t>+</a:t>
            </a:r>
            <a:r>
              <a:rPr lang="es-PE" sz="1500" dirty="0">
                <a:solidFill>
                  <a:schemeClr val="tx1"/>
                </a:solidFill>
              </a:rPr>
              <a:t> </a:t>
            </a:r>
            <a:r>
              <a:rPr lang="es-PE" sz="1500" i="1" dirty="0">
                <a:solidFill>
                  <a:schemeClr val="tx1"/>
                </a:solidFill>
              </a:rPr>
              <a:t>term</a:t>
            </a:r>
            <a:r>
              <a:rPr lang="es-PE" sz="1500" dirty="0">
                <a:solidFill>
                  <a:schemeClr val="tx1"/>
                </a:solidFill>
              </a:rPr>
              <a:t> | </a:t>
            </a:r>
            <a:r>
              <a:rPr lang="es-PE" sz="1500" i="1" dirty="0">
                <a:solidFill>
                  <a:schemeClr val="tx1"/>
                </a:solidFill>
              </a:rPr>
              <a:t>arit</a:t>
            </a:r>
            <a:r>
              <a:rPr lang="es-PE" sz="1500" dirty="0">
                <a:solidFill>
                  <a:schemeClr val="tx1"/>
                </a:solidFill>
              </a:rPr>
              <a:t> </a:t>
            </a:r>
            <a:r>
              <a:rPr lang="es-PE" sz="1500" b="1" dirty="0">
                <a:solidFill>
                  <a:schemeClr val="tx1"/>
                </a:solidFill>
              </a:rPr>
              <a:t>-</a:t>
            </a:r>
            <a:r>
              <a:rPr lang="es-PE" sz="1500" dirty="0">
                <a:solidFill>
                  <a:schemeClr val="tx1"/>
                </a:solidFill>
              </a:rPr>
              <a:t> </a:t>
            </a:r>
            <a:r>
              <a:rPr lang="es-PE" sz="1500" i="1" dirty="0">
                <a:solidFill>
                  <a:schemeClr val="tx1"/>
                </a:solidFill>
              </a:rPr>
              <a:t>term</a:t>
            </a:r>
            <a:r>
              <a:rPr lang="es-PE" sz="1500" dirty="0">
                <a:solidFill>
                  <a:schemeClr val="tx1"/>
                </a:solidFill>
              </a:rPr>
              <a:t> | </a:t>
            </a:r>
            <a:r>
              <a:rPr lang="es-PE" sz="1500" i="1" dirty="0">
                <a:solidFill>
                  <a:schemeClr val="tx1"/>
                </a:solidFill>
              </a:rPr>
              <a:t>term</a:t>
            </a:r>
            <a:endParaRPr lang="es-PE" sz="1400" dirty="0"/>
          </a:p>
          <a:p>
            <a:pPr indent="0" marL="0">
              <a:spcAft>
                <a:spcPts val="600"/>
              </a:spcAft>
              <a:buNone/>
            </a:pPr>
            <a:r>
              <a:rPr lang="es-PE" sz="1500" i="1" dirty="0">
                <a:solidFill>
                  <a:schemeClr val="tx1"/>
                </a:solidFill>
              </a:rPr>
              <a:t>term</a:t>
            </a:r>
            <a:r>
              <a:rPr lang="es-PE" sz="1500" dirty="0">
                <a:solidFill>
                  <a:schemeClr val="tx1"/>
                </a:solidFill>
              </a:rPr>
              <a:t> → </a:t>
            </a:r>
            <a:r>
              <a:rPr lang="es-PE" sz="1500" i="1" dirty="0">
                <a:solidFill>
                  <a:schemeClr val="tx1"/>
                </a:solidFill>
              </a:rPr>
              <a:t>term</a:t>
            </a:r>
            <a:r>
              <a:rPr lang="es-PE" sz="1500" dirty="0">
                <a:solidFill>
                  <a:schemeClr val="tx1"/>
                </a:solidFill>
              </a:rPr>
              <a:t> </a:t>
            </a:r>
            <a:r>
              <a:rPr lang="es-PE" sz="1500" b="1" dirty="0">
                <a:solidFill>
                  <a:schemeClr val="tx1"/>
                </a:solidFill>
              </a:rPr>
              <a:t>*</a:t>
            </a:r>
            <a:r>
              <a:rPr lang="es-PE" sz="1500" dirty="0">
                <a:solidFill>
                  <a:schemeClr val="tx1"/>
                </a:solidFill>
              </a:rPr>
              <a:t> </a:t>
            </a:r>
            <a:r>
              <a:rPr lang="es-PE" sz="1500" i="1" dirty="0">
                <a:solidFill>
                  <a:schemeClr val="tx1"/>
                </a:solidFill>
              </a:rPr>
              <a:t>unario</a:t>
            </a:r>
            <a:r>
              <a:rPr lang="es-PE" sz="1500" dirty="0">
                <a:solidFill>
                  <a:schemeClr val="tx1"/>
                </a:solidFill>
              </a:rPr>
              <a:t> | </a:t>
            </a:r>
            <a:r>
              <a:rPr lang="es-PE" sz="1500" i="1" dirty="0">
                <a:solidFill>
                  <a:schemeClr val="tx1"/>
                </a:solidFill>
              </a:rPr>
              <a:t>term</a:t>
            </a:r>
            <a:r>
              <a:rPr lang="es-PE" sz="1500" dirty="0">
                <a:solidFill>
                  <a:schemeClr val="tx1"/>
                </a:solidFill>
              </a:rPr>
              <a:t> </a:t>
            </a:r>
            <a:r>
              <a:rPr lang="es-PE" sz="1500" b="1" dirty="0">
                <a:solidFill>
                  <a:schemeClr val="tx1"/>
                </a:solidFill>
              </a:rPr>
              <a:t>/</a:t>
            </a:r>
            <a:r>
              <a:rPr lang="es-PE" sz="1500" dirty="0">
                <a:solidFill>
                  <a:schemeClr val="tx1"/>
                </a:solidFill>
              </a:rPr>
              <a:t> </a:t>
            </a:r>
            <a:r>
              <a:rPr lang="es-PE" sz="1500" i="1" dirty="0">
                <a:solidFill>
                  <a:schemeClr val="tx1"/>
                </a:solidFill>
              </a:rPr>
              <a:t>unario</a:t>
            </a:r>
            <a:r>
              <a:rPr lang="es-PE" sz="1500" dirty="0">
                <a:solidFill>
                  <a:schemeClr val="tx1"/>
                </a:solidFill>
              </a:rPr>
              <a:t> | </a:t>
            </a:r>
            <a:r>
              <a:rPr lang="es-PE" sz="1500" i="1" dirty="0">
                <a:solidFill>
                  <a:schemeClr val="tx1"/>
                </a:solidFill>
              </a:rPr>
              <a:t>unario</a:t>
            </a:r>
            <a:endParaRPr lang="es-PE" sz="1400" dirty="0"/>
          </a:p>
          <a:p>
            <a:pPr indent="0" marL="0">
              <a:spcAft>
                <a:spcPts val="600"/>
              </a:spcAft>
              <a:buNone/>
            </a:pPr>
            <a:r>
              <a:rPr lang="es-PE" sz="1500" i="1" dirty="0">
                <a:solidFill>
                  <a:schemeClr val="tx1"/>
                </a:solidFill>
              </a:rPr>
              <a:t>unario</a:t>
            </a:r>
            <a:r>
              <a:rPr lang="es-PE" sz="1500" dirty="0">
                <a:solidFill>
                  <a:schemeClr val="tx1"/>
                </a:solidFill>
              </a:rPr>
              <a:t> → </a:t>
            </a:r>
            <a:r>
              <a:rPr lang="es-PE" sz="1500" b="1" dirty="0">
                <a:solidFill>
                  <a:schemeClr val="tx1"/>
                </a:solidFill>
              </a:rPr>
              <a:t>!</a:t>
            </a:r>
            <a:r>
              <a:rPr lang="es-PE" sz="1500" dirty="0">
                <a:solidFill>
                  <a:schemeClr val="tx1"/>
                </a:solidFill>
              </a:rPr>
              <a:t> </a:t>
            </a:r>
            <a:r>
              <a:rPr lang="es-PE" sz="1500" i="1" dirty="0">
                <a:solidFill>
                  <a:schemeClr val="tx1"/>
                </a:solidFill>
              </a:rPr>
              <a:t>unario</a:t>
            </a:r>
            <a:r>
              <a:rPr lang="es-PE" sz="1500" dirty="0">
                <a:solidFill>
                  <a:schemeClr val="tx1"/>
                </a:solidFill>
              </a:rPr>
              <a:t> | </a:t>
            </a:r>
            <a:r>
              <a:rPr lang="es-PE" sz="1500" b="1" dirty="0">
                <a:solidFill>
                  <a:schemeClr val="tx1"/>
                </a:solidFill>
              </a:rPr>
              <a:t>-</a:t>
            </a:r>
            <a:r>
              <a:rPr lang="es-PE" sz="1500" dirty="0">
                <a:solidFill>
                  <a:schemeClr val="tx1"/>
                </a:solidFill>
              </a:rPr>
              <a:t> </a:t>
            </a:r>
            <a:r>
              <a:rPr lang="es-PE" sz="1500" i="1" dirty="0">
                <a:solidFill>
                  <a:schemeClr val="tx1"/>
                </a:solidFill>
              </a:rPr>
              <a:t>unario</a:t>
            </a:r>
            <a:r>
              <a:rPr lang="es-PE" sz="1500" dirty="0">
                <a:solidFill>
                  <a:schemeClr val="tx1"/>
                </a:solidFill>
              </a:rPr>
              <a:t> | </a:t>
            </a:r>
            <a:r>
              <a:rPr lang="es-PE" sz="1500" i="1" dirty="0">
                <a:solidFill>
                  <a:schemeClr val="tx1"/>
                </a:solidFill>
              </a:rPr>
              <a:t>factor</a:t>
            </a:r>
            <a:endParaRPr lang="es-PE" sz="1400" dirty="0"/>
          </a:p>
          <a:p>
            <a:pPr indent="0" marL="0">
              <a:spcAft>
                <a:spcPts val="600"/>
              </a:spcAft>
              <a:buNone/>
            </a:pPr>
            <a:r>
              <a:rPr lang="es-PE" sz="1500" i="1" dirty="0">
                <a:solidFill>
                  <a:schemeClr val="tx1"/>
                </a:solidFill>
              </a:rPr>
              <a:t>factor</a:t>
            </a:r>
            <a:r>
              <a:rPr lang="es-PE" sz="1500" dirty="0">
                <a:solidFill>
                  <a:schemeClr val="tx1"/>
                </a:solidFill>
              </a:rPr>
              <a:t> → </a:t>
            </a:r>
            <a:r>
              <a:rPr lang="es-PE" sz="1500" b="1" dirty="0">
                <a:solidFill>
                  <a:schemeClr val="tx1"/>
                </a:solidFill>
              </a:rPr>
              <a:t>(</a:t>
            </a:r>
            <a:r>
              <a:rPr lang="es-PE" sz="1500" dirty="0">
                <a:solidFill>
                  <a:schemeClr val="tx1"/>
                </a:solidFill>
              </a:rPr>
              <a:t> </a:t>
            </a:r>
            <a:r>
              <a:rPr lang="es-PE" sz="1500" i="1" dirty="0">
                <a:solidFill>
                  <a:schemeClr val="tx1"/>
                </a:solidFill>
              </a:rPr>
              <a:t>expr</a:t>
            </a:r>
            <a:r>
              <a:rPr lang="es-PE" sz="1500" dirty="0">
                <a:solidFill>
                  <a:schemeClr val="tx1"/>
                </a:solidFill>
              </a:rPr>
              <a:t> </a:t>
            </a:r>
            <a:r>
              <a:rPr lang="es-PE" sz="1500" b="1" dirty="0">
                <a:solidFill>
                  <a:schemeClr val="tx1"/>
                </a:solidFill>
              </a:rPr>
              <a:t>)</a:t>
            </a:r>
            <a:r>
              <a:rPr lang="es-PE" sz="1500" dirty="0">
                <a:solidFill>
                  <a:schemeClr val="tx1"/>
                </a:solidFill>
              </a:rPr>
              <a:t> | </a:t>
            </a:r>
            <a:r>
              <a:rPr lang="es-PE" sz="1500" b="1" dirty="0">
                <a:solidFill>
                  <a:schemeClr val="tx1"/>
                </a:solidFill>
              </a:rPr>
              <a:t>num</a:t>
            </a:r>
            <a:r>
              <a:rPr lang="es-PE" sz="1500" dirty="0">
                <a:solidFill>
                  <a:schemeClr val="tx1"/>
                </a:solidFill>
              </a:rPr>
              <a:t> | </a:t>
            </a:r>
            <a:r>
              <a:rPr lang="es-PE" sz="1500" b="1" dirty="0">
                <a:solidFill>
                  <a:schemeClr val="tx1"/>
                </a:solidFill>
              </a:rPr>
              <a:t>dec</a:t>
            </a:r>
            <a:r>
              <a:rPr lang="es-PE" sz="1500" dirty="0">
                <a:solidFill>
                  <a:schemeClr val="tx1"/>
                </a:solidFill>
              </a:rPr>
              <a:t> | </a:t>
            </a:r>
            <a:r>
              <a:rPr lang="es-PE" sz="1500" b="1" dirty="0">
                <a:solidFill>
                  <a:schemeClr val="tx1"/>
                </a:solidFill>
              </a:rPr>
              <a:t>verdadero</a:t>
            </a:r>
            <a:r>
              <a:rPr lang="es-PE" sz="1500" dirty="0">
                <a:solidFill>
                  <a:schemeClr val="tx1"/>
                </a:solidFill>
              </a:rPr>
              <a:t> | </a:t>
            </a:r>
            <a:r>
              <a:rPr lang="es-PE" sz="1500" b="1" dirty="0">
                <a:solidFill>
                  <a:schemeClr val="tx1"/>
                </a:solidFill>
              </a:rPr>
              <a:t>falso</a:t>
            </a:r>
            <a:r>
              <a:rPr lang="es-PE" sz="1500" dirty="0">
                <a:solidFill>
                  <a:schemeClr val="tx1"/>
                </a:solidFill>
              </a:rPr>
              <a:t> | </a:t>
            </a:r>
            <a:r>
              <a:rPr lang="es-PE" sz="1500" b="1" dirty="0">
                <a:solidFill>
                  <a:schemeClr val="tx1"/>
                </a:solidFill>
              </a:rPr>
              <a:t>id</a:t>
            </a:r>
            <a:endParaRPr lang="es-PE" sz="1400" dirty="0"/>
          </a:p>
        </p:txBody>
      </p:sp>
      <p:sp>
        <p:nvSpPr>
          <p:cNvPr id="16" name="Text 13"/>
          <p:cNvSpPr txBox="1"/>
          <p:nvPr/>
        </p:nvSpPr>
        <p:spPr>
          <a:xfrm>
            <a:off x="6035040" y="5074920"/>
            <a:ext cx="5422392" cy="685800"/>
          </a:xfrm>
          <a:prstGeom prst="rect">
            <a:avLst/>
          </a:prstGeom>
          <a:noFill/>
          <a:ln/>
        </p:spPr>
        <p:txBody>
          <a:bodyPr wrap="square" lIns="0" tIns="0" rIns="0" bIns="0" rtlCol="0" anchor="t"/>
          <a:lstStyle/>
          <a:p>
            <a:pPr indent="0" marL="0">
              <a:buNone/>
            </a:pPr>
            <a:r>
              <a:rPr lang="es-PE" sz="1500" b="1" dirty="0">
                <a:solidFill>
                  <a:schemeClr val="tx1"/>
                </a:solidFill>
              </a:rPr>
              <a:t>Un no terminal por nivel de precedencia, de menor a mayor: la gramática no es ambigua.</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9</a:t>
            </a:fld>
            <a:endParaRPr lang="es-P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Analizador sintáctico</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Derivación más a la izquierda del ejemplo 5.2</a:t>
            </a:r>
            <a:endParaRPr lang="es-PE" sz="2800" dirty="0"/>
          </a:p>
        </p:txBody>
      </p:sp>
      <p:sp>
        <p:nvSpPr>
          <p:cNvPr id="5" name="Código"/>
          <p:cNvSpPr txBox="1"/>
          <p:nvPr/>
        </p:nvSpPr>
        <p:spPr>
          <a:xfrm>
            <a:off x="548640" y="1554480"/>
            <a:ext cx="6766560" cy="457200"/>
          </a:xfrm>
          <a:prstGeom prst="rect">
            <a:avLst/>
          </a:prstGeom>
          <a:solidFill>
            <a:schemeClr val="accent3"/>
          </a:solidFill>
          <a:ln/>
        </p:spPr>
        <p:txBody>
          <a:bodyPr wrap="square" lIns="127000" tIns="101600" rIns="127000" bIns="101600" rtlCol="0" anchor="ctr"/>
          <a:lstStyle/>
          <a:p>
            <a:pPr indent="0" marL="0">
              <a:lnSpc>
                <a:spcPct val="100000"/>
              </a:lnSpc>
              <a:buNone/>
            </a:pPr>
            <a:r>
              <a:rPr lang="es-PE" sz="1500" dirty="0">
                <a:solidFill>
                  <a:schemeClr val="accent4"/>
                </a:solidFill>
                <a:latin typeface="Consolas" pitchFamily="34" charset="0"/>
                <a:ea typeface="Consolas" pitchFamily="34" charset="-122"/>
                <a:cs typeface="Consolas" pitchFamily="34" charset="-120"/>
              </a:rPr>
              <a:t>cuando</a:t>
            </a:r>
            <a:r>
              <a:rPr lang="es-PE" sz="1500" dirty="0">
                <a:solidFill>
                  <a:schemeClr val="bg1"/>
                </a:solidFill>
                <a:latin typeface="Consolas" pitchFamily="34" charset="0"/>
                <a:ea typeface="Consolas" pitchFamily="34" charset="-122"/>
                <a:cs typeface="Consolas" pitchFamily="34" charset="-120"/>
              </a:rPr>
              <a:t> </a:t>
            </a:r>
            <a:r>
              <a:rPr lang="es-PE" sz="1500" dirty="0">
                <a:solidFill>
                  <a:schemeClr val="bg1"/>
                </a:solidFill>
                <a:latin typeface="Consolas" pitchFamily="34" charset="0"/>
                <a:ea typeface="Consolas" pitchFamily="34" charset="-122"/>
                <a:cs typeface="Consolas" pitchFamily="34" charset="-120"/>
              </a:rPr>
              <a:t>fin_aturdimiento</a:t>
            </a:r>
            <a:r>
              <a:rPr lang="es-PE" sz="1500" dirty="0">
                <a:solidFill>
                  <a:schemeClr val="bg1"/>
                </a:solidFill>
                <a:latin typeface="Consolas" pitchFamily="34" charset="0"/>
                <a:ea typeface="Consolas" pitchFamily="34" charset="-122"/>
                <a:cs typeface="Consolas" pitchFamily="34" charset="-120"/>
              </a:rPr>
              <a:t> </a:t>
            </a:r>
            <a:r>
              <a:rPr lang="es-PE" sz="1500" dirty="0">
                <a:solidFill>
                  <a:schemeClr val="accent4"/>
                </a:solidFill>
                <a:latin typeface="Consolas" pitchFamily="34" charset="0"/>
                <a:ea typeface="Consolas" pitchFamily="34" charset="-122"/>
                <a:cs typeface="Consolas" pitchFamily="34" charset="-120"/>
              </a:rPr>
              <a:t>si</a:t>
            </a:r>
            <a:r>
              <a:rPr lang="es-PE" sz="1500" dirty="0">
                <a:solidFill>
                  <a:schemeClr val="bg1"/>
                </a:solidFill>
                <a:latin typeface="Consolas" pitchFamily="34" charset="0"/>
                <a:ea typeface="Consolas" pitchFamily="34" charset="-122"/>
                <a:cs typeface="Consolas" pitchFamily="34" charset="-120"/>
              </a:rPr>
              <a:t> </a:t>
            </a:r>
            <a:r>
              <a:rPr lang="es-PE" sz="1500" dirty="0">
                <a:solidFill>
                  <a:schemeClr val="bg1"/>
                </a:solidFill>
                <a:latin typeface="Consolas" pitchFamily="34" charset="0"/>
                <a:ea typeface="Consolas" pitchFamily="34" charset="-122"/>
                <a:cs typeface="Consolas" pitchFamily="34" charset="-120"/>
              </a:rPr>
              <a:t>vida</a:t>
            </a:r>
            <a:r>
              <a:rPr lang="es-PE" sz="1500" dirty="0">
                <a:solidFill>
                  <a:schemeClr val="bg1"/>
                </a:solidFill>
                <a:latin typeface="Consolas" pitchFamily="34" charset="0"/>
                <a:ea typeface="Consolas" pitchFamily="34" charset="-122"/>
                <a:cs typeface="Consolas" pitchFamily="34" charset="-120"/>
              </a:rPr>
              <a:t> &lt;= 0 -&gt; Derrotado;</a:t>
            </a:r>
            <a:endParaRPr lang="es-PE"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822960"/>
                <a:gridCol w="5212080"/>
                <a:gridCol w="5056632"/>
              </a:tblGrid>
              <a:tr h="512064">
                <a:tc>
                  <a:txBody>
                    <a:bodyPr/>
                    <a:lstStyle/>
                    <a:p>
                      <a:pPr algn="ctr" indent="0" marL="0">
                        <a:buNone/>
                      </a:pPr>
                      <a:r>
                        <a:rPr lang="es-PE" sz="1500" b="1" dirty="0">
                          <a:solidFill>
                            <a:schemeClr val="bg1"/>
                          </a:solidFill>
                        </a:rPr>
                        <a:t>Paso</a:t>
                      </a:r>
                      <a:endParaRPr lang="es-PE" sz="15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s-PE" sz="1500" b="1" dirty="0">
                          <a:solidFill>
                            <a:schemeClr val="bg1"/>
                          </a:solidFill>
                        </a:rPr>
                        <a:t>Forma sentencial</a:t>
                      </a:r>
                      <a:endParaRPr lang="es-PE" sz="15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s-PE" sz="1500" b="1" dirty="0">
                          <a:solidFill>
                            <a:schemeClr val="bg1"/>
                          </a:solidFill>
                        </a:rPr>
                        <a:t>Producción aplicada</a:t>
                      </a:r>
                      <a:endParaRPr lang="es-PE" sz="15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512064">
                <a:tc>
                  <a:txBody>
                    <a:bodyPr/>
                    <a:lstStyle/>
                    <a:p>
                      <a:pPr algn="ctr" indent="0" marL="0">
                        <a:buNone/>
                      </a:pPr>
                      <a:r>
                        <a:rPr lang="es-PE" sz="1600" b="1" dirty="0">
                          <a:solidFill>
                            <a:schemeClr val="accent1"/>
                          </a:solidFill>
                        </a:rPr>
                        <a:t>0</a:t>
                      </a:r>
                      <a:endParaRPr lang="es-PE" sz="16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600" i="1" dirty="0">
                          <a:solidFill>
                            <a:schemeClr val="tx1"/>
                          </a:solidFill>
                        </a:rPr>
                        <a:t>transicion</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600" i="1" dirty="0">
                          <a:solidFill>
                            <a:schemeClr val="tx1"/>
                          </a:solidFill>
                        </a:rPr>
                        <a:t>transicion</a:t>
                      </a:r>
                      <a:r>
                        <a:rPr lang="es-PE" sz="1600" dirty="0">
                          <a:solidFill>
                            <a:schemeClr val="tx1"/>
                          </a:solidFill>
                        </a:rPr>
                        <a:t> → </a:t>
                      </a:r>
                      <a:r>
                        <a:rPr lang="es-PE" sz="1600" b="1" dirty="0">
                          <a:solidFill>
                            <a:schemeClr val="tx1"/>
                          </a:solidFill>
                        </a:rPr>
                        <a:t>cuando</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i="1" dirty="0">
                          <a:solidFill>
                            <a:schemeClr val="tx1"/>
                          </a:solidFill>
                        </a:rPr>
                        <a:t>guarda</a:t>
                      </a:r>
                      <a:r>
                        <a:rPr lang="es-PE" sz="1600" dirty="0">
                          <a:solidFill>
                            <a:schemeClr val="tx1"/>
                          </a:solidFill>
                        </a:rPr>
                        <a:t> </a:t>
                      </a:r>
                      <a:r>
                        <a:rPr lang="es-PE" sz="1600" b="1" dirty="0">
                          <a:solidFill>
                            <a:schemeClr val="tx1"/>
                          </a:solidFill>
                        </a:rPr>
                        <a:t>-&gt;</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12064">
                <a:tc>
                  <a:txBody>
                    <a:bodyPr/>
                    <a:lstStyle/>
                    <a:p>
                      <a:pPr algn="ctr" indent="0" marL="0">
                        <a:buNone/>
                      </a:pPr>
                      <a:r>
                        <a:rPr lang="es-PE" sz="1600" b="1" dirty="0">
                          <a:solidFill>
                            <a:schemeClr val="accent1"/>
                          </a:solidFill>
                        </a:rPr>
                        <a:t>1</a:t>
                      </a:r>
                      <a:endParaRPr lang="es-PE" sz="16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600" b="1" dirty="0">
                          <a:solidFill>
                            <a:schemeClr val="tx1"/>
                          </a:solidFill>
                        </a:rPr>
                        <a:t>cuando</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i="1" dirty="0">
                          <a:solidFill>
                            <a:schemeClr val="tx1"/>
                          </a:solidFill>
                        </a:rPr>
                        <a:t>guarda</a:t>
                      </a:r>
                      <a:r>
                        <a:rPr lang="es-PE" sz="1600" dirty="0">
                          <a:solidFill>
                            <a:schemeClr val="tx1"/>
                          </a:solidFill>
                        </a:rPr>
                        <a:t> </a:t>
                      </a:r>
                      <a:r>
                        <a:rPr lang="es-PE" sz="1600" b="1" dirty="0">
                          <a:solidFill>
                            <a:schemeClr val="tx1"/>
                          </a:solidFill>
                        </a:rPr>
                        <a:t>-&gt;</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600" i="1" dirty="0">
                          <a:solidFill>
                            <a:schemeClr val="tx1"/>
                          </a:solidFill>
                        </a:rPr>
                        <a:t>guarda</a:t>
                      </a:r>
                      <a:r>
                        <a:rPr lang="es-PE" sz="1600" dirty="0">
                          <a:solidFill>
                            <a:schemeClr val="tx1"/>
                          </a:solidFill>
                        </a:rPr>
                        <a:t> → </a:t>
                      </a:r>
                      <a:r>
                        <a:rPr lang="es-PE" sz="1600" b="1" dirty="0">
                          <a:solidFill>
                            <a:schemeClr val="tx1"/>
                          </a:solidFill>
                        </a:rPr>
                        <a:t>si</a:t>
                      </a:r>
                      <a:r>
                        <a:rPr lang="es-PE" sz="1600" dirty="0">
                          <a:solidFill>
                            <a:schemeClr val="tx1"/>
                          </a:solidFill>
                        </a:rPr>
                        <a:t> </a:t>
                      </a:r>
                      <a:r>
                        <a:rPr lang="es-PE" sz="1600" i="1" dirty="0">
                          <a:solidFill>
                            <a:schemeClr val="tx1"/>
                          </a:solidFill>
                        </a:rPr>
                        <a:t>expr</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12064">
                <a:tc>
                  <a:txBody>
                    <a:bodyPr/>
                    <a:lstStyle/>
                    <a:p>
                      <a:pPr algn="ctr" indent="0" marL="0">
                        <a:buNone/>
                      </a:pPr>
                      <a:r>
                        <a:rPr lang="es-PE" sz="1600" b="1" dirty="0">
                          <a:solidFill>
                            <a:schemeClr val="accent1"/>
                          </a:solidFill>
                        </a:rPr>
                        <a:t>2</a:t>
                      </a:r>
                      <a:endParaRPr lang="es-PE" sz="16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600" b="1" dirty="0">
                          <a:solidFill>
                            <a:schemeClr val="tx1"/>
                          </a:solidFill>
                        </a:rPr>
                        <a:t>cuando</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si</a:t>
                      </a:r>
                      <a:r>
                        <a:rPr lang="es-PE" sz="1600" dirty="0">
                          <a:solidFill>
                            <a:schemeClr val="tx1"/>
                          </a:solidFill>
                        </a:rPr>
                        <a:t> </a:t>
                      </a:r>
                      <a:r>
                        <a:rPr lang="es-PE" sz="1600" i="1" dirty="0">
                          <a:solidFill>
                            <a:schemeClr val="tx1"/>
                          </a:solidFill>
                        </a:rPr>
                        <a:t>expr</a:t>
                      </a:r>
                      <a:r>
                        <a:rPr lang="es-PE" sz="1600" dirty="0">
                          <a:solidFill>
                            <a:schemeClr val="tx1"/>
                          </a:solidFill>
                        </a:rPr>
                        <a:t> </a:t>
                      </a:r>
                      <a:r>
                        <a:rPr lang="es-PE" sz="1600" b="1" dirty="0">
                          <a:solidFill>
                            <a:schemeClr val="tx1"/>
                          </a:solidFill>
                        </a:rPr>
                        <a:t>-&gt;</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s-PE" sz="1600" i="1" dirty="0">
                          <a:solidFill>
                            <a:schemeClr val="tx1"/>
                          </a:solidFill>
                        </a:rPr>
                        <a:t>expr</a:t>
                      </a:r>
                      <a:r>
                        <a:rPr lang="es-PE" sz="1600" b="1" dirty="0">
                          <a:solidFill>
                            <a:schemeClr val="accent1"/>
                          </a:solidFill>
                        </a:rPr>
                        <a:t> ⇒* </a:t>
                      </a:r>
                      <a:r>
                        <a:rPr lang="es-PE" sz="1600" b="1" dirty="0">
                          <a:solidFill>
                            <a:schemeClr val="tx1"/>
                          </a:solidFill>
                        </a:rPr>
                        <a:t>id</a:t>
                      </a:r>
                      <a:r>
                        <a:rPr lang="es-PE" sz="1600" dirty="0">
                          <a:solidFill>
                            <a:schemeClr val="tx1"/>
                          </a:solidFill>
                        </a:rPr>
                        <a:t> </a:t>
                      </a:r>
                      <a:r>
                        <a:rPr lang="es-PE" sz="1600" b="1" dirty="0">
                          <a:solidFill>
                            <a:schemeClr val="tx1"/>
                          </a:solidFill>
                        </a:rPr>
                        <a:t>&lt;=</a:t>
                      </a:r>
                      <a:r>
                        <a:rPr lang="es-PE" sz="1600" dirty="0">
                          <a:solidFill>
                            <a:schemeClr val="tx1"/>
                          </a:solidFill>
                        </a:rPr>
                        <a:t> </a:t>
                      </a:r>
                      <a:r>
                        <a:rPr lang="es-PE" sz="1600" b="1" dirty="0">
                          <a:solidFill>
                            <a:schemeClr val="tx1"/>
                          </a:solidFill>
                        </a:rPr>
                        <a:t>num</a:t>
                      </a:r>
                      <a:r>
                        <a:rPr lang="es-PE" sz="1400" dirty="0">
                          <a:solidFill>
                            <a:schemeClr val="tx2"/>
                          </a:solidFill>
                        </a:rPr>
                        <a:t>  (G7)</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12064">
                <a:tc>
                  <a:txBody>
                    <a:bodyPr/>
                    <a:lstStyle/>
                    <a:p>
                      <a:pPr algn="ctr" indent="0" marL="0">
                        <a:buNone/>
                      </a:pPr>
                      <a:r>
                        <a:rPr lang="es-PE" sz="1600" b="1" dirty="0">
                          <a:solidFill>
                            <a:schemeClr val="accent1"/>
                          </a:solidFill>
                        </a:rPr>
                        <a:t>3</a:t>
                      </a:r>
                      <a:endParaRPr lang="es-PE" sz="16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600" b="1" dirty="0">
                          <a:solidFill>
                            <a:schemeClr val="tx1"/>
                          </a:solidFill>
                        </a:rPr>
                        <a:t>cuando</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si</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&lt;=</a:t>
                      </a:r>
                      <a:r>
                        <a:rPr lang="es-PE" sz="1600" dirty="0">
                          <a:solidFill>
                            <a:schemeClr val="tx1"/>
                          </a:solidFill>
                        </a:rPr>
                        <a:t> </a:t>
                      </a:r>
                      <a:r>
                        <a:rPr lang="es-PE" sz="1600" b="1" dirty="0">
                          <a:solidFill>
                            <a:schemeClr val="tx1"/>
                          </a:solidFill>
                        </a:rPr>
                        <a:t>num</a:t>
                      </a:r>
                      <a:r>
                        <a:rPr lang="es-PE" sz="1600" dirty="0">
                          <a:solidFill>
                            <a:schemeClr val="tx1"/>
                          </a:solidFill>
                        </a:rPr>
                        <a:t> </a:t>
                      </a:r>
                      <a:r>
                        <a:rPr lang="es-PE" sz="1600" b="1" dirty="0">
                          <a:solidFill>
                            <a:schemeClr val="tx1"/>
                          </a:solidFill>
                        </a:rPr>
                        <a:t>-&gt;</a:t>
                      </a:r>
                      <a:r>
                        <a:rPr lang="es-PE" sz="1600" dirty="0">
                          <a:solidFill>
                            <a:schemeClr val="tx1"/>
                          </a:solidFill>
                        </a:rPr>
                        <a:t> </a:t>
                      </a:r>
                      <a:r>
                        <a:rPr lang="es-PE" sz="1600" b="1" dirty="0">
                          <a:solidFill>
                            <a:schemeClr val="tx1"/>
                          </a:solidFill>
                        </a:rPr>
                        <a:t>id</a:t>
                      </a:r>
                      <a:r>
                        <a:rPr lang="es-PE" sz="1600" dirty="0">
                          <a:solidFill>
                            <a:schemeClr val="tx1"/>
                          </a:solidFill>
                        </a:rPr>
                        <a:t> </a:t>
                      </a:r>
                      <a:r>
                        <a:rPr lang="es-PE" sz="1600" b="1" dirty="0">
                          <a:solidFill>
                            <a:schemeClr val="tx1"/>
                          </a:solidFill>
                        </a:rPr>
                        <a:t>;</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s-PE" sz="1600" i="1" dirty="0">
                          <a:solidFill>
                            <a:schemeClr val="tx2"/>
                          </a:solidFill>
                        </a:rPr>
                        <a:t>fin</a:t>
                      </a:r>
                      <a:endParaRPr lang="es-PE" sz="12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7" name="Tarjeta"/>
          <p:cNvSpPr/>
          <p:nvPr/>
        </p:nvSpPr>
        <p:spPr>
          <a:xfrm>
            <a:off x="548640" y="5029200"/>
            <a:ext cx="5408676" cy="1005840"/>
          </a:xfrm>
          <a:prstGeom prst="rect">
            <a:avLst/>
          </a:prstGeom>
          <a:solidFill>
            <a:schemeClr val="bg2"/>
          </a:solidFill>
          <a:ln w="12700">
            <a:solidFill>
              <a:schemeClr val="bg2"/>
            </a:solidFill>
            <a:prstDash val="solid"/>
          </a:ln>
        </p:spPr>
      </p:sp>
      <p:sp>
        <p:nvSpPr>
          <p:cNvPr id="8" name="Text 4"/>
          <p:cNvSpPr txBox="1"/>
          <p:nvPr/>
        </p:nvSpPr>
        <p:spPr>
          <a:xfrm>
            <a:off x="777240" y="5029200"/>
            <a:ext cx="1005840" cy="1005840"/>
          </a:xfrm>
          <a:prstGeom prst="rect">
            <a:avLst/>
          </a:prstGeom>
          <a:noFill/>
          <a:ln/>
        </p:spPr>
        <p:txBody>
          <a:bodyPr wrap="square" lIns="0" tIns="0" rIns="0" bIns="0" rtlCol="0" anchor="ctr"/>
          <a:lstStyle/>
          <a:p>
            <a:pPr indent="0" marL="0">
              <a:buNone/>
            </a:pPr>
            <a:r>
              <a:rPr lang="es-PE" sz="3000" b="1" dirty="0">
                <a:solidFill>
                  <a:schemeClr val="accent1"/>
                </a:solidFill>
                <a:latin typeface="Consolas" pitchFamily="34" charset="0"/>
                <a:ea typeface="Consolas" pitchFamily="34" charset="-122"/>
                <a:cs typeface="Consolas" pitchFamily="34" charset="-120"/>
              </a:rPr>
              <a:t>28</a:t>
            </a:r>
            <a:endParaRPr lang="es-PE" sz="3000" dirty="0"/>
          </a:p>
        </p:txBody>
      </p:sp>
      <p:sp>
        <p:nvSpPr>
          <p:cNvPr id="9" name="Text 5"/>
          <p:cNvSpPr txBox="1"/>
          <p:nvPr/>
        </p:nvSpPr>
        <p:spPr>
          <a:xfrm>
            <a:off x="1828800" y="5029200"/>
            <a:ext cx="3945636" cy="1005840"/>
          </a:xfrm>
          <a:prstGeom prst="rect">
            <a:avLst/>
          </a:prstGeom>
          <a:noFill/>
          <a:ln/>
        </p:spPr>
        <p:txBody>
          <a:bodyPr wrap="square" lIns="0" tIns="0" rIns="0" bIns="0" rtlCol="0" anchor="ctr"/>
          <a:lstStyle/>
          <a:p>
            <a:pPr indent="0" marL="0">
              <a:buNone/>
            </a:pPr>
            <a:r>
              <a:rPr lang="es-PE" sz="1500" dirty="0">
                <a:solidFill>
                  <a:schemeClr val="tx1"/>
                </a:solidFill>
              </a:rPr>
              <a:t>derivaciones más a la izquierda, cuatro por gramática (Apéndice B del informe)</a:t>
            </a:r>
            <a:endParaRPr lang="es-PE" sz="1500" dirty="0"/>
          </a:p>
        </p:txBody>
      </p:sp>
      <p:sp>
        <p:nvSpPr>
          <p:cNvPr id="10" name="Tarjeta"/>
          <p:cNvSpPr/>
          <p:nvPr/>
        </p:nvSpPr>
        <p:spPr>
          <a:xfrm>
            <a:off x="6231636" y="5029200"/>
            <a:ext cx="5408676" cy="1005840"/>
          </a:xfrm>
          <a:prstGeom prst="rect">
            <a:avLst/>
          </a:prstGeom>
          <a:solidFill>
            <a:schemeClr val="bg2"/>
          </a:solidFill>
          <a:ln w="12700">
            <a:solidFill>
              <a:schemeClr val="bg2"/>
            </a:solidFill>
            <a:prstDash val="solid"/>
          </a:ln>
        </p:spPr>
      </p:sp>
      <p:sp>
        <p:nvSpPr>
          <p:cNvPr id="11" name="Text 7"/>
          <p:cNvSpPr txBox="1"/>
          <p:nvPr/>
        </p:nvSpPr>
        <p:spPr>
          <a:xfrm>
            <a:off x="6460236" y="5029200"/>
            <a:ext cx="1005840" cy="1005840"/>
          </a:xfrm>
          <a:prstGeom prst="rect">
            <a:avLst/>
          </a:prstGeom>
          <a:noFill/>
          <a:ln/>
        </p:spPr>
        <p:txBody>
          <a:bodyPr wrap="square" lIns="0" tIns="0" rIns="0" bIns="0" rtlCol="0" anchor="ctr"/>
          <a:lstStyle/>
          <a:p>
            <a:pPr indent="0" marL="0">
              <a:buNone/>
            </a:pPr>
            <a:r>
              <a:rPr lang="es-PE" sz="3000" b="1" dirty="0">
                <a:solidFill>
                  <a:schemeClr val="accent1"/>
                </a:solidFill>
                <a:latin typeface="Consolas" pitchFamily="34" charset="0"/>
                <a:ea typeface="Consolas" pitchFamily="34" charset="-122"/>
                <a:cs typeface="Consolas" pitchFamily="34" charset="-120"/>
              </a:rPr>
              <a:t>⇒*</a:t>
            </a:r>
            <a:endParaRPr lang="es-PE" sz="3000" dirty="0"/>
          </a:p>
        </p:txBody>
      </p:sp>
      <p:sp>
        <p:nvSpPr>
          <p:cNvPr id="12" name="Text 8"/>
          <p:cNvSpPr txBox="1"/>
          <p:nvPr/>
        </p:nvSpPr>
        <p:spPr>
          <a:xfrm>
            <a:off x="7511796" y="5029200"/>
            <a:ext cx="3945636" cy="1005840"/>
          </a:xfrm>
          <a:prstGeom prst="rect">
            <a:avLst/>
          </a:prstGeom>
          <a:noFill/>
          <a:ln/>
        </p:spPr>
        <p:txBody>
          <a:bodyPr wrap="square" lIns="0" tIns="0" rIns="0" bIns="0" rtlCol="0" anchor="ctr"/>
          <a:lstStyle/>
          <a:p>
            <a:pPr indent="0" marL="0">
              <a:buNone/>
            </a:pPr>
            <a:r>
              <a:rPr lang="es-PE" sz="1500" dirty="0">
                <a:solidFill>
                  <a:schemeClr val="tx1"/>
                </a:solidFill>
              </a:rPr>
              <a:t>resume en un paso la subderivación que pertenece a otra gramática: aquí, expr en G7</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10</a:t>
            </a:fld>
            <a:endParaRPr lang="es-P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Analizador semántico</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Un visitor construye la tabla de símbolos</a:t>
            </a:r>
            <a:endParaRPr lang="es-PE" sz="2800" dirty="0"/>
          </a:p>
        </p:txBody>
      </p:sp>
      <p:sp>
        <p:nvSpPr>
          <p:cNvPr id="5" name="Text 2"/>
          <p:cNvSpPr txBox="1"/>
          <p:nvPr/>
        </p:nvSpPr>
        <p:spPr>
          <a:xfrm>
            <a:off x="548640" y="1536192"/>
            <a:ext cx="2743200" cy="274320"/>
          </a:xfrm>
          <a:prstGeom prst="rect">
            <a:avLst/>
          </a:prstGeom>
          <a:noFill/>
          <a:ln/>
        </p:spPr>
        <p:txBody>
          <a:bodyPr wrap="square" lIns="0" tIns="0" rIns="0" bIns="0" rtlCol="0" anchor="t"/>
          <a:lstStyle/>
          <a:p>
            <a:pPr indent="0" marL="0">
              <a:buNone/>
            </a:pPr>
            <a:r>
              <a:rPr lang="es-PE" sz="1200" b="1" dirty="0">
                <a:solidFill>
                  <a:schemeClr val="accent5"/>
                </a:solidFill>
              </a:rPr>
              <a:t>Programa</a:t>
            </a:r>
            <a:endParaRPr lang="es-PE" sz="1200" dirty="0"/>
          </a:p>
        </p:txBody>
      </p:sp>
      <p:sp>
        <p:nvSpPr>
          <p:cNvPr id="6" name="Código"/>
          <p:cNvSpPr txBox="1"/>
          <p:nvPr/>
        </p:nvSpPr>
        <p:spPr>
          <a:xfrm>
            <a:off x="548640" y="1810512"/>
            <a:ext cx="5074920" cy="2880360"/>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1  </a:t>
            </a:r>
            <a:r>
              <a:rPr lang="es-PE" sz="1300" dirty="0">
                <a:solidFill>
                  <a:schemeClr val="accent4"/>
                </a:solidFill>
                <a:latin typeface="Consolas" pitchFamily="34" charset="0"/>
                <a:ea typeface="Consolas" pitchFamily="34" charset="-122"/>
                <a:cs typeface="Consolas" pitchFamily="34" charset="-120"/>
              </a:rPr>
              <a:t>personaje</a:t>
            </a:r>
            <a:r>
              <a:rPr lang="es-PE" sz="1300" dirty="0">
                <a:solidFill>
                  <a:schemeClr val="bg1"/>
                </a:solidFill>
                <a:latin typeface="Consolas" pitchFamily="34" charset="0"/>
                <a:ea typeface="Consolas" pitchFamily="34" charset="-122"/>
                <a:cs typeface="Consolas" pitchFamily="34" charset="-120"/>
              </a:rPr>
              <a:t> Caballero {</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2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vida</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entero</a:t>
            </a:r>
            <a:r>
              <a:rPr lang="es-PE" sz="1300" dirty="0">
                <a:solidFill>
                  <a:schemeClr val="bg1"/>
                </a:solidFill>
                <a:latin typeface="Consolas" pitchFamily="34" charset="0"/>
                <a:ea typeface="Consolas" pitchFamily="34" charset="-122"/>
                <a:cs typeface="Consolas" pitchFamily="34" charset="-120"/>
              </a:rPr>
              <a:t> = 100;</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3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eventos</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saltar</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atacar</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aterrizar</a:t>
            </a:r>
            <a:r>
              <a:rPr lang="es-PE" sz="1300" dirty="0">
                <a:solidFill>
                  <a:schemeClr val="bg1"/>
                </a:solidFill>
                <a:latin typeface="Consolas" pitchFamily="34" charset="0"/>
                <a:ea typeface="Consolas" pitchFamily="34" charset="-122"/>
                <a:cs typeface="Consolas" pitchFamily="34" charset="-120"/>
              </a:rPr>
              <a:t>;</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4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inicial</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estado</a:t>
            </a:r>
            <a:r>
              <a:rPr lang="es-PE" sz="1300" dirty="0">
                <a:solidFill>
                  <a:schemeClr val="bg1"/>
                </a:solidFill>
                <a:latin typeface="Consolas" pitchFamily="34" charset="0"/>
                <a:ea typeface="Consolas" pitchFamily="34" charset="-122"/>
                <a:cs typeface="Consolas" pitchFamily="34" charset="-120"/>
              </a:rPr>
              <a:t> Reposo {</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5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saltar</a:t>
            </a:r>
            <a:r>
              <a:rPr lang="es-PE" sz="1300" dirty="0">
                <a:solidFill>
                  <a:schemeClr val="bg1"/>
                </a:solidFill>
                <a:latin typeface="Consolas" pitchFamily="34" charset="0"/>
                <a:ea typeface="Consolas" pitchFamily="34" charset="-122"/>
                <a:cs typeface="Consolas" pitchFamily="34" charset="-120"/>
              </a:rPr>
              <a:t> -&gt; Saltando;</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6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saltar</a:t>
            </a:r>
            <a:r>
              <a:rPr lang="es-PE" sz="1300" dirty="0">
                <a:solidFill>
                  <a:schemeClr val="bg1"/>
                </a:solidFill>
                <a:latin typeface="Consolas" pitchFamily="34" charset="0"/>
                <a:ea typeface="Consolas" pitchFamily="34" charset="-122"/>
                <a:cs typeface="Consolas" pitchFamily="34" charset="-120"/>
              </a:rPr>
              <a:t> -&gt; Reposo;</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7  </a:t>
            </a:r>
            <a:r>
              <a:rPr lang="es-PE" sz="1300" dirty="0">
                <a:solidFill>
                  <a:schemeClr val="bg1"/>
                </a:solidFill>
                <a:latin typeface="Consolas" pitchFamily="34" charset="0"/>
                <a:ea typeface="Consolas" pitchFamily="34" charset="-122"/>
                <a:cs typeface="Consolas" pitchFamily="34" charset="-120"/>
              </a:rPr>
              <a:t>    }</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8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estado</a:t>
            </a:r>
            <a:r>
              <a:rPr lang="es-PE" sz="1300" dirty="0">
                <a:solidFill>
                  <a:schemeClr val="bg1"/>
                </a:solidFill>
                <a:latin typeface="Consolas" pitchFamily="34" charset="0"/>
                <a:ea typeface="Consolas" pitchFamily="34" charset="-122"/>
                <a:cs typeface="Consolas" pitchFamily="34" charset="-120"/>
              </a:rPr>
              <a:t> Saltando {</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 9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aterrizar</a:t>
            </a:r>
            <a:r>
              <a:rPr lang="es-PE" sz="1300" dirty="0">
                <a:solidFill>
                  <a:schemeClr val="bg1"/>
                </a:solidFill>
                <a:latin typeface="Consolas" pitchFamily="34" charset="0"/>
                <a:ea typeface="Consolas" pitchFamily="34" charset="-122"/>
                <a:cs typeface="Consolas" pitchFamily="34" charset="-120"/>
              </a:rPr>
              <a:t> -&gt; Reposo;</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10  </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accent4"/>
                </a:solidFill>
                <a:latin typeface="Consolas" pitchFamily="34" charset="0"/>
                <a:ea typeface="Consolas" pitchFamily="34" charset="-122"/>
                <a:cs typeface="Consolas" pitchFamily="34" charset="-120"/>
              </a:rPr>
              <a:t>cuando</a:t>
            </a:r>
            <a:r>
              <a:rPr lang="es-PE" sz="1300" dirty="0">
                <a:solidFill>
                  <a:schemeClr val="bg1"/>
                </a:solidFill>
                <a:latin typeface="Consolas" pitchFamily="34" charset="0"/>
                <a:ea typeface="Consolas" pitchFamily="34" charset="-122"/>
                <a:cs typeface="Consolas" pitchFamily="34" charset="-120"/>
              </a:rPr>
              <a:t> </a:t>
            </a:r>
            <a:r>
              <a:rPr lang="es-PE" sz="1300" dirty="0">
                <a:solidFill>
                  <a:schemeClr val="bg1"/>
                </a:solidFill>
                <a:latin typeface="Consolas" pitchFamily="34" charset="0"/>
                <a:ea typeface="Consolas" pitchFamily="34" charset="-122"/>
                <a:cs typeface="Consolas" pitchFamily="34" charset="-120"/>
              </a:rPr>
              <a:t>atacar</a:t>
            </a:r>
            <a:r>
              <a:rPr lang="es-PE" sz="1300" dirty="0">
                <a:solidFill>
                  <a:schemeClr val="bg1"/>
                </a:solidFill>
                <a:latin typeface="Consolas" pitchFamily="34" charset="0"/>
                <a:ea typeface="Consolas" pitchFamily="34" charset="-122"/>
                <a:cs typeface="Consolas" pitchFamily="34" charset="-120"/>
              </a:rPr>
              <a:t> -&gt; Volando;</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11  </a:t>
            </a:r>
            <a:r>
              <a:rPr lang="es-PE" sz="1300" dirty="0">
                <a:solidFill>
                  <a:schemeClr val="bg1"/>
                </a:solidFill>
                <a:latin typeface="Consolas" pitchFamily="34" charset="0"/>
                <a:ea typeface="Consolas" pitchFamily="34" charset="-122"/>
                <a:cs typeface="Consolas" pitchFamily="34" charset="-120"/>
              </a:rPr>
              <a:t>    }</a:t>
            </a:r>
            <a:endParaRPr lang="es-PE" sz="1300" dirty="0"/>
          </a:p>
          <a:p>
            <a:pPr indent="0" marL="0">
              <a:lnSpc>
                <a:spcPct val="100000"/>
              </a:lnSpc>
              <a:buNone/>
            </a:pPr>
            <a:r>
              <a:rPr lang="es-PE" sz="1300" dirty="0">
                <a:solidFill>
                  <a:schemeClr val="accent5"/>
                </a:solidFill>
                <a:latin typeface="Consolas" pitchFamily="34" charset="0"/>
                <a:ea typeface="Consolas" pitchFamily="34" charset="-122"/>
                <a:cs typeface="Consolas" pitchFamily="34" charset="-120"/>
              </a:rPr>
              <a:t>12  </a:t>
            </a:r>
            <a:r>
              <a:rPr lang="es-PE" sz="1300" dirty="0">
                <a:solidFill>
                  <a:schemeClr val="bg1"/>
                </a:solidFill>
                <a:latin typeface="Consolas" pitchFamily="34" charset="0"/>
                <a:ea typeface="Consolas" pitchFamily="34" charset="-122"/>
                <a:cs typeface="Consolas" pitchFamily="34" charset="-120"/>
              </a:rPr>
              <a:t>}</a:t>
            </a:r>
            <a:endParaRPr lang="es-PE" sz="1300" dirty="0"/>
          </a:p>
        </p:txBody>
      </p:sp>
      <p:sp>
        <p:nvSpPr>
          <p:cNvPr id="7" name="Text 4"/>
          <p:cNvSpPr txBox="1"/>
          <p:nvPr/>
        </p:nvSpPr>
        <p:spPr>
          <a:xfrm>
            <a:off x="5989320" y="1536192"/>
            <a:ext cx="5486400" cy="274320"/>
          </a:xfrm>
          <a:prstGeom prst="rect">
            <a:avLst/>
          </a:prstGeom>
          <a:noFill/>
          <a:ln/>
        </p:spPr>
        <p:txBody>
          <a:bodyPr wrap="square" lIns="0" tIns="0" rIns="0" bIns="0" rtlCol="0" anchor="t"/>
          <a:lstStyle/>
          <a:p>
            <a:pPr indent="0" marL="0">
              <a:buNone/>
            </a:pPr>
            <a:r>
              <a:rPr lang="es-PE" sz="1200" b="1" dirty="0">
                <a:solidFill>
                  <a:schemeClr val="accent5"/>
                </a:solidFill>
              </a:rPr>
              <a:t>Ámbito de Caballero (salida de --tabla)</a:t>
            </a:r>
            <a:endParaRPr lang="es-PE"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89320" y="1810512"/>
          <a:ext cx="5650992" cy="914400"/>
        </p:xfrm>
        <a:graphic>
          <a:graphicData uri="http://schemas.openxmlformats.org/drawingml/2006/table">
            <a:tbl>
              <a:tblPr/>
              <a:tblGrid>
                <a:gridCol w="1554480"/>
                <a:gridCol w="1325880"/>
                <a:gridCol w="1874520"/>
                <a:gridCol w="896112"/>
              </a:tblGrid>
              <a:tr h="411480">
                <a:tc>
                  <a:txBody>
                    <a:bodyPr/>
                    <a:lstStyle/>
                    <a:p>
                      <a:pPr algn="l" indent="0" marL="0">
                        <a:buNone/>
                      </a:pPr>
                      <a:r>
                        <a:rPr lang="es-PE" sz="1400" b="1" dirty="0">
                          <a:solidFill>
                            <a:schemeClr val="bg1"/>
                          </a:solidFill>
                        </a:rPr>
                        <a:t>Nombre</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algn="l" indent="0" marL="0">
                        <a:buNone/>
                      </a:pPr>
                      <a:r>
                        <a:rPr lang="es-PE" sz="1400" b="1" dirty="0">
                          <a:solidFill>
                            <a:schemeClr val="bg1"/>
                          </a:solidFill>
                        </a:rPr>
                        <a:t>Categoría</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algn="l" indent="0" marL="0">
                        <a:buNone/>
                      </a:pPr>
                      <a:r>
                        <a:rPr lang="es-PE" sz="1400" b="1" dirty="0">
                          <a:solidFill>
                            <a:schemeClr val="bg1"/>
                          </a:solidFill>
                        </a:rPr>
                        <a:t>Tipo o modificador</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c>
                  <a:txBody>
                    <a:bodyPr/>
                    <a:lstStyle/>
                    <a:p>
                      <a:pPr algn="ctr" indent="0" marL="0">
                        <a:buNone/>
                      </a:pPr>
                      <a:r>
                        <a:rPr lang="es-PE" sz="1400" b="1" dirty="0">
                          <a:solidFill>
                            <a:schemeClr val="bg1"/>
                          </a:solidFill>
                        </a:rPr>
                        <a:t>Línea</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1"/>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vida</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s-PE" sz="1400" dirty="0">
                          <a:solidFill>
                            <a:schemeClr val="tx1"/>
                          </a:solidFill>
                        </a:rPr>
                        <a:t>atributo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s-PE" sz="1400" dirty="0">
                          <a:solidFill>
                            <a:schemeClr val="tx1"/>
                          </a:solidFill>
                        </a:rPr>
                        <a:t>entero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s-PE" sz="1400" dirty="0">
                          <a:solidFill>
                            <a:schemeClr val="tx1"/>
                          </a:solidFill>
                        </a:rPr>
                        <a:t>2</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saltar</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s-PE" sz="1400" dirty="0">
                          <a:solidFill>
                            <a:schemeClr val="tx1"/>
                          </a:solidFill>
                        </a:rPr>
                        <a:t>evento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s-PE" sz="1400" dirty="0">
                          <a:solidFill>
                            <a:schemeClr val="tx1"/>
                          </a:solidFill>
                        </a:rPr>
                        <a:t>3</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atacar</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s-PE" sz="1400" dirty="0">
                          <a:solidFill>
                            <a:schemeClr val="tx1"/>
                          </a:solidFill>
                        </a:rPr>
                        <a:t>evento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s-PE" sz="1400" dirty="0">
                          <a:solidFill>
                            <a:schemeClr val="tx1"/>
                          </a:solidFill>
                        </a:rPr>
                        <a:t>3</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aterrizar</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s-PE" sz="1400" dirty="0">
                          <a:solidFill>
                            <a:schemeClr val="tx1"/>
                          </a:solidFill>
                        </a:rPr>
                        <a:t>evento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s-PE" sz="1400" dirty="0">
                          <a:solidFill>
                            <a:schemeClr val="tx1"/>
                          </a:solidFill>
                        </a:rPr>
                        <a:t>3</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Reposo</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s-PE" sz="1400" dirty="0">
                          <a:solidFill>
                            <a:schemeClr val="tx1"/>
                          </a:solidFill>
                        </a:rPr>
                        <a:t>estado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s-PE" sz="1400" dirty="0">
                          <a:solidFill>
                            <a:schemeClr val="tx1"/>
                          </a:solidFill>
                        </a:rPr>
                        <a:t>inicial</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ctr" indent="0" marL="0">
                        <a:buNone/>
                      </a:pPr>
                      <a:r>
                        <a:rPr lang="es-PE" sz="1400" dirty="0">
                          <a:solidFill>
                            <a:schemeClr val="tx1"/>
                          </a:solidFill>
                        </a:rPr>
                        <a:t>4</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11480">
                <a:tc>
                  <a:txBody>
                    <a:bodyPr/>
                    <a:lstStyle/>
                    <a:p>
                      <a:pPr algn="l" indent="0" marL="0">
                        <a:buNone/>
                      </a:pPr>
                      <a:r>
                        <a:rPr lang="es-PE" sz="1400" dirty="0">
                          <a:solidFill>
                            <a:schemeClr val="tx1"/>
                          </a:solidFill>
                          <a:latin typeface="Consolas" pitchFamily="34" charset="0"/>
                          <a:ea typeface="Consolas" pitchFamily="34" charset="-122"/>
                          <a:cs typeface="Consolas" pitchFamily="34" charset="-120"/>
                        </a:rPr>
                        <a:t>Saltando</a:t>
                      </a:r>
                      <a:endParaRPr lang="es-PE" sz="1400" dirty="0">
                        <a:latin typeface="Consolas" charset="0"/>
                        <a:ea typeface="Consolas" charset="0"/>
                        <a:cs typeface="Consolas" charset="0"/>
                      </a:endParaRPr>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s-PE" sz="1400" dirty="0">
                          <a:solidFill>
                            <a:schemeClr val="tx1"/>
                          </a:solidFill>
                        </a:rPr>
                        <a:t>estado</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s-PE" sz="1400" dirty="0">
                          <a:solidFill>
                            <a:schemeClr val="tx1"/>
                          </a:solidFill>
                        </a:rPr>
                        <a:t>8</a:t>
                      </a:r>
                      <a:endParaRPr lang="es-PE" sz="1400" dirty="0"/>
                    </a:p>
                  </a:txBody>
                  <a:tcPr marL="91440" marR="91440"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548640" y="4919472"/>
            <a:ext cx="5486400" cy="274320"/>
          </a:xfrm>
          <a:prstGeom prst="rect">
            <a:avLst/>
          </a:prstGeom>
          <a:noFill/>
          <a:ln/>
        </p:spPr>
        <p:txBody>
          <a:bodyPr wrap="square" lIns="0" tIns="0" rIns="0" bIns="0" rtlCol="0" anchor="t"/>
          <a:lstStyle/>
          <a:p>
            <a:pPr indent="0" marL="0">
              <a:buNone/>
            </a:pPr>
            <a:r>
              <a:rPr lang="es-PE" sz="1200" b="1" dirty="0">
                <a:solidFill>
                  <a:schemeClr val="accent5"/>
                </a:solidFill>
              </a:rPr>
              <a:t>Lo que la tabla dice del autómata</a:t>
            </a:r>
            <a:endParaRPr lang="es-PE" sz="1200" dirty="0"/>
          </a:p>
        </p:txBody>
      </p:sp>
      <p:sp>
        <p:nvSpPr>
          <p:cNvPr id="10" name="Tarjeta"/>
          <p:cNvSpPr/>
          <p:nvPr/>
        </p:nvSpPr>
        <p:spPr>
          <a:xfrm>
            <a:off x="548640" y="5212080"/>
            <a:ext cx="4069080" cy="731520"/>
          </a:xfrm>
          <a:prstGeom prst="rect">
            <a:avLst/>
          </a:prstGeom>
          <a:solidFill>
            <a:schemeClr val="bg2"/>
          </a:solidFill>
          <a:ln w="12700">
            <a:solidFill>
              <a:schemeClr val="bg2"/>
            </a:solidFill>
            <a:prstDash val="solid"/>
          </a:ln>
        </p:spPr>
      </p:sp>
      <p:sp>
        <p:nvSpPr>
          <p:cNvPr id="11" name="Text 7"/>
          <p:cNvSpPr txBox="1"/>
          <p:nvPr/>
        </p:nvSpPr>
        <p:spPr>
          <a:xfrm>
            <a:off x="731520" y="5212080"/>
            <a:ext cx="3794760" cy="731520"/>
          </a:xfrm>
          <a:prstGeom prst="rect">
            <a:avLst/>
          </a:prstGeom>
          <a:noFill/>
          <a:ln/>
        </p:spPr>
        <p:txBody>
          <a:bodyPr wrap="square" lIns="0" tIns="0" rIns="0" bIns="0" rtlCol="0" anchor="ctr"/>
          <a:lstStyle/>
          <a:p>
            <a:pPr indent="0" marL="0">
              <a:buNone/>
            </a:pPr>
            <a:r>
              <a:rPr lang="es-PE" sz="1800" b="1" dirty="0">
                <a:solidFill>
                  <a:schemeClr val="accent1"/>
                </a:solidFill>
                <a:latin typeface="Consolas" pitchFamily="34" charset="0"/>
                <a:ea typeface="Consolas" pitchFamily="34" charset="-122"/>
                <a:cs typeface="Consolas" pitchFamily="34" charset="-120"/>
              </a:rPr>
              <a:t>Σ</a:t>
            </a:r>
            <a:r>
              <a:rPr lang="es-PE" sz="1600" dirty="0">
                <a:solidFill>
                  <a:schemeClr val="tx1"/>
                </a:solidFill>
                <a:latin typeface="Consolas" pitchFamily="34" charset="0"/>
                <a:ea typeface="Consolas" pitchFamily="34" charset="-122"/>
                <a:cs typeface="Consolas" pitchFamily="34" charset="-120"/>
              </a:rPr>
              <a:t> = {saltar, atacar, aterrizar}</a:t>
            </a:r>
            <a:endParaRPr lang="es-PE" sz="1800" dirty="0"/>
          </a:p>
        </p:txBody>
      </p:sp>
      <p:sp>
        <p:nvSpPr>
          <p:cNvPr id="12" name="Tarjeta"/>
          <p:cNvSpPr/>
          <p:nvPr/>
        </p:nvSpPr>
        <p:spPr>
          <a:xfrm>
            <a:off x="4892040" y="5212080"/>
            <a:ext cx="3017520" cy="731520"/>
          </a:xfrm>
          <a:prstGeom prst="rect">
            <a:avLst/>
          </a:prstGeom>
          <a:solidFill>
            <a:schemeClr val="bg2"/>
          </a:solidFill>
          <a:ln w="12700">
            <a:solidFill>
              <a:schemeClr val="bg2"/>
            </a:solidFill>
            <a:prstDash val="solid"/>
          </a:ln>
        </p:spPr>
      </p:sp>
      <p:sp>
        <p:nvSpPr>
          <p:cNvPr id="13" name="Text 9"/>
          <p:cNvSpPr txBox="1"/>
          <p:nvPr/>
        </p:nvSpPr>
        <p:spPr>
          <a:xfrm>
            <a:off x="5074920" y="5212080"/>
            <a:ext cx="2743200" cy="731520"/>
          </a:xfrm>
          <a:prstGeom prst="rect">
            <a:avLst/>
          </a:prstGeom>
          <a:noFill/>
          <a:ln/>
        </p:spPr>
        <p:txBody>
          <a:bodyPr wrap="square" lIns="0" tIns="0" rIns="0" bIns="0" rtlCol="0" anchor="ctr"/>
          <a:lstStyle/>
          <a:p>
            <a:pPr indent="0" marL="0">
              <a:buNone/>
            </a:pPr>
            <a:r>
              <a:rPr lang="es-PE" sz="1800" b="1" dirty="0">
                <a:solidFill>
                  <a:schemeClr val="accent1"/>
                </a:solidFill>
                <a:latin typeface="Consolas" pitchFamily="34" charset="0"/>
                <a:ea typeface="Consolas" pitchFamily="34" charset="-122"/>
                <a:cs typeface="Consolas" pitchFamily="34" charset="-120"/>
              </a:rPr>
              <a:t>Q</a:t>
            </a:r>
            <a:r>
              <a:rPr lang="es-PE" sz="1600" dirty="0">
                <a:solidFill>
                  <a:schemeClr val="tx1"/>
                </a:solidFill>
                <a:latin typeface="Consolas" pitchFamily="34" charset="0"/>
                <a:ea typeface="Consolas" pitchFamily="34" charset="-122"/>
                <a:cs typeface="Consolas" pitchFamily="34" charset="-120"/>
              </a:rPr>
              <a:t> = {Reposo, Saltando}</a:t>
            </a:r>
            <a:endParaRPr lang="es-PE" sz="1800" dirty="0"/>
          </a:p>
        </p:txBody>
      </p:sp>
      <p:sp>
        <p:nvSpPr>
          <p:cNvPr id="14" name="Tarjeta"/>
          <p:cNvSpPr/>
          <p:nvPr/>
        </p:nvSpPr>
        <p:spPr>
          <a:xfrm>
            <a:off x="8183880" y="5212080"/>
            <a:ext cx="1920240" cy="731520"/>
          </a:xfrm>
          <a:prstGeom prst="rect">
            <a:avLst/>
          </a:prstGeom>
          <a:solidFill>
            <a:schemeClr val="bg2"/>
          </a:solidFill>
          <a:ln w="12700">
            <a:solidFill>
              <a:schemeClr val="bg2"/>
            </a:solidFill>
            <a:prstDash val="solid"/>
          </a:ln>
        </p:spPr>
      </p:sp>
      <p:sp>
        <p:nvSpPr>
          <p:cNvPr id="15" name="Text 11"/>
          <p:cNvSpPr txBox="1"/>
          <p:nvPr/>
        </p:nvSpPr>
        <p:spPr>
          <a:xfrm>
            <a:off x="8366760" y="5212080"/>
            <a:ext cx="1645920" cy="731520"/>
          </a:xfrm>
          <a:prstGeom prst="rect">
            <a:avLst/>
          </a:prstGeom>
          <a:noFill/>
          <a:ln/>
        </p:spPr>
        <p:txBody>
          <a:bodyPr wrap="square" lIns="0" tIns="0" rIns="0" bIns="0" rtlCol="0" anchor="ctr"/>
          <a:lstStyle/>
          <a:p>
            <a:pPr indent="0" marL="0">
              <a:buNone/>
            </a:pPr>
            <a:r>
              <a:rPr lang="es-PE" sz="1800" b="1" dirty="0">
                <a:solidFill>
                  <a:schemeClr val="accent1"/>
                </a:solidFill>
                <a:latin typeface="Consolas" pitchFamily="34" charset="0"/>
                <a:ea typeface="Consolas" pitchFamily="34" charset="-122"/>
                <a:cs typeface="Consolas" pitchFamily="34" charset="-120"/>
              </a:rPr>
              <a:t>q</a:t>
            </a:r>
            <a:r>
              <a:rPr lang="es-PE" sz="1800" b="1" baseline="-40000" dirty="0">
                <a:solidFill>
                  <a:schemeClr val="accent1"/>
                </a:solidFill>
                <a:latin typeface="Consolas" pitchFamily="34" charset="0"/>
                <a:ea typeface="Consolas" pitchFamily="34" charset="-122"/>
                <a:cs typeface="Consolas" pitchFamily="34" charset="-120"/>
              </a:rPr>
              <a:t>0</a:t>
            </a:r>
            <a:r>
              <a:rPr lang="es-PE" sz="1600" dirty="0">
                <a:solidFill>
                  <a:schemeClr val="tx1"/>
                </a:solidFill>
                <a:latin typeface="Consolas" pitchFamily="34" charset="0"/>
                <a:ea typeface="Consolas" pitchFamily="34" charset="-122"/>
                <a:cs typeface="Consolas" pitchFamily="34" charset="-120"/>
              </a:rPr>
              <a:t> = Reposo</a:t>
            </a:r>
            <a:endParaRPr lang="es-PE" sz="1800" dirty="0"/>
          </a:p>
        </p:txBody>
      </p:sp>
      <p:sp>
        <p:nvSpPr>
          <p:cNvPr id="16" name="Tarjeta"/>
          <p:cNvSpPr/>
          <p:nvPr/>
        </p:nvSpPr>
        <p:spPr>
          <a:xfrm>
            <a:off x="10378440" y="5212080"/>
            <a:ext cx="1261872" cy="731520"/>
          </a:xfrm>
          <a:prstGeom prst="rect">
            <a:avLst/>
          </a:prstGeom>
          <a:solidFill>
            <a:schemeClr val="bg2"/>
          </a:solidFill>
          <a:ln w="12700">
            <a:solidFill>
              <a:schemeClr val="bg2"/>
            </a:solidFill>
            <a:prstDash val="solid"/>
          </a:ln>
        </p:spPr>
      </p:sp>
      <p:sp>
        <p:nvSpPr>
          <p:cNvPr id="17" name="Text 13"/>
          <p:cNvSpPr txBox="1"/>
          <p:nvPr/>
        </p:nvSpPr>
        <p:spPr>
          <a:xfrm>
            <a:off x="10561320" y="5212080"/>
            <a:ext cx="987552" cy="731520"/>
          </a:xfrm>
          <a:prstGeom prst="rect">
            <a:avLst/>
          </a:prstGeom>
          <a:noFill/>
          <a:ln/>
        </p:spPr>
        <p:txBody>
          <a:bodyPr wrap="square" lIns="0" tIns="0" rIns="0" bIns="0" rtlCol="0" anchor="ctr"/>
          <a:lstStyle/>
          <a:p>
            <a:pPr indent="0" marL="0">
              <a:buNone/>
            </a:pPr>
            <a:r>
              <a:rPr lang="es-PE" sz="1800" b="1" dirty="0">
                <a:solidFill>
                  <a:schemeClr val="accent1"/>
                </a:solidFill>
                <a:latin typeface="Consolas" pitchFamily="34" charset="0"/>
                <a:ea typeface="Consolas" pitchFamily="34" charset="-122"/>
                <a:cs typeface="Consolas" pitchFamily="34" charset="-120"/>
              </a:rPr>
              <a:t>F</a:t>
            </a:r>
            <a:r>
              <a:rPr lang="es-PE" sz="1600" dirty="0">
                <a:solidFill>
                  <a:schemeClr val="tx1"/>
                </a:solidFill>
                <a:latin typeface="Consolas" pitchFamily="34" charset="0"/>
                <a:ea typeface="Consolas" pitchFamily="34" charset="-122"/>
                <a:cs typeface="Consolas" pitchFamily="34" charset="-120"/>
              </a:rPr>
              <a:t> = ∅</a:t>
            </a:r>
            <a:endParaRPr lang="es-PE" sz="18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11</a:t>
            </a:fld>
            <a:endParaRPr lang="es-P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Analizador semántico</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Dos errores del autómata: E01 y E03</a:t>
            </a:r>
            <a:endParaRPr lang="es-PE" sz="2800" dirty="0"/>
          </a:p>
        </p:txBody>
      </p:sp>
      <p:sp>
        <p:nvSpPr>
          <p:cNvPr id="5" name="Encabezado del error"/>
          <p:cNvSpPr/>
          <p:nvPr/>
        </p:nvSpPr>
        <p:spPr>
          <a:xfrm>
            <a:off x="548640" y="1600200"/>
            <a:ext cx="5408676" cy="777240"/>
          </a:xfrm>
          <a:prstGeom prst="rect">
            <a:avLst/>
          </a:prstGeom>
          <a:solidFill>
            <a:schemeClr val="accent1"/>
          </a:solidFill>
          <a:ln w="12700">
            <a:solidFill>
              <a:schemeClr val="accent1"/>
            </a:solidFill>
            <a:prstDash val="solid"/>
          </a:ln>
        </p:spPr>
      </p:sp>
      <p:sp>
        <p:nvSpPr>
          <p:cNvPr id="6" name="Text 3"/>
          <p:cNvSpPr txBox="1"/>
          <p:nvPr/>
        </p:nvSpPr>
        <p:spPr>
          <a:xfrm>
            <a:off x="777240" y="1600200"/>
            <a:ext cx="914400" cy="777240"/>
          </a:xfrm>
          <a:prstGeom prst="rect">
            <a:avLst/>
          </a:prstGeom>
          <a:noFill/>
          <a:ln/>
        </p:spPr>
        <p:txBody>
          <a:bodyPr wrap="square" lIns="0" tIns="0" rIns="0" bIns="0" rtlCol="0" anchor="ctr"/>
          <a:lstStyle/>
          <a:p>
            <a:pPr indent="0" marL="0">
              <a:buNone/>
            </a:pPr>
            <a:r>
              <a:rPr lang="es-PE" sz="2400" b="1" dirty="0">
                <a:solidFill>
                  <a:schemeClr val="bg1"/>
                </a:solidFill>
                <a:latin typeface="Consolas" pitchFamily="34" charset="0"/>
                <a:ea typeface="Consolas" pitchFamily="34" charset="-122"/>
                <a:cs typeface="Consolas" pitchFamily="34" charset="-120"/>
              </a:rPr>
              <a:t>E01</a:t>
            </a:r>
            <a:endParaRPr lang="es-PE" sz="2400" dirty="0"/>
          </a:p>
        </p:txBody>
      </p:sp>
      <p:sp>
        <p:nvSpPr>
          <p:cNvPr id="7" name="Text 4"/>
          <p:cNvSpPr txBox="1"/>
          <p:nvPr/>
        </p:nvSpPr>
        <p:spPr>
          <a:xfrm>
            <a:off x="1691640" y="1600200"/>
            <a:ext cx="4082796" cy="777240"/>
          </a:xfrm>
          <a:prstGeom prst="rect">
            <a:avLst/>
          </a:prstGeom>
          <a:noFill/>
          <a:ln/>
        </p:spPr>
        <p:txBody>
          <a:bodyPr wrap="square" lIns="0" tIns="0" rIns="0" bIns="0" rtlCol="0" anchor="ctr"/>
          <a:lstStyle/>
          <a:p>
            <a:pPr indent="0" marL="0">
              <a:buNone/>
            </a:pPr>
            <a:r>
              <a:rPr lang="es-PE" sz="1700" b="1" dirty="0">
                <a:solidFill>
                  <a:schemeClr val="bg1"/>
                </a:solidFill>
              </a:rPr>
              <a:t>Transición hacia un estado no declarado</a:t>
            </a:r>
            <a:endParaRPr lang="es-PE" sz="1700" dirty="0"/>
          </a:p>
        </p:txBody>
      </p:sp>
      <p:sp>
        <p:nvSpPr>
          <p:cNvPr id="8" name="Tarjeta"/>
          <p:cNvSpPr/>
          <p:nvPr/>
        </p:nvSpPr>
        <p:spPr>
          <a:xfrm>
            <a:off x="548640" y="2377440"/>
            <a:ext cx="5408676" cy="2743200"/>
          </a:xfrm>
          <a:prstGeom prst="rect">
            <a:avLst/>
          </a:prstGeom>
          <a:solidFill>
            <a:schemeClr val="bg2"/>
          </a:solidFill>
          <a:ln w="12700">
            <a:solidFill>
              <a:schemeClr val="bg2"/>
            </a:solidFill>
            <a:prstDash val="solid"/>
          </a:ln>
        </p:spPr>
      </p:sp>
      <p:sp>
        <p:nvSpPr>
          <p:cNvPr id="9" name="Text 6"/>
          <p:cNvSpPr txBox="1"/>
          <p:nvPr/>
        </p:nvSpPr>
        <p:spPr>
          <a:xfrm>
            <a:off x="777240" y="2514600"/>
            <a:ext cx="4951476" cy="365760"/>
          </a:xfrm>
          <a:prstGeom prst="rect">
            <a:avLst/>
          </a:prstGeom>
          <a:noFill/>
          <a:ln/>
        </p:spPr>
        <p:txBody>
          <a:bodyPr wrap="square" lIns="0" tIns="0" rIns="0" bIns="0" rtlCol="0" anchor="t"/>
          <a:lstStyle/>
          <a:p>
            <a:pPr indent="0" marL="0">
              <a:buNone/>
            </a:pPr>
            <a:r>
              <a:rPr lang="es-PE" sz="1500" b="1" dirty="0">
                <a:solidFill>
                  <a:schemeClr val="tx1"/>
                </a:solidFill>
              </a:rPr>
              <a:t>Regla: </a:t>
            </a:r>
            <a:r>
              <a:rPr lang="es-PE" sz="1500" dirty="0">
                <a:solidFill>
                  <a:schemeClr val="tx1"/>
                </a:solidFill>
              </a:rPr>
              <a:t>δ solo puede llevar a estados de Q</a:t>
            </a:r>
            <a:endParaRPr lang="es-PE" sz="1500" dirty="0"/>
          </a:p>
        </p:txBody>
      </p:sp>
      <p:sp>
        <p:nvSpPr>
          <p:cNvPr id="10" name="Código"/>
          <p:cNvSpPr txBox="1"/>
          <p:nvPr/>
        </p:nvSpPr>
        <p:spPr>
          <a:xfrm>
            <a:off x="731520" y="2971800"/>
            <a:ext cx="5042916" cy="1965960"/>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 8  </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estado</a:t>
            </a:r>
            <a:r>
              <a:rPr lang="es-PE" sz="1200" dirty="0">
                <a:solidFill>
                  <a:schemeClr val="bg1"/>
                </a:solidFill>
                <a:latin typeface="Consolas" pitchFamily="34" charset="0"/>
                <a:ea typeface="Consolas" pitchFamily="34" charset="-122"/>
                <a:cs typeface="Consolas" pitchFamily="34" charset="-120"/>
              </a:rPr>
              <a:t> Saltando {</a:t>
            </a:r>
            <a:endParaRPr lang="es-PE" sz="1200" dirty="0"/>
          </a:p>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 9  </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cuando</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bg1"/>
                </a:solidFill>
                <a:latin typeface="Consolas" pitchFamily="34" charset="0"/>
                <a:ea typeface="Consolas" pitchFamily="34" charset="-122"/>
                <a:cs typeface="Consolas" pitchFamily="34" charset="-120"/>
              </a:rPr>
              <a:t>aterrizar</a:t>
            </a:r>
            <a:r>
              <a:rPr lang="es-PE" sz="1200" dirty="0">
                <a:solidFill>
                  <a:schemeClr val="bg1"/>
                </a:solidFill>
                <a:latin typeface="Consolas" pitchFamily="34" charset="0"/>
                <a:ea typeface="Consolas" pitchFamily="34" charset="-122"/>
                <a:cs typeface="Consolas" pitchFamily="34" charset="-120"/>
              </a:rPr>
              <a:t> -&gt; Reposo;</a:t>
            </a:r>
            <a:endParaRPr lang="es-PE" sz="1200" dirty="0"/>
          </a:p>
          <a:p>
            <a:pPr indent="0" marL="0">
              <a:lnSpc>
                <a:spcPct val="100000"/>
              </a:lnSpc>
              <a:buNone/>
            </a:pPr>
            <a:r>
              <a:rPr lang="es-PE" sz="1200" b="1" dirty="0">
                <a:solidFill>
                  <a:schemeClr val="accent1"/>
                </a:solidFill>
                <a:latin typeface="Consolas" pitchFamily="34" charset="0"/>
                <a:ea typeface="Consolas" pitchFamily="34" charset="-122"/>
                <a:cs typeface="Consolas" pitchFamily="34" charset="-120"/>
              </a:rPr>
              <a:t>10  </a:t>
            </a:r>
            <a:r>
              <a:rPr lang="es-PE" sz="1200" b="1" dirty="0">
                <a:solidFill>
                  <a:schemeClr val="bg1"/>
                </a:solidFill>
                <a:latin typeface="Consolas" pitchFamily="34" charset="0"/>
                <a:ea typeface="Consolas" pitchFamily="34" charset="-122"/>
                <a:cs typeface="Consolas" pitchFamily="34" charset="-120"/>
              </a:rPr>
              <a:t>        </a:t>
            </a:r>
            <a:r>
              <a:rPr lang="es-PE" sz="1200" b="1" dirty="0">
                <a:solidFill>
                  <a:schemeClr val="accent4"/>
                </a:solidFill>
                <a:latin typeface="Consolas" pitchFamily="34" charset="0"/>
                <a:ea typeface="Consolas" pitchFamily="34" charset="-122"/>
                <a:cs typeface="Consolas" pitchFamily="34" charset="-120"/>
              </a:rPr>
              <a:t>cuando</a:t>
            </a:r>
            <a:r>
              <a:rPr lang="es-PE" sz="1200" b="1" dirty="0">
                <a:solidFill>
                  <a:schemeClr val="bg1"/>
                </a:solidFill>
                <a:latin typeface="Consolas" pitchFamily="34" charset="0"/>
                <a:ea typeface="Consolas" pitchFamily="34" charset="-122"/>
                <a:cs typeface="Consolas" pitchFamily="34" charset="-120"/>
              </a:rPr>
              <a:t> </a:t>
            </a:r>
            <a:r>
              <a:rPr lang="es-PE" sz="1200" b="1" dirty="0">
                <a:solidFill>
                  <a:schemeClr val="bg1"/>
                </a:solidFill>
                <a:latin typeface="Consolas" pitchFamily="34" charset="0"/>
                <a:ea typeface="Consolas" pitchFamily="34" charset="-122"/>
                <a:cs typeface="Consolas" pitchFamily="34" charset="-120"/>
              </a:rPr>
              <a:t>atacar</a:t>
            </a:r>
            <a:r>
              <a:rPr lang="es-PE" sz="1200" b="1" dirty="0">
                <a:solidFill>
                  <a:schemeClr val="bg1"/>
                </a:solidFill>
                <a:latin typeface="Consolas" pitchFamily="34" charset="0"/>
                <a:ea typeface="Consolas" pitchFamily="34" charset="-122"/>
                <a:cs typeface="Consolas" pitchFamily="34" charset="-120"/>
              </a:rPr>
              <a:t> -&gt; Volando;</a:t>
            </a:r>
            <a:endParaRPr lang="es-PE" sz="1200" dirty="0"/>
          </a:p>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11  </a:t>
            </a:r>
            <a:r>
              <a:rPr lang="es-PE" sz="1200" dirty="0">
                <a:solidFill>
                  <a:schemeClr val="bg1"/>
                </a:solidFill>
                <a:latin typeface="Consolas" pitchFamily="34" charset="0"/>
                <a:ea typeface="Consolas" pitchFamily="34" charset="-122"/>
                <a:cs typeface="Consolas" pitchFamily="34" charset="-120"/>
              </a:rPr>
              <a:t>    }</a:t>
            </a:r>
            <a:endParaRPr lang="es-PE" sz="1200" dirty="0"/>
          </a:p>
          <a:p>
            <a:pPr indent="0" marL="0">
              <a:lnSpc>
                <a:spcPct val="100000"/>
              </a:lnSpc>
              <a:buNone/>
            </a:pPr>
            <a:r>
              <a:rPr lang="es-PE" sz="1200" dirty="0">
                <a:solidFill>
                  <a:schemeClr val="bg1"/>
                </a:solidFill>
                <a:latin typeface="Consolas" pitchFamily="34" charset="0"/>
                <a:ea typeface="Consolas" pitchFamily="34" charset="-122"/>
                <a:cs typeface="Consolas" pitchFamily="34" charset="-120"/>
              </a:rPr>
              <a:t> </a:t>
            </a:r>
            <a:endParaRPr lang="es-PE" sz="1200" dirty="0"/>
          </a:p>
          <a:p>
            <a:pPr indent="0" marL="0">
              <a:lnSpc>
                <a:spcPct val="100000"/>
              </a:lnSpc>
              <a:buNone/>
            </a:pPr>
            <a:r>
              <a:rPr lang="es-PE" sz="1200" b="1" dirty="0">
                <a:solidFill>
                  <a:schemeClr val="accent4"/>
                </a:solidFill>
                <a:latin typeface="Consolas" pitchFamily="34" charset="0"/>
                <a:ea typeface="Consolas" pitchFamily="34" charset="-122"/>
                <a:cs typeface="Consolas" pitchFamily="34" charset="-120"/>
              </a:rPr>
              <a:t>Error semántico E01 en la línea 10, columna 25:</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  la transición de 'Saltando' con 'atacar' va</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  hacia 'Volando', que no es un estado declarado</a:t>
            </a:r>
            <a:endParaRPr lang="es-PE" sz="1200" dirty="0"/>
          </a:p>
        </p:txBody>
      </p:sp>
      <p:sp>
        <p:nvSpPr>
          <p:cNvPr id="11" name="Encabezado del error"/>
          <p:cNvSpPr/>
          <p:nvPr/>
        </p:nvSpPr>
        <p:spPr>
          <a:xfrm>
            <a:off x="6231636" y="1600200"/>
            <a:ext cx="5408676" cy="777240"/>
          </a:xfrm>
          <a:prstGeom prst="rect">
            <a:avLst/>
          </a:prstGeom>
          <a:solidFill>
            <a:schemeClr val="accent1"/>
          </a:solidFill>
          <a:ln w="12700">
            <a:solidFill>
              <a:schemeClr val="accent1"/>
            </a:solidFill>
            <a:prstDash val="solid"/>
          </a:ln>
        </p:spPr>
      </p:sp>
      <p:sp>
        <p:nvSpPr>
          <p:cNvPr id="12" name="Text 9"/>
          <p:cNvSpPr txBox="1"/>
          <p:nvPr/>
        </p:nvSpPr>
        <p:spPr>
          <a:xfrm>
            <a:off x="6460236" y="1600200"/>
            <a:ext cx="914400" cy="777240"/>
          </a:xfrm>
          <a:prstGeom prst="rect">
            <a:avLst/>
          </a:prstGeom>
          <a:noFill/>
          <a:ln/>
        </p:spPr>
        <p:txBody>
          <a:bodyPr wrap="square" lIns="0" tIns="0" rIns="0" bIns="0" rtlCol="0" anchor="ctr"/>
          <a:lstStyle/>
          <a:p>
            <a:pPr indent="0" marL="0">
              <a:buNone/>
            </a:pPr>
            <a:r>
              <a:rPr lang="es-PE" sz="2400" b="1" dirty="0">
                <a:solidFill>
                  <a:schemeClr val="bg1"/>
                </a:solidFill>
                <a:latin typeface="Consolas" pitchFamily="34" charset="0"/>
                <a:ea typeface="Consolas" pitchFamily="34" charset="-122"/>
                <a:cs typeface="Consolas" pitchFamily="34" charset="-120"/>
              </a:rPr>
              <a:t>E03</a:t>
            </a:r>
            <a:endParaRPr lang="es-PE" sz="2400" dirty="0"/>
          </a:p>
        </p:txBody>
      </p:sp>
      <p:sp>
        <p:nvSpPr>
          <p:cNvPr id="13" name="Text 10"/>
          <p:cNvSpPr txBox="1"/>
          <p:nvPr/>
        </p:nvSpPr>
        <p:spPr>
          <a:xfrm>
            <a:off x="7374636" y="1600200"/>
            <a:ext cx="4082796" cy="777240"/>
          </a:xfrm>
          <a:prstGeom prst="rect">
            <a:avLst/>
          </a:prstGeom>
          <a:noFill/>
          <a:ln/>
        </p:spPr>
        <p:txBody>
          <a:bodyPr wrap="square" lIns="0" tIns="0" rIns="0" bIns="0" rtlCol="0" anchor="ctr"/>
          <a:lstStyle/>
          <a:p>
            <a:pPr indent="0" marL="0">
              <a:buNone/>
            </a:pPr>
            <a:r>
              <a:rPr lang="es-PE" sz="1700" b="1" dirty="0">
                <a:solidFill>
                  <a:schemeClr val="bg1"/>
                </a:solidFill>
              </a:rPr>
              <a:t>Transiciones no deterministas</a:t>
            </a:r>
            <a:endParaRPr lang="es-PE" sz="1700" dirty="0"/>
          </a:p>
        </p:txBody>
      </p:sp>
      <p:sp>
        <p:nvSpPr>
          <p:cNvPr id="14" name="Tarjeta"/>
          <p:cNvSpPr/>
          <p:nvPr/>
        </p:nvSpPr>
        <p:spPr>
          <a:xfrm>
            <a:off x="6231636" y="2377440"/>
            <a:ext cx="5408676" cy="2743200"/>
          </a:xfrm>
          <a:prstGeom prst="rect">
            <a:avLst/>
          </a:prstGeom>
          <a:solidFill>
            <a:schemeClr val="bg2"/>
          </a:solidFill>
          <a:ln w="12700">
            <a:solidFill>
              <a:schemeClr val="bg2"/>
            </a:solidFill>
            <a:prstDash val="solid"/>
          </a:ln>
        </p:spPr>
      </p:sp>
      <p:sp>
        <p:nvSpPr>
          <p:cNvPr id="15" name="Text 12"/>
          <p:cNvSpPr txBox="1"/>
          <p:nvPr/>
        </p:nvSpPr>
        <p:spPr>
          <a:xfrm>
            <a:off x="6460236" y="2514600"/>
            <a:ext cx="4951476" cy="365760"/>
          </a:xfrm>
          <a:prstGeom prst="rect">
            <a:avLst/>
          </a:prstGeom>
          <a:noFill/>
          <a:ln/>
        </p:spPr>
        <p:txBody>
          <a:bodyPr wrap="square" lIns="0" tIns="0" rIns="0" bIns="0" rtlCol="0" anchor="t"/>
          <a:lstStyle/>
          <a:p>
            <a:pPr indent="0" marL="0">
              <a:buNone/>
            </a:pPr>
            <a:r>
              <a:rPr lang="es-PE" sz="1500" b="1" dirty="0">
                <a:solidFill>
                  <a:schemeClr val="tx1"/>
                </a:solidFill>
              </a:rPr>
              <a:t>Regla: </a:t>
            </a:r>
            <a:r>
              <a:rPr lang="es-PE" sz="1500" dirty="0">
                <a:solidFill>
                  <a:schemeClr val="tx1"/>
                </a:solidFill>
              </a:rPr>
              <a:t>δ(q, e) tiene un único destino</a:t>
            </a:r>
            <a:endParaRPr lang="es-PE" sz="1500" dirty="0"/>
          </a:p>
        </p:txBody>
      </p:sp>
      <p:sp>
        <p:nvSpPr>
          <p:cNvPr id="16" name="Código"/>
          <p:cNvSpPr txBox="1"/>
          <p:nvPr/>
        </p:nvSpPr>
        <p:spPr>
          <a:xfrm>
            <a:off x="6414516" y="2971800"/>
            <a:ext cx="5042916" cy="1965960"/>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 4  </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inicial</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estado</a:t>
            </a:r>
            <a:r>
              <a:rPr lang="es-PE" sz="1200" dirty="0">
                <a:solidFill>
                  <a:schemeClr val="bg1"/>
                </a:solidFill>
                <a:latin typeface="Consolas" pitchFamily="34" charset="0"/>
                <a:ea typeface="Consolas" pitchFamily="34" charset="-122"/>
                <a:cs typeface="Consolas" pitchFamily="34" charset="-120"/>
              </a:rPr>
              <a:t> Reposo {</a:t>
            </a:r>
            <a:endParaRPr lang="es-PE" sz="1200" dirty="0"/>
          </a:p>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 5  </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accent4"/>
                </a:solidFill>
                <a:latin typeface="Consolas" pitchFamily="34" charset="0"/>
                <a:ea typeface="Consolas" pitchFamily="34" charset="-122"/>
                <a:cs typeface="Consolas" pitchFamily="34" charset="-120"/>
              </a:rPr>
              <a:t>cuando</a:t>
            </a:r>
            <a:r>
              <a:rPr lang="es-PE" sz="1200" dirty="0">
                <a:solidFill>
                  <a:schemeClr val="bg1"/>
                </a:solidFill>
                <a:latin typeface="Consolas" pitchFamily="34" charset="0"/>
                <a:ea typeface="Consolas" pitchFamily="34" charset="-122"/>
                <a:cs typeface="Consolas" pitchFamily="34" charset="-120"/>
              </a:rPr>
              <a:t> </a:t>
            </a:r>
            <a:r>
              <a:rPr lang="es-PE" sz="1200" dirty="0">
                <a:solidFill>
                  <a:schemeClr val="bg1"/>
                </a:solidFill>
                <a:latin typeface="Consolas" pitchFamily="34" charset="0"/>
                <a:ea typeface="Consolas" pitchFamily="34" charset="-122"/>
                <a:cs typeface="Consolas" pitchFamily="34" charset="-120"/>
              </a:rPr>
              <a:t>saltar</a:t>
            </a:r>
            <a:r>
              <a:rPr lang="es-PE" sz="1200" dirty="0">
                <a:solidFill>
                  <a:schemeClr val="bg1"/>
                </a:solidFill>
                <a:latin typeface="Consolas" pitchFamily="34" charset="0"/>
                <a:ea typeface="Consolas" pitchFamily="34" charset="-122"/>
                <a:cs typeface="Consolas" pitchFamily="34" charset="-120"/>
              </a:rPr>
              <a:t> -&gt; Saltando;</a:t>
            </a:r>
            <a:endParaRPr lang="es-PE" sz="1200" dirty="0"/>
          </a:p>
          <a:p>
            <a:pPr indent="0" marL="0">
              <a:lnSpc>
                <a:spcPct val="100000"/>
              </a:lnSpc>
              <a:buNone/>
            </a:pPr>
            <a:r>
              <a:rPr lang="es-PE" sz="1200" b="1" dirty="0">
                <a:solidFill>
                  <a:schemeClr val="accent1"/>
                </a:solidFill>
                <a:latin typeface="Consolas" pitchFamily="34" charset="0"/>
                <a:ea typeface="Consolas" pitchFamily="34" charset="-122"/>
                <a:cs typeface="Consolas" pitchFamily="34" charset="-120"/>
              </a:rPr>
              <a:t> 6  </a:t>
            </a:r>
            <a:r>
              <a:rPr lang="es-PE" sz="1200" b="1" dirty="0">
                <a:solidFill>
                  <a:schemeClr val="bg1"/>
                </a:solidFill>
                <a:latin typeface="Consolas" pitchFamily="34" charset="0"/>
                <a:ea typeface="Consolas" pitchFamily="34" charset="-122"/>
                <a:cs typeface="Consolas" pitchFamily="34" charset="-120"/>
              </a:rPr>
              <a:t>        </a:t>
            </a:r>
            <a:r>
              <a:rPr lang="es-PE" sz="1200" b="1" dirty="0">
                <a:solidFill>
                  <a:schemeClr val="accent4"/>
                </a:solidFill>
                <a:latin typeface="Consolas" pitchFamily="34" charset="0"/>
                <a:ea typeface="Consolas" pitchFamily="34" charset="-122"/>
                <a:cs typeface="Consolas" pitchFamily="34" charset="-120"/>
              </a:rPr>
              <a:t>cuando</a:t>
            </a:r>
            <a:r>
              <a:rPr lang="es-PE" sz="1200" b="1" dirty="0">
                <a:solidFill>
                  <a:schemeClr val="bg1"/>
                </a:solidFill>
                <a:latin typeface="Consolas" pitchFamily="34" charset="0"/>
                <a:ea typeface="Consolas" pitchFamily="34" charset="-122"/>
                <a:cs typeface="Consolas" pitchFamily="34" charset="-120"/>
              </a:rPr>
              <a:t> </a:t>
            </a:r>
            <a:r>
              <a:rPr lang="es-PE" sz="1200" b="1" dirty="0">
                <a:solidFill>
                  <a:schemeClr val="bg1"/>
                </a:solidFill>
                <a:latin typeface="Consolas" pitchFamily="34" charset="0"/>
                <a:ea typeface="Consolas" pitchFamily="34" charset="-122"/>
                <a:cs typeface="Consolas" pitchFamily="34" charset="-120"/>
              </a:rPr>
              <a:t>saltar</a:t>
            </a:r>
            <a:r>
              <a:rPr lang="es-PE" sz="1200" b="1" dirty="0">
                <a:solidFill>
                  <a:schemeClr val="bg1"/>
                </a:solidFill>
                <a:latin typeface="Consolas" pitchFamily="34" charset="0"/>
                <a:ea typeface="Consolas" pitchFamily="34" charset="-122"/>
                <a:cs typeface="Consolas" pitchFamily="34" charset="-120"/>
              </a:rPr>
              <a:t> -&gt; Reposo;</a:t>
            </a:r>
            <a:endParaRPr lang="es-PE" sz="1200" dirty="0"/>
          </a:p>
          <a:p>
            <a:pPr indent="0" marL="0">
              <a:lnSpc>
                <a:spcPct val="100000"/>
              </a:lnSpc>
              <a:buNone/>
            </a:pPr>
            <a:r>
              <a:rPr lang="es-PE" sz="1200" dirty="0">
                <a:solidFill>
                  <a:schemeClr val="accent5"/>
                </a:solidFill>
                <a:latin typeface="Consolas" pitchFamily="34" charset="0"/>
                <a:ea typeface="Consolas" pitchFamily="34" charset="-122"/>
                <a:cs typeface="Consolas" pitchFamily="34" charset="-120"/>
              </a:rPr>
              <a:t> 7  </a:t>
            </a:r>
            <a:r>
              <a:rPr lang="es-PE" sz="1200" dirty="0">
                <a:solidFill>
                  <a:schemeClr val="bg1"/>
                </a:solidFill>
                <a:latin typeface="Consolas" pitchFamily="34" charset="0"/>
                <a:ea typeface="Consolas" pitchFamily="34" charset="-122"/>
                <a:cs typeface="Consolas" pitchFamily="34" charset="-120"/>
              </a:rPr>
              <a:t>    }</a:t>
            </a:r>
            <a:endParaRPr lang="es-PE" sz="1200" dirty="0"/>
          </a:p>
          <a:p>
            <a:pPr indent="0" marL="0">
              <a:lnSpc>
                <a:spcPct val="100000"/>
              </a:lnSpc>
              <a:buNone/>
            </a:pPr>
            <a:r>
              <a:rPr lang="es-PE" sz="1200" dirty="0">
                <a:solidFill>
                  <a:schemeClr val="bg1"/>
                </a:solidFill>
                <a:latin typeface="Consolas" pitchFamily="34" charset="0"/>
                <a:ea typeface="Consolas" pitchFamily="34" charset="-122"/>
                <a:cs typeface="Consolas" pitchFamily="34" charset="-120"/>
              </a:rPr>
              <a:t> </a:t>
            </a:r>
            <a:endParaRPr lang="es-PE" sz="1200" dirty="0"/>
          </a:p>
          <a:p>
            <a:pPr indent="0" marL="0">
              <a:lnSpc>
                <a:spcPct val="100000"/>
              </a:lnSpc>
              <a:buNone/>
            </a:pPr>
            <a:r>
              <a:rPr lang="es-PE" sz="1200" b="1" dirty="0">
                <a:solidFill>
                  <a:schemeClr val="accent4"/>
                </a:solidFill>
                <a:latin typeface="Consolas" pitchFamily="34" charset="0"/>
                <a:ea typeface="Consolas" pitchFamily="34" charset="-122"/>
                <a:cs typeface="Consolas" pitchFamily="34" charset="-120"/>
              </a:rPr>
              <a:t>Error semántico E03 en la línea 6, columna 8:</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  en 'Reposo', la transición con 'saltar' de la</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  línea 6 nunca se toma: la de la línea 5</a:t>
            </a:r>
            <a:endParaRPr lang="es-PE" sz="1200" dirty="0"/>
          </a:p>
          <a:p>
            <a:pPr indent="0" marL="0">
              <a:lnSpc>
                <a:spcPct val="100000"/>
              </a:lnSpc>
              <a:buNone/>
            </a:pPr>
            <a:r>
              <a:rPr lang="es-PE" sz="1200" dirty="0">
                <a:solidFill>
                  <a:schemeClr val="accent4"/>
                </a:solidFill>
                <a:latin typeface="Consolas" pitchFamily="34" charset="0"/>
                <a:ea typeface="Consolas" pitchFamily="34" charset="-122"/>
                <a:cs typeface="Consolas" pitchFamily="34" charset="-120"/>
              </a:rPr>
              <a:t>  responde al mismo evento sin guarda</a:t>
            </a:r>
            <a:endParaRPr lang="es-PE" sz="1200" dirty="0"/>
          </a:p>
        </p:txBody>
      </p:sp>
      <p:sp>
        <p:nvSpPr>
          <p:cNvPr id="17" name="Pixel"/>
          <p:cNvSpPr/>
          <p:nvPr/>
        </p:nvSpPr>
        <p:spPr>
          <a:xfrm>
            <a:off x="548640" y="5468112"/>
            <a:ext cx="128016" cy="128016"/>
          </a:xfrm>
          <a:prstGeom prst="rect">
            <a:avLst/>
          </a:prstGeom>
          <a:solidFill>
            <a:schemeClr val="accent1"/>
          </a:solidFill>
          <a:ln w="12700">
            <a:solidFill>
              <a:schemeClr val="accent1"/>
            </a:solidFill>
            <a:prstDash val="solid"/>
          </a:ln>
        </p:spPr>
      </p:sp>
      <p:sp>
        <p:nvSpPr>
          <p:cNvPr id="18" name="Text 15"/>
          <p:cNvSpPr txBox="1"/>
          <p:nvPr/>
        </p:nvSpPr>
        <p:spPr>
          <a:xfrm>
            <a:off x="868680" y="5376672"/>
            <a:ext cx="10771632" cy="365760"/>
          </a:xfrm>
          <a:prstGeom prst="rect">
            <a:avLst/>
          </a:prstGeom>
          <a:noFill/>
          <a:ln/>
        </p:spPr>
        <p:txBody>
          <a:bodyPr wrap="square" lIns="0" tIns="0" rIns="0" bIns="0" rtlCol="0" anchor="t"/>
          <a:lstStyle/>
          <a:p>
            <a:pPr indent="0" marL="0">
              <a:buNone/>
            </a:pPr>
            <a:r>
              <a:rPr lang="es-PE" sz="1500" dirty="0">
                <a:solidFill>
                  <a:schemeClr val="tx1"/>
                </a:solidFill>
              </a:rPr>
              <a:t>El compilador verifica otros ocho errores semánticos (Apéndice C del informe); cada uno tiene su programa de prueba.</a:t>
            </a:r>
            <a:endParaRPr lang="es-PE" sz="15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12</a:t>
            </a:fld>
            <a:endParaRPr lang="es-P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Repositorio y pruebas</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Lexer y parser en ANTLR4, probados con varias entradas</a:t>
            </a:r>
            <a:endParaRPr lang="es-PE" sz="2800" dirty="0"/>
          </a:p>
        </p:txBody>
      </p:sp>
      <p:sp>
        <p:nvSpPr>
          <p:cNvPr id="5" name="Text 2"/>
          <p:cNvSpPr txBox="1"/>
          <p:nvPr/>
        </p:nvSpPr>
        <p:spPr>
          <a:xfrm>
            <a:off x="548640" y="1554480"/>
            <a:ext cx="5669280" cy="292608"/>
          </a:xfrm>
          <a:prstGeom prst="rect">
            <a:avLst/>
          </a:prstGeom>
          <a:noFill/>
          <a:ln/>
        </p:spPr>
        <p:txBody>
          <a:bodyPr wrap="square" lIns="0" tIns="0" rIns="0" bIns="0" rtlCol="0" anchor="t"/>
          <a:lstStyle/>
          <a:p>
            <a:pPr indent="0" marL="0">
              <a:buNone/>
            </a:pPr>
            <a:r>
              <a:rPr lang="es-PE" sz="1200" b="1" dirty="0">
                <a:solidFill>
                  <a:schemeClr val="accent5"/>
                </a:solidFill>
              </a:rPr>
              <a:t>Repositorio  </a:t>
            </a:r>
            <a:r>
              <a:rPr lang="es-PE" sz="1500" b="1" u="sng" dirty="0">
                <a:solidFill>
                  <a:schemeClr val="accent1"/>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github.com/DavidRamPari/pixellang</a:t>
            </a:r>
            <a:endParaRPr lang="es-PE" sz="1200" dirty="0"/>
          </a:p>
        </p:txBody>
      </p:sp>
      <p:sp>
        <p:nvSpPr>
          <p:cNvPr id="6" name="Código"/>
          <p:cNvSpPr txBox="1"/>
          <p:nvPr/>
        </p:nvSpPr>
        <p:spPr>
          <a:xfrm>
            <a:off x="548640" y="1920240"/>
            <a:ext cx="5669280" cy="1627632"/>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gramatica/PixelLang.g4  </a:t>
            </a:r>
            <a:r>
              <a:rPr lang="es-PE" sz="1250" dirty="0">
                <a:solidFill>
                  <a:schemeClr val="accent6"/>
                </a:solidFill>
                <a:latin typeface="Consolas" pitchFamily="34" charset="0"/>
                <a:ea typeface="Consolas" pitchFamily="34" charset="-122"/>
                <a:cs typeface="Consolas" pitchFamily="34" charset="-120"/>
              </a:rPr>
              <a:t>léxico y sintaxis</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src/main.py             </a:t>
            </a:r>
            <a:r>
              <a:rPr lang="es-PE" sz="1250" dirty="0">
                <a:solidFill>
                  <a:schemeClr val="accent6"/>
                </a:solidFill>
                <a:latin typeface="Consolas" pitchFamily="34" charset="0"/>
                <a:ea typeface="Consolas" pitchFamily="34" charset="-122"/>
                <a:cs typeface="Consolas" pitchFamily="34" charset="-120"/>
              </a:rPr>
              <a:t>driver</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src/frontend.py         </a:t>
            </a:r>
            <a:r>
              <a:rPr lang="es-PE" sz="1250" dirty="0">
                <a:solidFill>
                  <a:schemeClr val="accent6"/>
                </a:solidFill>
                <a:latin typeface="Consolas" pitchFamily="34" charset="0"/>
                <a:ea typeface="Consolas" pitchFamily="34" charset="-122"/>
                <a:cs typeface="Consolas" pitchFamily="34" charset="-120"/>
              </a:rPr>
              <a:t>lexer y parser de ANTLR4</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src/semantico.py        </a:t>
            </a:r>
            <a:r>
              <a:rPr lang="es-PE" sz="1250" dirty="0">
                <a:solidFill>
                  <a:schemeClr val="accent6"/>
                </a:solidFill>
                <a:latin typeface="Consolas" pitchFamily="34" charset="0"/>
                <a:ea typeface="Consolas" pitchFamily="34" charset="-122"/>
                <a:cs typeface="Consolas" pitchFamily="34" charset="-120"/>
              </a:rPr>
              <a:t>visitor: tabla de símbolos, E01 a E10</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ejemplos/               </a:t>
            </a:r>
            <a:r>
              <a:rPr lang="es-PE" sz="1250" dirty="0">
                <a:solidFill>
                  <a:schemeClr val="accent6"/>
                </a:solidFill>
                <a:latin typeface="Consolas" pitchFamily="34" charset="0"/>
                <a:ea typeface="Consolas" pitchFamily="34" charset="-122"/>
                <a:cs typeface="Consolas" pitchFamily="34" charset="-120"/>
              </a:rPr>
              <a:t>caballero.pxl, slime.pxl</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pruebas/                </a:t>
            </a:r>
            <a:r>
              <a:rPr lang="es-PE" sz="1250" dirty="0">
                <a:solidFill>
                  <a:schemeClr val="accent6"/>
                </a:solidFill>
                <a:latin typeface="Consolas" pitchFamily="34" charset="0"/>
                <a:ea typeface="Consolas" pitchFamily="34" charset="-122"/>
                <a:cs typeface="Consolas" pitchFamily="34" charset="-120"/>
              </a:rPr>
              <a:t>léxicas, sintácticas y semánticas</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docs/                   </a:t>
            </a:r>
            <a:r>
              <a:rPr lang="es-PE" sz="1250" dirty="0">
                <a:solidFill>
                  <a:schemeClr val="accent6"/>
                </a:solidFill>
                <a:latin typeface="Consolas" pitchFamily="34" charset="0"/>
                <a:ea typeface="Consolas" pitchFamily="34" charset="-122"/>
                <a:cs typeface="Consolas" pitchFamily="34" charset="-120"/>
              </a:rPr>
              <a:t>informe y presentación</a:t>
            </a:r>
            <a:endParaRPr lang="es-PE" sz="1250" dirty="0"/>
          </a:p>
        </p:txBody>
      </p:sp>
      <p:sp>
        <p:nvSpPr>
          <p:cNvPr id="7" name="Text 4"/>
          <p:cNvSpPr txBox="1"/>
          <p:nvPr/>
        </p:nvSpPr>
        <p:spPr>
          <a:xfrm>
            <a:off x="548640" y="3767328"/>
            <a:ext cx="2743200" cy="274320"/>
          </a:xfrm>
          <a:prstGeom prst="rect">
            <a:avLst/>
          </a:prstGeom>
          <a:noFill/>
          <a:ln/>
        </p:spPr>
        <p:txBody>
          <a:bodyPr wrap="square" lIns="0" tIns="0" rIns="0" bIns="0" rtlCol="0" anchor="t"/>
          <a:lstStyle/>
          <a:p>
            <a:pPr indent="0" marL="0">
              <a:buNone/>
            </a:pPr>
            <a:r>
              <a:rPr lang="es-PE" sz="1200" b="1" dirty="0">
                <a:solidFill>
                  <a:schemeClr val="accent5"/>
                </a:solidFill>
              </a:rPr>
              <a:t>Comandos</a:t>
            </a:r>
            <a:endParaRPr lang="es-PE" sz="1200" dirty="0"/>
          </a:p>
        </p:txBody>
      </p:sp>
      <p:sp>
        <p:nvSpPr>
          <p:cNvPr id="8" name="Código"/>
          <p:cNvSpPr txBox="1"/>
          <p:nvPr/>
        </p:nvSpPr>
        <p:spPr>
          <a:xfrm>
            <a:off x="548640" y="4041648"/>
            <a:ext cx="5669280" cy="1188720"/>
          </a:xfrm>
          <a:prstGeom prst="rect">
            <a:avLst/>
          </a:prstGeom>
          <a:solidFill>
            <a:schemeClr val="accent3"/>
          </a:solidFill>
          <a:ln/>
        </p:spPr>
        <p:txBody>
          <a:bodyPr wrap="square" lIns="127000" tIns="101600" rIns="127000" bIns="101600" rtlCol="0" anchor="t"/>
          <a:lstStyle/>
          <a:p>
            <a:pPr indent="0" marL="0">
              <a:lnSpc>
                <a:spcPct val="100000"/>
              </a:lnSpc>
              <a:buNone/>
            </a:pPr>
            <a:r>
              <a:rPr lang="es-PE" sz="1250" dirty="0">
                <a:solidFill>
                  <a:schemeClr val="accent5"/>
                </a:solidFill>
                <a:latin typeface="Consolas" pitchFamily="34" charset="0"/>
                <a:ea typeface="Consolas" pitchFamily="34" charset="-122"/>
                <a:cs typeface="Consolas" pitchFamily="34" charset="-120"/>
              </a:rPr>
              <a:t># antes: generar el parser con ANTLR4 (Ctrl+Shift+B)</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python</a:t>
            </a:r>
            <a:r>
              <a:rPr lang="es-PE" sz="1250" dirty="0">
                <a:solidFill>
                  <a:schemeClr val="bg1"/>
                </a:solidFill>
                <a:latin typeface="Consolas" pitchFamily="34" charset="0"/>
                <a:ea typeface="Consolas" pitchFamily="34" charset="-122"/>
                <a:cs typeface="Consolas" pitchFamily="34" charset="-120"/>
              </a:rPr>
              <a:t> src/main.py ejemplos/caballero.pxl</a:t>
            </a:r>
            <a:endParaRPr lang="es-PE" sz="1250" dirty="0"/>
          </a:p>
          <a:p>
            <a:pPr indent="0" marL="0">
              <a:lnSpc>
                <a:spcPct val="100000"/>
              </a:lnSpc>
              <a:buNone/>
            </a:pPr>
            <a:r>
              <a:rPr lang="es-PE" sz="1250" dirty="0">
                <a:solidFill>
                  <a:schemeClr val="bg1"/>
                </a:solidFill>
                <a:latin typeface="Consolas" pitchFamily="34" charset="0"/>
                <a:ea typeface="Consolas" pitchFamily="34" charset="-122"/>
                <a:cs typeface="Consolas" pitchFamily="34" charset="-120"/>
              </a:rPr>
              <a:t>       --tokens --arbol --tabla</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python</a:t>
            </a:r>
            <a:r>
              <a:rPr lang="es-PE" sz="1250" dirty="0">
                <a:solidFill>
                  <a:schemeClr val="bg1"/>
                </a:solidFill>
                <a:latin typeface="Consolas" pitchFamily="34" charset="0"/>
                <a:ea typeface="Consolas" pitchFamily="34" charset="-122"/>
                <a:cs typeface="Consolas" pitchFamily="34" charset="-120"/>
              </a:rPr>
              <a:t> pruebas/correr_pruebas.py</a:t>
            </a:r>
            <a:endParaRPr lang="es-PE" sz="1250" dirty="0"/>
          </a:p>
          <a:p>
            <a:pPr indent="0" marL="0">
              <a:lnSpc>
                <a:spcPct val="100000"/>
              </a:lnSpc>
              <a:buNone/>
            </a:pPr>
            <a:r>
              <a:rPr lang="es-PE" sz="1250" dirty="0">
                <a:solidFill>
                  <a:schemeClr val="accent4"/>
                </a:solidFill>
                <a:latin typeface="Consolas" pitchFamily="34" charset="0"/>
                <a:ea typeface="Consolas" pitchFamily="34" charset="-122"/>
                <a:cs typeface="Consolas" pitchFamily="34" charset="-120"/>
              </a:rPr>
              <a:t>python</a:t>
            </a:r>
            <a:r>
              <a:rPr lang="es-PE" sz="1250" dirty="0">
                <a:solidFill>
                  <a:schemeClr val="bg1"/>
                </a:solidFill>
                <a:latin typeface="Consolas" pitchFamily="34" charset="0"/>
                <a:ea typeface="Consolas" pitchFamily="34" charset="-122"/>
                <a:cs typeface="Consolas" pitchFamily="34" charset="-120"/>
              </a:rPr>
              <a:t> pruebas/probar_construcciones.py</a:t>
            </a:r>
            <a:endParaRPr lang="es-PE" sz="1250" dirty="0"/>
          </a:p>
        </p:txBody>
      </p:sp>
      <p:sp>
        <p:nvSpPr>
          <p:cNvPr id="9" name="Pixel"/>
          <p:cNvSpPr/>
          <p:nvPr/>
        </p:nvSpPr>
        <p:spPr>
          <a:xfrm>
            <a:off x="548640" y="5440680"/>
            <a:ext cx="128016" cy="128016"/>
          </a:xfrm>
          <a:prstGeom prst="rect">
            <a:avLst/>
          </a:prstGeom>
          <a:solidFill>
            <a:schemeClr val="accent1"/>
          </a:solidFill>
          <a:ln w="12700">
            <a:solidFill>
              <a:schemeClr val="accent1"/>
            </a:solidFill>
            <a:prstDash val="solid"/>
          </a:ln>
        </p:spPr>
      </p:sp>
      <p:sp>
        <p:nvSpPr>
          <p:cNvPr id="10" name="Text 7"/>
          <p:cNvSpPr txBox="1"/>
          <p:nvPr/>
        </p:nvSpPr>
        <p:spPr>
          <a:xfrm>
            <a:off x="868680" y="5330952"/>
            <a:ext cx="5349240" cy="365760"/>
          </a:xfrm>
          <a:prstGeom prst="rect">
            <a:avLst/>
          </a:prstGeom>
          <a:noFill/>
          <a:ln/>
        </p:spPr>
        <p:txBody>
          <a:bodyPr wrap="square" lIns="0" tIns="0" rIns="0" bIns="0" rtlCol="0" anchor="t"/>
          <a:lstStyle/>
          <a:p>
            <a:pPr indent="0" marL="0">
              <a:buNone/>
            </a:pPr>
            <a:r>
              <a:rPr lang="es-PE" sz="1500" dirty="0">
                <a:solidFill>
                  <a:schemeClr val="tx1"/>
                </a:solidFill>
              </a:rPr>
              <a:t>Gestión en GitHub: un hito por entrega e issues por tarea.</a:t>
            </a:r>
            <a:endParaRPr lang="es-PE" sz="1500" dirty="0"/>
          </a:p>
        </p:txBody>
      </p:sp>
      <p:sp>
        <p:nvSpPr>
          <p:cNvPr id="11" name="Text 8"/>
          <p:cNvSpPr txBox="1"/>
          <p:nvPr/>
        </p:nvSpPr>
        <p:spPr>
          <a:xfrm>
            <a:off x="6537960" y="1536192"/>
            <a:ext cx="5102352" cy="274320"/>
          </a:xfrm>
          <a:prstGeom prst="rect">
            <a:avLst/>
          </a:prstGeom>
          <a:noFill/>
          <a:ln/>
        </p:spPr>
        <p:txBody>
          <a:bodyPr wrap="square" lIns="0" tIns="0" rIns="0" bIns="0" rtlCol="0" anchor="t"/>
          <a:lstStyle/>
          <a:p>
            <a:pPr indent="0" marL="0">
              <a:buNone/>
            </a:pPr>
            <a:r>
              <a:rPr lang="es-PE" sz="1200" b="1" dirty="0">
                <a:solidFill>
                  <a:schemeClr val="accent5"/>
                </a:solidFill>
              </a:rPr>
              <a:t>Pruebas de los analizadores (Apéndice D)</a:t>
            </a:r>
            <a:endParaRPr lang="es-PE" sz="1200" dirty="0"/>
          </a:p>
        </p:txBody>
      </p:sp>
      <p:sp>
        <p:nvSpPr>
          <p:cNvPr id="12" name="Tarjeta"/>
          <p:cNvSpPr/>
          <p:nvPr/>
        </p:nvSpPr>
        <p:spPr>
          <a:xfrm>
            <a:off x="6537960" y="1874520"/>
            <a:ext cx="5102352" cy="1234440"/>
          </a:xfrm>
          <a:prstGeom prst="rect">
            <a:avLst/>
          </a:prstGeom>
          <a:solidFill>
            <a:schemeClr val="bg2"/>
          </a:solidFill>
          <a:ln w="12700">
            <a:solidFill>
              <a:schemeClr val="bg2"/>
            </a:solidFill>
            <a:prstDash val="solid"/>
          </a:ln>
        </p:spPr>
      </p:sp>
      <p:sp>
        <p:nvSpPr>
          <p:cNvPr id="13" name="Text 10"/>
          <p:cNvSpPr txBox="1"/>
          <p:nvPr/>
        </p:nvSpPr>
        <p:spPr>
          <a:xfrm>
            <a:off x="6720840" y="1874520"/>
            <a:ext cx="1143000" cy="1234440"/>
          </a:xfrm>
          <a:prstGeom prst="rect">
            <a:avLst/>
          </a:prstGeom>
          <a:noFill/>
          <a:ln/>
        </p:spPr>
        <p:txBody>
          <a:bodyPr wrap="square" lIns="0" tIns="0" rIns="0" bIns="0" rtlCol="0" anchor="ctr"/>
          <a:lstStyle/>
          <a:p>
            <a:pPr algn="ctr" indent="0" marL="0">
              <a:buNone/>
            </a:pPr>
            <a:r>
              <a:rPr lang="es-PE" sz="3600" b="1" dirty="0">
                <a:solidFill>
                  <a:schemeClr val="accent1"/>
                </a:solidFill>
                <a:latin typeface="Consolas" pitchFamily="34" charset="0"/>
                <a:ea typeface="Consolas" pitchFamily="34" charset="-122"/>
                <a:cs typeface="Consolas" pitchFamily="34" charset="-120"/>
              </a:rPr>
              <a:t>6</a:t>
            </a:r>
            <a:endParaRPr lang="es-PE" sz="3600" dirty="0"/>
          </a:p>
        </p:txBody>
      </p:sp>
      <p:sp>
        <p:nvSpPr>
          <p:cNvPr id="14" name="Text 11"/>
          <p:cNvSpPr txBox="1"/>
          <p:nvPr/>
        </p:nvSpPr>
        <p:spPr>
          <a:xfrm>
            <a:off x="8001000" y="2029968"/>
            <a:ext cx="3456432" cy="365760"/>
          </a:xfrm>
          <a:prstGeom prst="rect">
            <a:avLst/>
          </a:prstGeom>
          <a:noFill/>
          <a:ln/>
        </p:spPr>
        <p:txBody>
          <a:bodyPr wrap="square" lIns="0" tIns="0" rIns="0" bIns="0" rtlCol="0" anchor="t"/>
          <a:lstStyle/>
          <a:p>
            <a:pPr indent="0" marL="0">
              <a:buNone/>
            </a:pPr>
            <a:r>
              <a:rPr lang="es-PE" sz="1800" b="1" dirty="0">
                <a:solidFill>
                  <a:schemeClr val="tx1"/>
                </a:solidFill>
              </a:rPr>
              <a:t>Léxico</a:t>
            </a:r>
            <a:endParaRPr lang="es-PE" sz="1800" dirty="0"/>
          </a:p>
        </p:txBody>
      </p:sp>
      <p:sp>
        <p:nvSpPr>
          <p:cNvPr id="15" name="Text 12"/>
          <p:cNvSpPr txBox="1"/>
          <p:nvPr/>
        </p:nvSpPr>
        <p:spPr>
          <a:xfrm>
            <a:off x="8001000" y="2395728"/>
            <a:ext cx="3456432" cy="640080"/>
          </a:xfrm>
          <a:prstGeom prst="rect">
            <a:avLst/>
          </a:prstGeom>
          <a:noFill/>
          <a:ln/>
        </p:spPr>
        <p:txBody>
          <a:bodyPr wrap="square" lIns="0" tIns="0" rIns="0" bIns="0" rtlCol="0" anchor="t"/>
          <a:lstStyle/>
          <a:p>
            <a:pPr indent="0" marL="0">
              <a:buNone/>
            </a:pPr>
            <a:r>
              <a:rPr lang="es-PE" sz="1400" dirty="0">
                <a:solidFill>
                  <a:schemeClr val="tx2"/>
                </a:solidFill>
              </a:rPr>
              <a:t>1 entrada válida y 5 con caracteres o lexemas inválidos</a:t>
            </a:r>
            <a:endParaRPr lang="es-PE" sz="1400" dirty="0"/>
          </a:p>
        </p:txBody>
      </p:sp>
      <p:sp>
        <p:nvSpPr>
          <p:cNvPr id="16" name="Tarjeta"/>
          <p:cNvSpPr/>
          <p:nvPr/>
        </p:nvSpPr>
        <p:spPr>
          <a:xfrm>
            <a:off x="6537960" y="3246120"/>
            <a:ext cx="5102352" cy="1234440"/>
          </a:xfrm>
          <a:prstGeom prst="rect">
            <a:avLst/>
          </a:prstGeom>
          <a:solidFill>
            <a:schemeClr val="bg2"/>
          </a:solidFill>
          <a:ln w="12700">
            <a:solidFill>
              <a:schemeClr val="bg2"/>
            </a:solidFill>
            <a:prstDash val="solid"/>
          </a:ln>
        </p:spPr>
      </p:sp>
      <p:sp>
        <p:nvSpPr>
          <p:cNvPr id="17" name="Text 14"/>
          <p:cNvSpPr txBox="1"/>
          <p:nvPr/>
        </p:nvSpPr>
        <p:spPr>
          <a:xfrm>
            <a:off x="6720840" y="3246120"/>
            <a:ext cx="1143000" cy="1234440"/>
          </a:xfrm>
          <a:prstGeom prst="rect">
            <a:avLst/>
          </a:prstGeom>
          <a:noFill/>
          <a:ln/>
        </p:spPr>
        <p:txBody>
          <a:bodyPr wrap="square" lIns="0" tIns="0" rIns="0" bIns="0" rtlCol="0" anchor="ctr"/>
          <a:lstStyle/>
          <a:p>
            <a:pPr algn="ctr" indent="0" marL="0">
              <a:buNone/>
            </a:pPr>
            <a:r>
              <a:rPr lang="es-PE" sz="3600" b="1" dirty="0">
                <a:solidFill>
                  <a:schemeClr val="accent1"/>
                </a:solidFill>
                <a:latin typeface="Consolas" pitchFamily="34" charset="0"/>
                <a:ea typeface="Consolas" pitchFamily="34" charset="-122"/>
                <a:cs typeface="Consolas" pitchFamily="34" charset="-120"/>
              </a:rPr>
              <a:t>41</a:t>
            </a:r>
            <a:endParaRPr lang="es-PE" sz="3600" dirty="0"/>
          </a:p>
        </p:txBody>
      </p:sp>
      <p:sp>
        <p:nvSpPr>
          <p:cNvPr id="18" name="Text 15"/>
          <p:cNvSpPr txBox="1"/>
          <p:nvPr/>
        </p:nvSpPr>
        <p:spPr>
          <a:xfrm>
            <a:off x="8001000" y="3401568"/>
            <a:ext cx="3456432" cy="365760"/>
          </a:xfrm>
          <a:prstGeom prst="rect">
            <a:avLst/>
          </a:prstGeom>
          <a:noFill/>
          <a:ln/>
        </p:spPr>
        <p:txBody>
          <a:bodyPr wrap="square" lIns="0" tIns="0" rIns="0" bIns="0" rtlCol="0" anchor="t"/>
          <a:lstStyle/>
          <a:p>
            <a:pPr indent="0" marL="0">
              <a:buNone/>
            </a:pPr>
            <a:r>
              <a:rPr lang="es-PE" sz="1800" b="1" dirty="0">
                <a:solidFill>
                  <a:schemeClr val="tx1"/>
                </a:solidFill>
              </a:rPr>
              <a:t>Sintáctico</a:t>
            </a:r>
            <a:endParaRPr lang="es-PE" sz="1800" dirty="0"/>
          </a:p>
        </p:txBody>
      </p:sp>
      <p:sp>
        <p:nvSpPr>
          <p:cNvPr id="19" name="Text 16"/>
          <p:cNvSpPr txBox="1"/>
          <p:nvPr/>
        </p:nvSpPr>
        <p:spPr>
          <a:xfrm>
            <a:off x="8001000" y="3767328"/>
            <a:ext cx="3456432" cy="640080"/>
          </a:xfrm>
          <a:prstGeom prst="rect">
            <a:avLst/>
          </a:prstGeom>
          <a:noFill/>
          <a:ln/>
        </p:spPr>
        <p:txBody>
          <a:bodyPr wrap="square" lIns="0" tIns="0" rIns="0" bIns="0" rtlCol="0" anchor="t"/>
          <a:lstStyle/>
          <a:p>
            <a:pPr indent="0" marL="0">
              <a:buNone/>
            </a:pPr>
            <a:r>
              <a:rPr lang="es-PE" sz="1400" dirty="0">
                <a:solidFill>
                  <a:schemeClr val="tx2"/>
                </a:solidFill>
              </a:rPr>
              <a:t>35 ejemplos aceptados y 6 programas erróneos rechazados</a:t>
            </a:r>
            <a:endParaRPr lang="es-PE" sz="1400" dirty="0"/>
          </a:p>
        </p:txBody>
      </p:sp>
      <p:sp>
        <p:nvSpPr>
          <p:cNvPr id="20" name="Tarjeta"/>
          <p:cNvSpPr/>
          <p:nvPr/>
        </p:nvSpPr>
        <p:spPr>
          <a:xfrm>
            <a:off x="6537960" y="4617720"/>
            <a:ext cx="5102352" cy="1234440"/>
          </a:xfrm>
          <a:prstGeom prst="rect">
            <a:avLst/>
          </a:prstGeom>
          <a:solidFill>
            <a:schemeClr val="bg2"/>
          </a:solidFill>
          <a:ln w="12700">
            <a:solidFill>
              <a:schemeClr val="bg2"/>
            </a:solidFill>
            <a:prstDash val="solid"/>
          </a:ln>
        </p:spPr>
      </p:sp>
      <p:sp>
        <p:nvSpPr>
          <p:cNvPr id="21" name="Text 18"/>
          <p:cNvSpPr txBox="1"/>
          <p:nvPr/>
        </p:nvSpPr>
        <p:spPr>
          <a:xfrm>
            <a:off x="6720840" y="4617720"/>
            <a:ext cx="1143000" cy="1234440"/>
          </a:xfrm>
          <a:prstGeom prst="rect">
            <a:avLst/>
          </a:prstGeom>
          <a:noFill/>
          <a:ln/>
        </p:spPr>
        <p:txBody>
          <a:bodyPr wrap="square" lIns="0" tIns="0" rIns="0" bIns="0" rtlCol="0" anchor="ctr"/>
          <a:lstStyle/>
          <a:p>
            <a:pPr algn="ctr" indent="0" marL="0">
              <a:buNone/>
            </a:pPr>
            <a:r>
              <a:rPr lang="es-PE" sz="3600" b="1" dirty="0">
                <a:solidFill>
                  <a:schemeClr val="accent1"/>
                </a:solidFill>
                <a:latin typeface="Consolas" pitchFamily="34" charset="0"/>
                <a:ea typeface="Consolas" pitchFamily="34" charset="-122"/>
                <a:cs typeface="Consolas" pitchFamily="34" charset="-120"/>
              </a:rPr>
              <a:t>10</a:t>
            </a:r>
            <a:endParaRPr lang="es-PE" sz="3600" dirty="0"/>
          </a:p>
        </p:txBody>
      </p:sp>
      <p:sp>
        <p:nvSpPr>
          <p:cNvPr id="22" name="Text 19"/>
          <p:cNvSpPr txBox="1"/>
          <p:nvPr/>
        </p:nvSpPr>
        <p:spPr>
          <a:xfrm>
            <a:off x="8001000" y="4773168"/>
            <a:ext cx="3456432" cy="365760"/>
          </a:xfrm>
          <a:prstGeom prst="rect">
            <a:avLst/>
          </a:prstGeom>
          <a:noFill/>
          <a:ln/>
        </p:spPr>
        <p:txBody>
          <a:bodyPr wrap="square" lIns="0" tIns="0" rIns="0" bIns="0" rtlCol="0" anchor="t"/>
          <a:lstStyle/>
          <a:p>
            <a:pPr indent="0" marL="0">
              <a:buNone/>
            </a:pPr>
            <a:r>
              <a:rPr lang="es-PE" sz="1800" b="1" dirty="0">
                <a:solidFill>
                  <a:schemeClr val="tx1"/>
                </a:solidFill>
              </a:rPr>
              <a:t>Semántico</a:t>
            </a:r>
            <a:endParaRPr lang="es-PE" sz="1800" dirty="0"/>
          </a:p>
        </p:txBody>
      </p:sp>
      <p:sp>
        <p:nvSpPr>
          <p:cNvPr id="23" name="Text 20"/>
          <p:cNvSpPr txBox="1"/>
          <p:nvPr/>
        </p:nvSpPr>
        <p:spPr>
          <a:xfrm>
            <a:off x="8001000" y="5138928"/>
            <a:ext cx="3456432" cy="640080"/>
          </a:xfrm>
          <a:prstGeom prst="rect">
            <a:avLst/>
          </a:prstGeom>
          <a:noFill/>
          <a:ln/>
        </p:spPr>
        <p:txBody>
          <a:bodyPr wrap="square" lIns="0" tIns="0" rIns="0" bIns="0" rtlCol="0" anchor="t"/>
          <a:lstStyle/>
          <a:p>
            <a:pPr indent="0" marL="0">
              <a:buNone/>
            </a:pPr>
            <a:r>
              <a:rPr lang="es-PE" sz="1400" dirty="0">
                <a:solidFill>
                  <a:schemeClr val="tx2"/>
                </a:solidFill>
              </a:rPr>
              <a:t>Un programa por cada error, de E01 a E10</a:t>
            </a:r>
            <a:endParaRPr lang="es-PE"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13</a:t>
            </a:fld>
            <a:endParaRPr lang="es-P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4"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1"/>
                </a:solidFill>
              </a:rPr>
              <a:t>Referencias</a:t>
            </a:r>
            <a:endParaRPr lang="es-PE" sz="1300" dirty="0"/>
          </a:p>
        </p:txBody>
      </p:sp>
      <p:sp>
        <p:nvSpPr>
          <p:cNvPr id="3" name="Text 4"/>
          <p:cNvSpPr/>
          <p:nvPr>
            <p:ph idx="105"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tx1"/>
                </a:solidFill>
              </a:rPr>
              <a:t>Referencias</a:t>
            </a:r>
            <a:endParaRPr lang="es-PE" sz="2800" dirty="0"/>
          </a:p>
        </p:txBody>
      </p:sp>
      <p:sp>
        <p:nvSpPr>
          <p:cNvPr id="5" name="Referencias"/>
          <p:cNvSpPr txBox="1"/>
          <p:nvPr/>
        </p:nvSpPr>
        <p:spPr>
          <a:xfrm>
            <a:off x="548640" y="1508760"/>
            <a:ext cx="5413248" cy="4709160"/>
          </a:xfrm>
          <a:prstGeom prst="rect">
            <a:avLst/>
          </a:prstGeom>
          <a:noFill/>
          <a:ln/>
        </p:spPr>
        <p:txBody>
          <a:bodyPr wrap="square" lIns="0" tIns="0" rIns="0" bIns="0" rtlCol="0" anchor="t"/>
          <a:lstStyle/>
          <a:p>
            <a:pPr algn="l" indent="-228600" marL="228600">
              <a:spcAft>
                <a:spcPts val="600"/>
              </a:spcAft>
              <a:buNone/>
            </a:pPr>
            <a:r>
              <a:rPr lang="es-PE" sz="1200" dirty="0">
                <a:solidFill>
                  <a:schemeClr val="tx1"/>
                </a:solidFill>
              </a:rPr>
              <a:t>Aho, A. V., Lam, M. S., Sethi, R. y Ullman, J. D. (2006). </a:t>
            </a:r>
            <a:r>
              <a:rPr lang="es-PE" sz="1200" i="1" dirty="0">
                <a:solidFill>
                  <a:schemeClr val="tx1"/>
                </a:solidFill>
              </a:rPr>
              <a:t>Compilers: Principles, techniques, and tools</a:t>
            </a:r>
            <a:r>
              <a:rPr lang="es-PE" sz="1200" dirty="0">
                <a:solidFill>
                  <a:schemeClr val="tx1"/>
                </a:solidFill>
              </a:rPr>
              <a:t> (2.ª ed.). Pearson.</a:t>
            </a:r>
            <a:endParaRPr lang="es-PE" sz="1200" dirty="0"/>
          </a:p>
          <a:p>
            <a:pPr algn="l" indent="-228600" marL="228600">
              <a:spcAft>
                <a:spcPts val="600"/>
              </a:spcAft>
              <a:buNone/>
            </a:pPr>
            <a:r>
              <a:rPr lang="es-PE" sz="1200" dirty="0">
                <a:solidFill>
                  <a:schemeClr val="tx1"/>
                </a:solidFill>
              </a:rPr>
              <a:t>Harel, D. (1987). Statecharts: A visual formalism for complex systems. </a:t>
            </a:r>
            <a:r>
              <a:rPr lang="es-PE" sz="1200" i="1" dirty="0">
                <a:solidFill>
                  <a:schemeClr val="tx1"/>
                </a:solidFill>
              </a:rPr>
              <a:t>Science of Computer Programming, 8</a:t>
            </a:r>
            <a:r>
              <a:rPr lang="es-PE" sz="1200" dirty="0">
                <a:solidFill>
                  <a:schemeClr val="tx1"/>
                </a:solidFill>
              </a:rPr>
              <a:t>(3), 231–274. https://doi.org/10.1016/0167-6423(87)90035-9</a:t>
            </a:r>
            <a:endParaRPr lang="es-PE" sz="1200" dirty="0"/>
          </a:p>
          <a:p>
            <a:pPr algn="l" indent="-228600" marL="228600">
              <a:spcAft>
                <a:spcPts val="600"/>
              </a:spcAft>
              <a:buNone/>
            </a:pPr>
            <a:r>
              <a:rPr lang="es-PE" sz="1200" dirty="0">
                <a:solidFill>
                  <a:schemeClr val="tx1"/>
                </a:solidFill>
              </a:rPr>
              <a:t>Lattner, C. y Adve, V. (2004). LLVM: A compilation framework for lifelong program analysis &amp; transformation. En </a:t>
            </a:r>
            <a:r>
              <a:rPr lang="es-PE" sz="1200" i="1" dirty="0">
                <a:solidFill>
                  <a:schemeClr val="tx1"/>
                </a:solidFill>
              </a:rPr>
              <a:t>International Symposium on Code Generation and Optimization, 2004. CGO 2004</a:t>
            </a:r>
            <a:r>
              <a:rPr lang="es-PE" sz="1200" dirty="0">
                <a:solidFill>
                  <a:schemeClr val="tx1"/>
                </a:solidFill>
              </a:rPr>
              <a:t> (pp. 75–86). IEEE. https://doi.org/10.1109/CGO.2004.1281665</a:t>
            </a:r>
            <a:endParaRPr lang="es-PE" sz="1200" dirty="0"/>
          </a:p>
          <a:p>
            <a:pPr algn="l" indent="-228600" marL="228600">
              <a:spcAft>
                <a:spcPts val="600"/>
              </a:spcAft>
              <a:buNone/>
            </a:pPr>
            <a:r>
              <a:rPr lang="es-PE" sz="1200" dirty="0">
                <a:solidFill>
                  <a:schemeClr val="tx1"/>
                </a:solidFill>
              </a:rPr>
              <a:t>Mernik, M., Heering, J. y Sloane, A. M. (2005). When and how to develop domain-specific languages. </a:t>
            </a:r>
            <a:r>
              <a:rPr lang="es-PE" sz="1200" i="1" dirty="0">
                <a:solidFill>
                  <a:schemeClr val="tx1"/>
                </a:solidFill>
              </a:rPr>
              <a:t>ACM Computing Surveys, 37</a:t>
            </a:r>
            <a:r>
              <a:rPr lang="es-PE" sz="1200" dirty="0">
                <a:solidFill>
                  <a:schemeClr val="tx1"/>
                </a:solidFill>
              </a:rPr>
              <a:t>(4), 316–344. https://doi.org/10.1145/1118890.1118892</a:t>
            </a:r>
            <a:endParaRPr lang="es-PE" sz="1200" dirty="0"/>
          </a:p>
          <a:p>
            <a:pPr algn="l" indent="-228600" marL="228600">
              <a:spcAft>
                <a:spcPts val="600"/>
              </a:spcAft>
              <a:buNone/>
            </a:pPr>
            <a:r>
              <a:rPr lang="es-PE" sz="1200" dirty="0">
                <a:solidFill>
                  <a:schemeClr val="tx1"/>
                </a:solidFill>
              </a:rPr>
              <a:t>Murphy-Hill, E., Zimmermann, T. y Nagappan, N. (2014). Cowboys, ankle sprains, and keepers of quality: How is video game development different from software development? En </a:t>
            </a:r>
            <a:r>
              <a:rPr lang="es-PE" sz="1200" i="1" dirty="0">
                <a:solidFill>
                  <a:schemeClr val="tx1"/>
                </a:solidFill>
              </a:rPr>
              <a:t>Proceedings of the 36th International Conference on Software Engineering</a:t>
            </a:r>
            <a:r>
              <a:rPr lang="es-PE" sz="1200" dirty="0">
                <a:solidFill>
                  <a:schemeClr val="tx1"/>
                </a:solidFill>
              </a:rPr>
              <a:t> (pp. 1–11). ACM. https://doi.org/10.1145/2568225.2568226</a:t>
            </a:r>
            <a:endParaRPr lang="es-PE" sz="1200" dirty="0"/>
          </a:p>
          <a:p>
            <a:pPr algn="l" indent="-228600" marL="228600">
              <a:spcAft>
                <a:spcPts val="600"/>
              </a:spcAft>
              <a:buNone/>
            </a:pPr>
            <a:r>
              <a:rPr lang="es-PE" sz="1200" dirty="0">
                <a:solidFill>
                  <a:schemeClr val="tx1"/>
                </a:solidFill>
              </a:rPr>
              <a:t>Nystrom, R. (2014). State. En </a:t>
            </a:r>
            <a:r>
              <a:rPr lang="es-PE" sz="1200" i="1" dirty="0">
                <a:solidFill>
                  <a:schemeClr val="tx1"/>
                </a:solidFill>
              </a:rPr>
              <a:t>Game programming patterns</a:t>
            </a:r>
            <a:r>
              <a:rPr lang="es-PE" sz="1200" dirty="0">
                <a:solidFill>
                  <a:schemeClr val="tx1"/>
                </a:solidFill>
              </a:rPr>
              <a:t>. Genever Benning. https://gameprogrammingpatterns.com/state.html</a:t>
            </a:r>
            <a:endParaRPr lang="es-PE" sz="1200" dirty="0"/>
          </a:p>
        </p:txBody>
      </p:sp>
      <p:sp>
        <p:nvSpPr>
          <p:cNvPr id="6" name="Referencias"/>
          <p:cNvSpPr txBox="1"/>
          <p:nvPr/>
        </p:nvSpPr>
        <p:spPr>
          <a:xfrm>
            <a:off x="6227064" y="1508760"/>
            <a:ext cx="5413248" cy="4709160"/>
          </a:xfrm>
          <a:prstGeom prst="rect">
            <a:avLst/>
          </a:prstGeom>
          <a:noFill/>
          <a:ln/>
        </p:spPr>
        <p:txBody>
          <a:bodyPr wrap="square" lIns="0" tIns="0" rIns="0" bIns="0" rtlCol="0" anchor="t"/>
          <a:lstStyle/>
          <a:p>
            <a:pPr algn="l" indent="-228600" marL="228600">
              <a:spcAft>
                <a:spcPts val="600"/>
              </a:spcAft>
              <a:buNone/>
            </a:pPr>
            <a:r>
              <a:rPr lang="es-PE" sz="1200" dirty="0">
                <a:solidFill>
                  <a:schemeClr val="tx1"/>
                </a:solidFill>
              </a:rPr>
              <a:t>Parr, T. (2013). </a:t>
            </a:r>
            <a:r>
              <a:rPr lang="es-PE" sz="1200" i="1" dirty="0">
                <a:solidFill>
                  <a:schemeClr val="tx1"/>
                </a:solidFill>
              </a:rPr>
              <a:t>The definitive ANTLR 4 reference</a:t>
            </a:r>
            <a:r>
              <a:rPr lang="es-PE" sz="1200" dirty="0">
                <a:solidFill>
                  <a:schemeClr val="tx1"/>
                </a:solidFill>
              </a:rPr>
              <a:t>. The Pragmatic Bookshelf.</a:t>
            </a:r>
            <a:endParaRPr lang="es-PE" sz="1200" dirty="0"/>
          </a:p>
          <a:p>
            <a:pPr algn="l" indent="-228600" marL="228600">
              <a:spcAft>
                <a:spcPts val="600"/>
              </a:spcAft>
              <a:buNone/>
            </a:pPr>
            <a:r>
              <a:rPr lang="es-PE" sz="1200" dirty="0">
                <a:solidFill>
                  <a:schemeClr val="tx1"/>
                </a:solidFill>
              </a:rPr>
              <a:t>Politowski, C., Petrillo, F. y Guéhéneuc, Y.-G. (2021). </a:t>
            </a:r>
            <a:r>
              <a:rPr lang="es-PE" sz="1200" i="1" dirty="0">
                <a:solidFill>
                  <a:schemeClr val="tx1"/>
                </a:solidFill>
              </a:rPr>
              <a:t>A survey of video game testing</a:t>
            </a:r>
            <a:r>
              <a:rPr lang="es-PE" sz="1200" dirty="0">
                <a:solidFill>
                  <a:schemeClr val="tx1"/>
                </a:solidFill>
              </a:rPr>
              <a:t> [Preprint]. arXiv. https://doi.org/10.48550/arXiv.2103.06431</a:t>
            </a:r>
            <a:endParaRPr lang="es-PE" sz="1200" dirty="0"/>
          </a:p>
          <a:p>
            <a:pPr algn="l" indent="-228600" marL="228600">
              <a:spcAft>
                <a:spcPts val="600"/>
              </a:spcAft>
              <a:buNone/>
            </a:pPr>
            <a:r>
              <a:rPr lang="es-PE" sz="1200" dirty="0">
                <a:solidFill>
                  <a:schemeClr val="tx1"/>
                </a:solidFill>
              </a:rPr>
              <a:t>Stately. (s. f.). </a:t>
            </a:r>
            <a:r>
              <a:rPr lang="es-PE" sz="1200" i="1" dirty="0">
                <a:solidFill>
                  <a:schemeClr val="tx1"/>
                </a:solidFill>
              </a:rPr>
              <a:t>XState</a:t>
            </a:r>
            <a:r>
              <a:rPr lang="es-PE" sz="1200" dirty="0">
                <a:solidFill>
                  <a:schemeClr val="tx1"/>
                </a:solidFill>
              </a:rPr>
              <a:t>. Recuperado el 4 de octubre de 2026, de https://stately.ai/docs/xstate</a:t>
            </a:r>
            <a:endParaRPr lang="es-PE" sz="1200" dirty="0"/>
          </a:p>
          <a:p>
            <a:pPr algn="l" indent="-228600" marL="228600">
              <a:spcAft>
                <a:spcPts val="600"/>
              </a:spcAft>
              <a:buNone/>
            </a:pPr>
            <a:r>
              <a:rPr lang="es-PE" sz="1200" dirty="0">
                <a:solidFill>
                  <a:schemeClr val="tx1"/>
                </a:solidFill>
              </a:rPr>
              <a:t>Unity Technologies. (s. f.). </a:t>
            </a:r>
            <a:r>
              <a:rPr lang="es-PE" sz="1200" i="1" dirty="0">
                <a:solidFill>
                  <a:schemeClr val="tx1"/>
                </a:solidFill>
              </a:rPr>
              <a:t>Animation transitions</a:t>
            </a:r>
            <a:r>
              <a:rPr lang="es-PE" sz="1200" dirty="0">
                <a:solidFill>
                  <a:schemeClr val="tx1"/>
                </a:solidFill>
              </a:rPr>
              <a:t>. Recuperado el 6 de octubre de 2026, de https://docs.unity3d.com/Manual/class-Transition.html</a:t>
            </a:r>
            <a:endParaRPr lang="es-PE" sz="1200" dirty="0"/>
          </a:p>
          <a:p>
            <a:pPr algn="l" indent="-228600" marL="228600">
              <a:spcAft>
                <a:spcPts val="600"/>
              </a:spcAft>
              <a:buNone/>
            </a:pPr>
            <a:r>
              <a:rPr lang="es-PE" sz="1200" dirty="0">
                <a:solidFill>
                  <a:schemeClr val="tx1"/>
                </a:solidFill>
              </a:rPr>
              <a:t>World Wide Web Consortium. (2015). </a:t>
            </a:r>
            <a:r>
              <a:rPr lang="es-PE" sz="1200" i="1" dirty="0">
                <a:solidFill>
                  <a:schemeClr val="tx1"/>
                </a:solidFill>
              </a:rPr>
              <a:t>State chart XML (SCXML): State machine notation for control abstraction</a:t>
            </a:r>
            <a:r>
              <a:rPr lang="es-PE" sz="1200" dirty="0">
                <a:solidFill>
                  <a:schemeClr val="tx1"/>
                </a:solidFill>
              </a:rPr>
              <a:t> (W3C Recommendation). https://www.w3.org/TR/scxml/</a:t>
            </a:r>
            <a:endParaRPr lang="es-PE"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14</a:t>
            </a:fld>
            <a:endParaRPr lang="es-P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body" hasCustomPrompt="1"/>
          </p:nvPr>
        </p:nvSpPr>
        <p:spPr>
          <a:xfrm>
            <a:off x="1097280" y="292608"/>
            <a:ext cx="8229600" cy="329184"/>
          </a:xfrm>
          <a:prstGeom prst="rect">
            <a:avLst/>
          </a:prstGeom>
          <a:noFill/>
          <a:ln/>
        </p:spPr>
        <p:txBody>
          <a:bodyPr wrap="square" lIns="0" tIns="0" rIns="0" bIns="0" rtlCol="0" anchor="ctr"/>
          <a:lstStyle/>
          <a:p>
            <a:pPr indent="0" marL="0">
              <a:buNone/>
            </a:pPr>
            <a:r>
              <a:rPr lang="es-PE" sz="1300" b="1" dirty="0">
                <a:solidFill>
                  <a:schemeClr val="accent4"/>
                </a:solidFill>
              </a:rPr>
              <a:t>Demostración</a:t>
            </a:r>
            <a:endParaRPr lang="es-PE" sz="1300" dirty="0"/>
          </a:p>
        </p:txBody>
      </p:sp>
      <p:sp>
        <p:nvSpPr>
          <p:cNvPr id="3" name="Text 3"/>
          <p:cNvSpPr/>
          <p:nvPr>
            <p:ph idx="104"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s-PE" sz="2800" b="1" dirty="0">
                <a:solidFill>
                  <a:schemeClr val="bg1"/>
                </a:solidFill>
              </a:rPr>
              <a:t>El compilador en funcionamiento</a:t>
            </a:r>
            <a:endParaRPr lang="es-PE" sz="2800" dirty="0"/>
          </a:p>
        </p:txBody>
      </p:sp>
      <p:sp>
        <p:nvSpPr>
          <p:cNvPr id="4" name="Marco del video">
            <a:hlinkClick r:id="rId1" tooltip="Ver el video en Google Drive"/>
          </p:cNvPr>
          <p:cNvSpPr/>
          <p:nvPr/>
        </p:nvSpPr>
        <p:spPr>
          <a:xfrm>
            <a:off x="2148840" y="1554480"/>
            <a:ext cx="7900416" cy="4443984"/>
          </a:xfrm>
          <a:prstGeom prst="rect">
            <a:avLst/>
          </a:prstGeom>
          <a:solidFill>
            <a:srgbClr val="26262B"/>
          </a:solidFill>
          <a:ln w="15875">
            <a:solidFill>
              <a:schemeClr val="accent5"/>
            </a:solidFill>
            <a:prstDash val="dash"/>
          </a:ln>
        </p:spPr>
      </p:sp>
      <p:sp>
        <p:nvSpPr>
          <p:cNvPr id="5" name="Fondo del icono"/>
          <p:cNvSpPr/>
          <p:nvPr/>
        </p:nvSpPr>
        <p:spPr>
          <a:xfrm>
            <a:off x="5687568" y="3364992"/>
            <a:ext cx="822960" cy="822960"/>
          </a:xfrm>
          <a:prstGeom prst="rect">
            <a:avLst/>
          </a:prstGeom>
          <a:solidFill>
            <a:schemeClr val="accent1"/>
          </a:solidFill>
          <a:ln w="12700">
            <a:solidFill>
              <a:schemeClr val="accent1"/>
            </a:solidFill>
            <a:prstDash val="solid"/>
          </a:ln>
        </p:spPr>
      </p:sp>
      <p:pic>
        <p:nvPicPr>
          <p:cNvPr id="6" name="Icono" descr="preencoded.png">    </p:cNvPr>
          <p:cNvPicPr>
            <a:picLocks noChangeAspect="1"/>
          </p:cNvPicPr>
          <p:nvPr/>
        </p:nvPicPr>
        <p:blipFill>
          <a:blip r:embed="rId2"/>
          <a:stretch>
            <a:fillRect/>
          </a:stretch>
        </p:blipFill>
        <p:spPr>
          <a:xfrm>
            <a:off x="5852160" y="3529584"/>
            <a:ext cx="493776" cy="493776"/>
          </a:xfrm>
          <a:prstGeom prst="rect">
            <a:avLst/>
          </a:prstGeom>
        </p:spPr>
      </p:pic>
      <p:sp>
        <p:nvSpPr>
          <p:cNvPr id="7" name="Text 4"/>
          <p:cNvSpPr txBox="1"/>
          <p:nvPr/>
        </p:nvSpPr>
        <p:spPr>
          <a:xfrm>
            <a:off x="2148840" y="6053328"/>
            <a:ext cx="7900416" cy="320040"/>
          </a:xfrm>
          <a:prstGeom prst="rect">
            <a:avLst/>
          </a:prstGeom>
          <a:noFill/>
          <a:ln/>
        </p:spPr>
        <p:txBody>
          <a:bodyPr wrap="square" lIns="0" tIns="0" rIns="0" bIns="0" rtlCol="0" anchor="t"/>
          <a:lstStyle/>
          <a:p>
            <a:pPr algn="ctr" indent="0" marL="0">
              <a:buNone/>
            </a:pPr>
            <a:r>
              <a:rPr lang="es-PE" sz="1200" dirty="0">
                <a:solidFill>
                  <a:schemeClr val="accent6"/>
                </a:solidFill>
              </a:rPr>
              <a:t>Video de demostración: </a:t>
            </a:r>
            <a:r>
              <a:rPr lang="es-PE" sz="1200" u="sng" dirty="0">
                <a:solidFill>
                  <a:schemeClr val="accent6"/>
                </a:solidFill>
                <a:hlinkClick r:id="rId3" invalidUrl="" action="" tgtFrame="" tooltip="Ver el video en Google Drive" history="1" highlightClick="0" endSnd="0">
                  <a:extLst>
                    <a:ext uri="{A12FA001-AC4F-418D-AE19-62706E023703}">
                      <ahyp:hlinkClr xmlns:ahyp="http://schemas.microsoft.com/office/drawing/2018/hyperlinkcolor" val="tx"/>
                    </a:ext>
                  </a:extLst>
                </a:hlinkClick>
              </a:rPr>
              <a:t>https://drive.google.com/file/d/1asrzQjXH87vR6JPZDanqDFVFOEntwdZ8/view?usp=sharing</a:t>
            </a:r>
            <a:endParaRPr lang="es-PE"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s-PE"/>
              <a:t>15</a:t>
            </a:fld>
            <a:endParaRPr lang="es-PE"/>
          </a:p>
        </p:txBody>
      </p:sp>
    </p:spTree>
  </p:cSld>
  <p:clrMapOvr>
    <a:masterClrMapping/>
  </p:clrMapOvr>
</p:sld>
</file>

<file path=ppt/theme/theme1.xml><?xml version="1.0" encoding="utf-8"?>
<a:theme xmlns:a="http://schemas.openxmlformats.org/drawingml/2006/main" name="PixelLang">
  <a:themeElements>
    <a:clrScheme name="PixelLang">
      <a:dk1>
        <a:srgbClr val="1B1B1F"/>
      </a:dk1>
      <a:lt1>
        <a:srgbClr val="FFFFFF"/>
      </a:lt1>
      <a:dk2>
        <a:srgbClr val="4A4A52"/>
      </a:dk2>
      <a:lt2>
        <a:srgbClr val="F1F1F3"/>
      </a:lt2>
      <a:accent1>
        <a:srgbClr val="D7263D"/>
      </a:accent1>
      <a:accent2>
        <a:srgbClr val="2E933C"/>
      </a:accent2>
      <a:accent3>
        <a:srgbClr val="111114"/>
      </a:accent3>
      <a:accent4>
        <a:srgbClr val="F2C14E"/>
      </a:accent4>
      <a:accent5>
        <a:srgbClr val="8A8A93"/>
      </a:accent5>
      <a:accent6>
        <a:srgbClr val="C9CDD3"/>
      </a:accent6>
      <a:hlink>
        <a:srgbClr val="D7263D"/>
      </a:hlink>
      <a:folHlink>
        <a:srgbClr val="8A8A93"/>
      </a:folHlink>
    </a:clrScheme>
    <a:fontScheme name="PixelLang">
      <a:majorFont>
        <a:latin typeface="Consola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PixelLang</dc:title>
  <dc:subject>Trabajo Parcial de Teoría de Compiladores</dc:subject>
  <dc:creator>Diego Ruiz, David Ramos, Antony Quito y Mateo Monge</dc:creator>
  <cp:lastModifiedBy>Diego Ruiz, David Ramos, Antony Quito y Mateo Monge</cp:lastModifiedBy>
  <cp:revision>1</cp:revision>
  <dcterms:created xsi:type="dcterms:W3CDTF">2026-10-06T08:10:08Z</dcterms:created>
  <dcterms:modified xsi:type="dcterms:W3CDTF">2026-10-06T08:10:08Z</dcterms:modified>
</cp:coreProperties>
</file>